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both names and both addresses before any architecture. StudyCite is the first app. Its live prototype is still at triallens-ai.ai.studio and still wears the working title TrialLens AI. The React repository was renamed StudyCite. BiteWise is the second app, public at bitewise-ai.ai.studio.</a:t>
            </a:r>
          </a:p>
          <a:p/>
          <a:p>
            <a:r>
              <a:t>Do not claim an awsapprunner.com address for either app. StudyCite has an apprunner.yaml and a verified AWS CLI identity in us-west-2. It does not have a recorded public App Runner URL. BiteWise was published through Google AI Studio because App Runner is closed to new customers.</a:t>
            </a:r>
          </a:p>
          <a:p/>
          <a:p>
            <a:r>
              <a:t>I am Pu Zeng, Indiana Wesleyan University. StudyCite is the AIML-515 project. BiteWise lives in the AIML 505 repository.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shared idea is grounding. StudyCite will not answer from a document the role cannot use. BiteWise will not recommend a meal over the budget or missing a required dietary label.</a:t>
            </a:r>
          </a:p>
          <a:p/>
          <a:p>
            <a:r>
              <a:t>The four figures are documented, not estimated. StudyCite seed data holds eight gold-standard cases: six answerable, one version trap, one abstention. The September 16, 2026 testing report lists seven defects that were fixed in that pass. BiteWise has twelve API tests in tests/api.test.js, and that file passes. The two hosts that answer are triallens-ai.ai.studio and bitewise-ai.ai.studio.</a:t>
            </a:r>
          </a:p>
          <a:p/>
          <a:p>
            <a:r>
              <a:t>The Evaluation page also shows seeded gate cards such as 93 percent precision. Those are demonstration figures inside the prototype. They are not a field study, so they are not on this summary.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problem statement from the Architecture page, Phase 1, not a slogan I added later. Read the sentence at the top as the original framing.</a:t>
            </a:r>
          </a:p>
          <a:p/>
          <a:p>
            <a:r>
              <a:t>The four personas are the ones named in that page: Clinical Operations Lead, Study Monitor, Clinical Scientist, and Research Site Coordinator. The testing report adds a fifth demo role, Data Programmer. A site coordinator is limited to study TL-301 and cannot open TL-204.</a:t>
            </a:r>
          </a:p>
          <a:p/>
          <a:p>
            <a:r>
              <a:t>Emphasize the boundary. If someone asks for a surgical technique, the correct behavior is abstention. That case is gold-standard item g8. The product must not drift into clinical decision support just because the language model can sound confident.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three columns as a contract. Pain is why the team searches. Requirement is what a correct answer looks like. Out of scope is what a fluent wrong answer would be.</a:t>
            </a:r>
          </a:p>
          <a:p/>
          <a:p>
            <a:r>
              <a:t>The version trap makes this concrete. Protocol v2.0 allowed dosing at 80,000 platelets per microliter. v3.0 requires at least 100,000. Gold case g7 asks whether 80,000 is acceptable under current approved guidance. The expected result is no, with a warning that v2.0 is superseded.</a:t>
            </a:r>
          </a:p>
          <a:p/>
          <a:p>
            <a:r>
              <a:t>If I only say "the model should cite sources," I have not specified this contract. The later BiteWise design is the same contract in a different domain: the model never sees the records that already failed the rule.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 this slide as a target before you describe a box. Phase 2 of the Architecture page names Next.js, FastAPI, PostgreSQL with pgvector, S3, Cognito, ECS/Fargate, RDS, SQS, and CloudWatch. Phase 5 adds CloudFront, an ALB, Secrets Manager, and a scale path from 100 to 10,000 users. None of that is what the repository runs today.</a:t>
            </a:r>
          </a:p>
          <a:p/>
          <a:p>
            <a:r>
              <a:t>The retrieval design is specific: authorization filters apply before retrieval; retrieve about 20 candidates and rerank to about 5; chunks are 500 to 800 tokens with about 100 tokens of overlap.</a:t>
            </a:r>
          </a:p>
          <a:p/>
          <a:p>
            <a:r>
              <a:t>The prototype decision was different on purpose. Workshop 2 needed a React project an instructor can open: Vite, TypeScript, Material UI, and in-browser retrieval over seed data. I kept the target written on the Architecture page so the MVP would not be mistaken for the production design.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the screenshot only to show that the prototype is real. The address is https://triallens-ai.ai.studio. I checked it on October 18, 2026: HTTP 200, served behind Google Frontend. Last-Modified on an earlier check was September 7, 2026.</a:t>
            </a:r>
          </a:p>
          <a:p/>
          <a:p>
            <a:r>
              <a:t>The page still uses the working title TrialLens AI. The reflection explains the rename: Clinical ink already uses TrialLens, and "lens" does not describe the job. StudyCite names the rule that every answer must be citable against the current approved source.</a:t>
            </a:r>
          </a:p>
          <a:p/>
          <a:p>
            <a:r>
              <a:t>Do not read the hero line — 100 percent grounded, 0 percent black-box guesses, under 2 seconds — as a result. The same caution applies to the confidence badge in the sample card. Point at the workflow instead: a protocol question, a grounded answer, and a citation to Protocol TL-301, Section 5.3.</a:t>
            </a:r>
          </a:p>
          <a:p/>
          <a:p>
            <a:r>
              <a:t>Claude-style single-file hosting, including this AI Studio host, was the right Workshop 1 surface. It was the wrong place to finish.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times are the ones I wrote in the September 16, 2026 development reflection. They cover the local conversion only. They do not include the earlier single-file prototype or the six-phase lifecycle paper.</a:t>
            </a:r>
          </a:p>
          <a:p/>
          <a:p>
            <a:r>
              <a:t>The path was build-fresh. The prototype showed the intended screens, but it was not organized as modules. A new project from the AIML-515 specification produced pages, components, services, seed data, and context. I kept study and role switching, citations, the version trap, and abstention.</a:t>
            </a:r>
          </a:p>
          <a:p/>
          <a:p>
            <a:r>
              <a:t>Two compiler issues are worth a sentence if someone asks what the assistant actually fixed. Material UI v9 rejected Stack alignItems. JSX treated a greater-than-or-equal sign in the copy as an operator. The agent used the compiler errors to patch those files.</a:t>
            </a:r>
          </a:p>
          <a:p/>
          <a:p>
            <a:r>
              <a:t>Cursor was the IDE: file explorer, terminal, Git, and the in-editor agent. npm start and npm run dev both launch Vite on port 5173.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diagram to contrast with the previous target slide. Say "in the browser" out loud. src/services/ragService.ts does retrieve, rerank, and either a cited answer or abstention. src/data/seed.ts holds the studies, passages, eight gold cases, and the KPI cards. src/context/AppContext.tsx holds role, study, uploads, and history. src/security/validate.ts holds the input checks.</a:t>
            </a:r>
          </a:p>
          <a:p/>
          <a:p>
            <a:r>
              <a:t>There is no backend process. The apprunner.yaml later serves the built Vite preview, which is still this frontend. Do not describe FastAPI or pgvector as deployed.</a:t>
            </a:r>
          </a:p>
          <a:p/>
          <a:p>
            <a:r>
              <a:t>The important security property already present in the prototype: a draft upload cannot become an answer source, and a role cannot select a study it is not allowed to open.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responsible AI as behavior, not a policy paragraph. Three behaviors are enough: abstain on the surgical question, warn on the 80,000 platelet trap, and reject PHI-like input.</a:t>
            </a:r>
          </a:p>
          <a:p/>
          <a:p>
            <a:r>
              <a:t>The length limits are question 500 characters, document name 120, and search 80. Document types and filters are whitelisted. Control characters are stripped. User text is rendered as React text, not HTML.</a:t>
            </a:r>
          </a:p>
          <a:p/>
          <a:p>
            <a:r>
              <a:t>The hardest honesty point is on this slide. Role switching is not Cognito. Data stay in browser memory. Real tenant isolation and server-side authorization are future work. The September 16 report says the challenge was to add meaningful controls without pretending a client-only prototype is a regulated system.</a:t>
            </a:r>
          </a:p>
          <a:p/>
          <a:p>
            <a:r>
              <a:t>The checklist in the report has twelve marked items. I grouped the last ones on the slide so the type stays readable. Referrer policy is strict-origin-when-cross-origin.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 column is the bug list from the testing report, in the report's own order. The most critical functional bug was the stuck loading state. The most important security bug was treating unreviewed uploads as approved and citing a global catalog.</a:t>
            </a:r>
          </a:p>
          <a:p/>
          <a:p>
            <a:r>
              <a:t>The gold set is real content in seed.ts. Answerable examples include the platelet threshold, the Week 4 visit window, IP storage at 2°C to 8°C, renal impairment, SAE reporting within 24 hours, and inverting PK tubes 8 to 10 times. The version trap is 80,000 per microliter. The abstention case is a coronary bypass technique.</a:t>
            </a:r>
          </a:p>
          <a:p/>
          <a:p>
            <a:r>
              <a:t>The Evaluation page renders seven KPI cards with observed values such as 93 percent precision at 5, 97 percent citation correctness, 1.9 seconds median latency, and 4.3 out of 5 satisfaction. Those numbers are hardcoded in seed.ts and every card is marked met. Say that plainly if someone asks for the metrics. They are the demonstration gate, not an independent measurement. The manual checklist in the report is a list of controls to exercise. I am not claiming a recorded pass rate for that list.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direct about Workshop 3. The assignment asked for an AWS App Runner deployment and a live App Runner demo link. What I can show is the configuration and the identity check. What I cannot show is a running App Runner service URL, because the StudyCite README does not record one, and I will not fabricate an awsapprunner.com address or a console screenshot.</a:t>
            </a:r>
          </a:p>
          <a:p/>
          <a:p>
            <a:r>
              <a:t>The AWS note from September 19, 2026 says CLI version 2 was installed, the default region is us-west-2, and GetCallerIdentity succeeded for an IAM user. Do not read the account number, user id, or access-key suffix aloud. They are not needed to make the point.</a:t>
            </a:r>
          </a:p>
          <a:p/>
          <a:p>
            <a:r>
              <a:t>apprunner.yaml is in the repository: runtime nodejs22, build commands npm ci and npm run build, run command npm run preview on host 0.0.0.0 port 8080, network port 8080. There is also a Dockerfile and an amplify.yml. The preview command serves the static React app. It does not add a Python API.</a:t>
            </a:r>
          </a:p>
          <a:p/>
          <a:p>
            <a:r>
              <a:t>The live demo link for Application 1 is the prototype: https://triallens-ai.ai.studio.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challenges, each with a consequence. First, I will not demo a service I cannot open. Second, the reflection records that the hosted prototype was not always reachable, which is why the local build used the specification plus screenshots. Third, do not let the App Runner file be described as the Phase 2 architecture. Fourth, if the live page says TrialLens AI, that is expected. The rename is in the repository.</a:t>
            </a:r>
          </a:p>
          <a:p/>
          <a:p>
            <a:r>
              <a:t>The useful comparison for later: BiteWise has one public URL where the page and the API are the same host. StudyCite's runnable demo and StudyCite's repository are still two different things.</a:t>
            </a:r>
          </a:p>
          <a:p/>
          <a:p>
            <a:r>
              <a:t>If asked what I would redeploy, the answer is a server that enforces approved-only retrieval, not a second static preview.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Workshop 4 is the feedback design on the Architecture page, Phase 6, plus the controls that exist in the Assistant. Helpful, Not helpful, and a reason select are in the testing checklist. Query history is study-scoped and keeps document versions.</a:t>
            </a:r>
          </a:p>
          <a:p/>
          <a:p>
            <a:r>
              <a:t>The month-by-month list and the one-year boundary are the blueprint, not a claim that those months already happened. Say "the plan says" before Month 1, Month 2, and Month 3.</a:t>
            </a:r>
          </a:p>
          <a:p/>
          <a:p>
            <a:r>
              <a:t>Negative reasons are the useful part. "Not helpful" alone cannot tell a retrieval bug from an outdated document. The version-trap case is exactly the "outdated document" reason.</a:t>
            </a:r>
          </a:p>
          <a:p/>
          <a:p>
            <a:r>
              <a:t>I did not run a formal user study with outside clinicians. The feedback that changed the code in this phase is the testing pass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as the iteration, not as a feature list. Each row is a place where the grounding claim would have been false if the defect had stayed.</a:t>
            </a:r>
          </a:p>
          <a:p/>
          <a:p>
            <a:r>
              <a:t>Spend the most time on the upload row and the corpus row. An authoritative tone plus a draft document is worse than no answer. Restricting retrieval to authorized, approved documents is the change that makes the citation meaningful.</a:t>
            </a:r>
          </a:p>
          <a:p/>
          <a:p>
            <a:r>
              <a:t>Accessibility is on this slide because the testing report treated it as part of the same pass: skip link, landmarks, focus rings, aria-current, aria-pressed, tab panels, role=alert, one h1, and lang=en. Document cards had been mouse-only.</a:t>
            </a:r>
          </a:p>
          <a:p/>
          <a:p>
            <a:r>
              <a:t>Close by saying what did not change. Role impersonation is still a demo. The production identity provider is still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2 starts a new problem. Do not describe BiteWise as StudyCite with a new color. The user is someone who cannot face a long menu, not a study coordinator.</a:t>
            </a:r>
          </a:p>
          <a:p/>
          <a:p>
            <a:r>
              <a:t>The sample catalog is eight fictional restaurants and five items each: Chinese, Japanese, Korean, Mexican, Italian, American, Indian, and Mediterranean. Nothing is a real restaurant. The cheapest sample item is Tofu Miso Soup at $6.50. A few items sit over $20, including Grilled Salmon at $22.50.</a:t>
            </a:r>
          </a:p>
          <a:p/>
          <a:p>
            <a:r>
              <a:t>Read the three steps on the homepage, because they are the architecture in product language. Say it plainly. Filters run first. Then a short list. The disclaimer under the header is part of the product: fictional prices, no orders, no payment, no driver.</a:t>
            </a:r>
          </a:p>
          <a:p/>
          <a:p>
            <a:r>
              <a:t>The screenshot is the live site, not the local Vite server.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stack is JavaScript, not the TypeScript and Material UI stack from StudyCite. Client workspace and server workspace. Vite proxies /api to Express. SQLite uses better-sqlite3. Gemini is called only from the server through @google/genai, model gemini-3.8-flash, and only when GEMINI_API_KEY is set. A missing key is demo mode, not an error.</a:t>
            </a:r>
          </a:p>
          <a:p/>
          <a:p>
            <a:r>
              <a:t>These twelve names match tests/api.test.js. They are automated. I am not quoting a runtime or a coverage percentage.</a:t>
            </a:r>
          </a:p>
          <a:p/>
          <a:p>
            <a:r>
              <a:t>Two tests carry the lesson from StudyCite. Test 6 refuses a model ranking that cites an id outside the eligible set. Test 12 fails if the client bundle contains a Gemini key. Favorites use a client token header, 16 to 64 characters, and one client cannot delete another client's row.</a:t>
            </a:r>
          </a:p>
          <a:p/>
          <a:p>
            <a:r>
              <a:t>Local development stays on Vite port 5173 and the API on 3001. That is separate from the public URL.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diagram I want remembered. Compare it with StudyCite's browser retrieval. Here the boundary is a SQL query, not a prompt instruction.</a:t>
            </a:r>
          </a:p>
          <a:p/>
          <a:p>
            <a:r>
              <a:t>The dietary whitelist is vegetarian, vegan, gluten-free, dairy-free, nut-free, pescatarian, high-protein, and light. The server also reads dietary phrases and a lower budget out of the sentence itself, so “under $15” is a filter even if the budget field is higher.</a:t>
            </a:r>
          </a:p>
          <a:p/>
          <a:p>
            <a:r>
              <a:t>Empty eligible set returns source none. A valid Gemini ranking is kept only when every id is in the eligible set and the list length is one to three. Otherwise the deterministic ranker runs and the response says so.</a:t>
            </a:r>
          </a:p>
          <a:p/>
          <a:p>
            <a:r>
              <a:t>Security headers on /api use a strict content security policy. The HTML page needs a different policy so scripts, styles, and Google fonts load. That distinction mattered when the app moved to one host. Parameterized SQL. Favorites are unique per client token and menu item.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Workshop 6 was supposed to be AWS deployment. Say what happened. App Runner would not take a new service. I did not create an ECS service from this environment either, because there were no AWS credentials here. The public app was published from Google AI Studio, which deploys to Cloud Run, the same pattern as the classmate app that looks like "App Runner" in conversation but is an ai.studio host.</a:t>
            </a:r>
          </a:p>
          <a:p/>
          <a:p>
            <a:r>
              <a:t>The screenshot is the published site, not localhost. The clock on the original capture read 8:22 a.m. UTC on October 18, 2026. The badge says fallback because Gemini was unavailable or the ranking did not match the menu. Fifteen meals were eligible. The first card is Tofu Miso Soup from Hana Bowl at $6.50. The second is Garlic Bok Choy from Lantern Noodle House at $9.00.</a:t>
            </a:r>
          </a:p>
          <a:p/>
          <a:p>
            <a:r>
              <a:t>A later health check the same day returned demoMode false and rankingModel gemini-3.8-flash, and a repeat of the same request was ranked by Gemini. Both observations are true. The key can be configured while a particular ranking is rejected. The slide shows the fallback capture because that is the behavior the tests require people to see.</a:t>
            </a:r>
          </a:p>
          <a:p/>
          <a:p>
            <a:r>
              <a:t>npm start serves the built client and the API on PORT. The Dockerfile is set up for that host. Publish rebuilds, so the live asset hash does not have to match a laptop build.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showcase, not a user-research report. I did not run a formal study with outside diners. What I can demo is the public behavior.</a:t>
            </a:r>
          </a:p>
          <a:p/>
          <a:p>
            <a:r>
              <a:t>Walk one request: light vegetarian dinner under 15. The visitor should see how many meals remained eligible, whether the badge says Gemini or fallback, and a reason that quotes the sample price. Then show a favorite saved in this browser, and mention that another client token cannot delete it.</a:t>
            </a:r>
          </a:p>
          <a:p/>
          <a:p>
            <a:r>
              <a:t>The empty case matters as much as the happy path. If nothing matches, the product returns no meals. That is the BiteWise version of StudyCite's abstention.</a:t>
            </a:r>
          </a:p>
          <a:p/>
          <a:p>
            <a:r>
              <a:t>Known limits are on the dark card so they are not a footnote. Dietary labels are not a lab analysis. If a label is missing, BiteWise does not know whether the meal qualifies. There is one local demo identity and no accounts. The cart does not charge anyone.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the tools before the slogans. Cursor was the IDE and the agent for both apps. The single-file host, the same family of tool as a Claude artifact, was the StudyCite prototype. Google AI Studio was the publish step for BiteWise. Gemini 3.8 Flash is the ranker, and only on the server.</a:t>
            </a:r>
          </a:p>
          <a:p/>
          <a:p>
            <a:r>
              <a:t>The prompts that worked were narrow and attached to an artifact: the prototype URL plus the specification, a compiler error, a request to enumerate controls, a test that fails if an id escapes the eligible set. The reflection says an earlier Appendix A prompt, asking for all six lifecycle phases with real technologies, kept StudyCite tied to retrieval quality, citation correctness, and abstention.</a:t>
            </a:r>
          </a:p>
          <a:p/>
          <a:p>
            <a:r>
              <a:t>A broad prompt for a chatbot would have skipped abstention and the hard filter. I would not recommend "build me an AI app" as a useful prompt for this kind of product.</a:t>
            </a:r>
          </a:p>
          <a:p/>
          <a:p>
            <a:r>
              <a:t>Screenshot generation was a tool use too. More than 2,000 lines could not fit in one image, so the agent split StudyCite into a file tree and grouped source listings, eight PNGs.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lesson is the left column, not the technology names. I got better at putting the rule somewhere the model cannot talk its way around.</a:t>
            </a:r>
          </a:p>
          <a:p/>
          <a:p>
            <a:r>
              <a:t>On StudyCite I asked a browser routine to cite approved text. That was the right product rule, and the testing pass made it stricter, but the model and the documents lived in the same page. On BiteWise, meals that fail the budget or the diet never enter the prompt. Invalid ids are dropped. The key is not in the bundle, and a test checks that.</a:t>
            </a:r>
          </a:p>
          <a:p/>
          <a:p>
            <a:r>
              <a:t>The second improvement is honesty about deployment. StudyCite taught me not to treat a YAML file as a URL. BiteWise's public host is one I can reload, and the fallback badge is part of the demo rather than an embarrassment to hide.</a:t>
            </a:r>
          </a:p>
          <a:p/>
          <a:p>
            <a:r>
              <a:t>What I would do differently at the start of App 1: write the abstention and authorization tests before polishing the hero, and plan a server boundary even if the first week is a prototype. I would still begin with a single-file host. I would leave it sooner.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Value is a smaller search, not a revenue number. For a study team, the expensive mistake is acting on a superseded page. StudyCite's version trap is aimed at that mistake. The coordinator persona is the daily user. ClinOps cares about amendment rollout. A sponsor should care that the system abstains instead of inventing clinical advice.</a:t>
            </a:r>
          </a:p>
          <a:p/>
          <a:p>
            <a:r>
              <a:t>For BiteWise, the waste is time spent on meals that were never eligible. Fifteen of forty sample meals survived a vegetarian cap of $15 in the published capture. The visitor still only sees up to three, with reasons. That is the efficiency claim I can defend.</a:t>
            </a:r>
          </a:p>
          <a:p/>
          <a:p>
            <a:r>
              <a:t>The company value is conditional. A restaurant does not gain orders from this prototype, because it cannot place one. The transferable piece is the filter: a chain with a real menu could refuse to let a model recommend an item that fails price, diet, or availability. I am not claiming that integration exists.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here so I do not fabricate a payback period. The Architecture page lists design targets: precision at 5 at least 90 percent, citation correctness at least 95 percent, grounded answers at least 95 percent, unsupported claims under 2 percent, median latency under 4 seconds, and a 60 percent search-time reduction. The prototype displays seeded cards that meet those targets. That is not a before-and-after time study with coordinators.</a:t>
            </a:r>
          </a:p>
          <a:p/>
          <a:p>
            <a:r>
              <a:t>Say the cost side without drama. I am not quoting an AWS bill, because StudyCite has no recorded public App Runner service and BiteWise's publish path is AI Studio's starter hosting. I will not invent a monthly price.</a:t>
            </a:r>
          </a:p>
          <a:p/>
          <a:p>
            <a:r>
              <a:t>The benefit that is real today is risk removal of a specific kind: a cited superseded page, or a meal the filter already rejected. Dollar ROI needs the third column. If a later project times coordinators against the binder, or connects a verified menu, that is when a benefit figure becomes honest.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roadmap and then read both URLs. StudyCite's next honest step is a server that enforces approved-only retrieval and real identity. The Architecture page already names Cognito, FastAPI, and pgvector. Those stay targets until the authorization filter moves off the client. Autonomous clinical decisions stay out.</a:t>
            </a:r>
          </a:p>
          <a:p/>
          <a:p>
            <a:r>
              <a:t>BiteWise's next step is not a larger model. It is verified menu data. Until labels are real, the product must keep saying they are sample tags. The hard filter stays in front of Gemini either way.</a:t>
            </a:r>
          </a:p>
          <a:p/>
          <a:p>
            <a:r>
              <a:t>End by opening one of the two links if the room has a network connection. For StudyCite, the page will say TrialLens AI. For BiteWise, run a vegetarian request under $15 and read the badge: Gemini or fallback. Either badge is a successful demo if the meals on the cards were eligible.</a:t>
            </a:r>
          </a:p>
          <a:p/>
          <a:p>
            <a:r>
              <a:t>Thank the room. Questions are welcome on the bug list, the twelve tests, and why there is no App Runner URL.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6858000"/>
          </a:xfrm>
          <a:prstGeom prst="rect">
            <a:avLst/>
          </a:prstGeom>
          <a:solidFill>
            <a:srgbClr val="142238"/>
          </a:solidFill>
          <a:ln>
            <a:noFill/>
          </a:ln>
        </p:spPr>
        <p:txBody>
          <a:bodyPr rtlCol="0" anchor="ctr"/>
          <a:lstStyle/>
          <a:p>
            <a:pPr algn="ctr"/>
          </a:p>
        </p:txBody>
      </p:sp>
      <p:sp>
        <p:nvSpPr>
          <p:cNvPr id="3" name="Rectangle 2"/>
          <p:cNvSpPr/>
          <p:nvPr/>
        </p:nvSpPr>
        <p:spPr>
          <a:xfrm>
            <a:off x="0" y="0"/>
            <a:ext cx="146304" cy="6858000"/>
          </a:xfrm>
          <a:prstGeom prst="rect">
            <a:avLst/>
          </a:prstGeom>
          <a:solidFill>
            <a:srgbClr val="1A6A64"/>
          </a:solidFill>
          <a:ln>
            <a:noFill/>
          </a:ln>
        </p:spPr>
        <p:txBody>
          <a:bodyPr rtlCol="0" anchor="ctr"/>
          <a:lstStyle/>
          <a:p>
            <a:pPr algn="ctr"/>
          </a:p>
        </p:txBody>
      </p:sp>
      <p:sp>
        <p:nvSpPr>
          <p:cNvPr id="4" name="TextBox 3"/>
          <p:cNvSpPr txBox="1"/>
          <p:nvPr/>
        </p:nvSpPr>
        <p:spPr>
          <a:xfrm>
            <a:off x="640080" y="384048"/>
            <a:ext cx="9144000" cy="274320"/>
          </a:xfrm>
          <a:prstGeom prst="rect">
            <a:avLst/>
          </a:prstGeom>
          <a:noFill/>
        </p:spPr>
        <p:txBody>
          <a:bodyPr wrap="square" anchor="t"/>
          <a:lstStyle/>
          <a:p>
            <a:pPr algn="l">
              <a:spcBef>
                <a:spcPts val="0"/>
              </a:spcBef>
              <a:spcAft>
                <a:spcPts val="0"/>
              </a:spcAft>
            </a:pPr>
            <a:r>
              <a:rPr sz="1300" b="1">
                <a:solidFill>
                  <a:srgbClr val="C9D4C8"/>
                </a:solidFill>
                <a:latin typeface="Calibri"/>
              </a:rPr>
              <a:t>AIML-515  ·  WORKSHOPS 1–6  ·  INDIANA WESLEYAN UNIVERSITY</a:t>
            </a:r>
          </a:p>
        </p:txBody>
      </p:sp>
      <p:sp>
        <p:nvSpPr>
          <p:cNvPr id="5" name="TextBox 4"/>
          <p:cNvSpPr txBox="1"/>
          <p:nvPr/>
        </p:nvSpPr>
        <p:spPr>
          <a:xfrm>
            <a:off x="621792" y="1051560"/>
            <a:ext cx="10972800" cy="1371600"/>
          </a:xfrm>
          <a:prstGeom prst="rect">
            <a:avLst/>
          </a:prstGeom>
          <a:noFill/>
        </p:spPr>
        <p:txBody>
          <a:bodyPr wrap="square" anchor="t"/>
          <a:lstStyle/>
          <a:p>
            <a:pPr algn="l">
              <a:spcBef>
                <a:spcPts val="0"/>
              </a:spcBef>
              <a:spcAft>
                <a:spcPts val="0"/>
              </a:spcAft>
            </a:pPr>
            <a:r>
              <a:rPr sz="5400" b="1">
                <a:solidFill>
                  <a:srgbClr val="FFFFFF"/>
                </a:solidFill>
                <a:latin typeface="Calibri"/>
              </a:rPr>
              <a:t>StudyCite</a:t>
            </a:r>
          </a:p>
          <a:p>
            <a:pPr algn="l">
              <a:spcBef>
                <a:spcPts val="0"/>
              </a:spcBef>
              <a:spcAft>
                <a:spcPts val="0"/>
              </a:spcAft>
            </a:pPr>
            <a:r>
              <a:rPr sz="5400" b="1">
                <a:solidFill>
                  <a:srgbClr val="FFFFFF"/>
                </a:solidFill>
                <a:latin typeface="Calibri"/>
              </a:rPr>
              <a:t>and BiteWise</a:t>
            </a:r>
          </a:p>
        </p:txBody>
      </p:sp>
      <p:sp>
        <p:nvSpPr>
          <p:cNvPr id="6" name="TextBox 5"/>
          <p:cNvSpPr txBox="1"/>
          <p:nvPr/>
        </p:nvSpPr>
        <p:spPr>
          <a:xfrm>
            <a:off x="658368" y="3063240"/>
            <a:ext cx="7680960" cy="731520"/>
          </a:xfrm>
          <a:prstGeom prst="rect">
            <a:avLst/>
          </a:prstGeom>
          <a:noFill/>
        </p:spPr>
        <p:txBody>
          <a:bodyPr wrap="square" anchor="t"/>
          <a:lstStyle/>
          <a:p>
            <a:pPr algn="l">
              <a:spcBef>
                <a:spcPts val="0"/>
              </a:spcBef>
              <a:spcAft>
                <a:spcPts val="0"/>
              </a:spcAft>
            </a:pPr>
            <a:r>
              <a:rPr sz="2000" b="0">
                <a:solidFill>
                  <a:srgbClr val="E4DDD2"/>
                </a:solidFill>
                <a:latin typeface="Calibri"/>
              </a:rPr>
              <a:t>Two grounded assistants. Each one answers only from records it is allowed to use.</a:t>
            </a:r>
          </a:p>
        </p:txBody>
      </p:sp>
      <p:sp>
        <p:nvSpPr>
          <p:cNvPr id="7" name="TextBox 6"/>
          <p:cNvSpPr txBox="1"/>
          <p:nvPr/>
        </p:nvSpPr>
        <p:spPr>
          <a:xfrm>
            <a:off x="658368" y="3931920"/>
            <a:ext cx="5486400" cy="640080"/>
          </a:xfrm>
          <a:prstGeom prst="rect">
            <a:avLst/>
          </a:prstGeom>
          <a:noFill/>
        </p:spPr>
        <p:txBody>
          <a:bodyPr wrap="square" anchor="t"/>
          <a:lstStyle/>
          <a:p>
            <a:pPr algn="l">
              <a:spcBef>
                <a:spcPts val="0"/>
              </a:spcBef>
              <a:spcAft>
                <a:spcPts val="0"/>
              </a:spcAft>
            </a:pPr>
            <a:r>
              <a:rPr sz="1800" b="0">
                <a:solidFill>
                  <a:srgbClr val="FFFFFF"/>
                </a:solidFill>
                <a:latin typeface="Calibri"/>
              </a:rPr>
              <a:t>Pu Zeng</a:t>
            </a:r>
          </a:p>
          <a:p>
            <a:pPr algn="l">
              <a:spcBef>
                <a:spcPts val="0"/>
              </a:spcBef>
              <a:spcAft>
                <a:spcPts val="0"/>
              </a:spcAft>
            </a:pPr>
            <a:r>
              <a:rPr sz="1800" b="0">
                <a:solidFill>
                  <a:srgbClr val="FFFFFF"/>
                </a:solidFill>
                <a:latin typeface="Calibri"/>
              </a:rPr>
              <a:t>October 18, 2026</a:t>
            </a:r>
          </a:p>
        </p:txBody>
      </p:sp>
      <p:sp>
        <p:nvSpPr>
          <p:cNvPr id="8" name="Rounded Rectangle 7"/>
          <p:cNvSpPr/>
          <p:nvPr/>
        </p:nvSpPr>
        <p:spPr>
          <a:xfrm>
            <a:off x="658368" y="4892040"/>
            <a:ext cx="5212080" cy="1234440"/>
          </a:xfrm>
          <a:prstGeom prst="roundRect">
            <a:avLst>
              <a:gd name="adj" fmla="val 8000"/>
            </a:avLst>
          </a:prstGeom>
          <a:solidFill>
            <a:srgbClr val="1E304C"/>
          </a:solidFill>
          <a:ln w="12700">
            <a:solidFill>
              <a:srgbClr val="E4DBCE"/>
            </a:solidFill>
          </a:ln>
        </p:spPr>
        <p:txBody>
          <a:bodyPr rtlCol="0" anchor="ctr"/>
          <a:lstStyle/>
          <a:p>
            <a:pPr algn="ctr"/>
          </a:p>
        </p:txBody>
      </p:sp>
      <p:sp>
        <p:nvSpPr>
          <p:cNvPr id="9" name="TextBox 8"/>
          <p:cNvSpPr txBox="1"/>
          <p:nvPr/>
        </p:nvSpPr>
        <p:spPr>
          <a:xfrm>
            <a:off x="841248" y="5010912"/>
            <a:ext cx="4846320" cy="256032"/>
          </a:xfrm>
          <a:prstGeom prst="rect">
            <a:avLst/>
          </a:prstGeom>
          <a:noFill/>
        </p:spPr>
        <p:txBody>
          <a:bodyPr wrap="square" anchor="t"/>
          <a:lstStyle/>
          <a:p>
            <a:pPr algn="l">
              <a:spcBef>
                <a:spcPts val="0"/>
              </a:spcBef>
              <a:spcAft>
                <a:spcPts val="0"/>
              </a:spcAft>
            </a:pPr>
            <a:r>
              <a:rPr sz="1100" b="1">
                <a:solidFill>
                  <a:srgbClr val="8FD0C8"/>
                </a:solidFill>
                <a:latin typeface="Calibri"/>
              </a:rPr>
              <a:t>STUDYCITE PROTOTYPE</a:t>
            </a:r>
          </a:p>
        </p:txBody>
      </p:sp>
      <p:sp>
        <p:nvSpPr>
          <p:cNvPr id="10" name="TextBox 9"/>
          <p:cNvSpPr txBox="1"/>
          <p:nvPr/>
        </p:nvSpPr>
        <p:spPr>
          <a:xfrm>
            <a:off x="841248" y="5285232"/>
            <a:ext cx="4846320" cy="292608"/>
          </a:xfrm>
          <a:prstGeom prst="rect">
            <a:avLst/>
          </a:prstGeom>
          <a:noFill/>
        </p:spPr>
        <p:txBody>
          <a:bodyPr wrap="square" anchor="t"/>
          <a:lstStyle/>
          <a:p>
            <a:pPr algn="l">
              <a:spcBef>
                <a:spcPts val="0"/>
              </a:spcBef>
              <a:spcAft>
                <a:spcPts val="0"/>
              </a:spcAft>
            </a:pPr>
            <a:r>
              <a:rPr sz="1800" b="1">
                <a:solidFill>
                  <a:srgbClr val="FFFFFF"/>
                </a:solidFill>
                <a:latin typeface="Calibri"/>
              </a:rPr>
              <a:t>triallens-ai.ai.studio</a:t>
            </a:r>
          </a:p>
        </p:txBody>
      </p:sp>
      <p:sp>
        <p:nvSpPr>
          <p:cNvPr id="11" name="TextBox 10"/>
          <p:cNvSpPr txBox="1"/>
          <p:nvPr/>
        </p:nvSpPr>
        <p:spPr>
          <a:xfrm>
            <a:off x="841248" y="5632704"/>
            <a:ext cx="4846320" cy="329184"/>
          </a:xfrm>
          <a:prstGeom prst="rect">
            <a:avLst/>
          </a:prstGeom>
          <a:noFill/>
        </p:spPr>
        <p:txBody>
          <a:bodyPr wrap="square" anchor="t"/>
          <a:lstStyle/>
          <a:p>
            <a:pPr algn="l">
              <a:spcBef>
                <a:spcPts val="0"/>
              </a:spcBef>
              <a:spcAft>
                <a:spcPts val="0"/>
              </a:spcAft>
            </a:pPr>
            <a:r>
              <a:rPr sz="1200" b="0">
                <a:solidFill>
                  <a:srgbClr val="C9D4C8"/>
                </a:solidFill>
                <a:latin typeface="Calibri"/>
              </a:rPr>
              <a:t>Single-file host. Still titled TrialLens AI.</a:t>
            </a:r>
          </a:p>
        </p:txBody>
      </p:sp>
      <p:sp>
        <p:nvSpPr>
          <p:cNvPr id="12" name="Rounded Rectangle 11"/>
          <p:cNvSpPr/>
          <p:nvPr/>
        </p:nvSpPr>
        <p:spPr>
          <a:xfrm>
            <a:off x="6126480" y="4892040"/>
            <a:ext cx="5394960" cy="1234440"/>
          </a:xfrm>
          <a:prstGeom prst="roundRect">
            <a:avLst>
              <a:gd name="adj" fmla="val 8000"/>
            </a:avLst>
          </a:prstGeom>
          <a:solidFill>
            <a:srgbClr val="1E304C"/>
          </a:solidFill>
          <a:ln w="12700">
            <a:solidFill>
              <a:srgbClr val="E4DBCE"/>
            </a:solidFill>
          </a:ln>
        </p:spPr>
        <p:txBody>
          <a:bodyPr rtlCol="0" anchor="ctr"/>
          <a:lstStyle/>
          <a:p>
            <a:pPr algn="ctr"/>
          </a:p>
        </p:txBody>
      </p:sp>
      <p:sp>
        <p:nvSpPr>
          <p:cNvPr id="13" name="TextBox 12"/>
          <p:cNvSpPr txBox="1"/>
          <p:nvPr/>
        </p:nvSpPr>
        <p:spPr>
          <a:xfrm>
            <a:off x="6309360" y="5010912"/>
            <a:ext cx="5029200" cy="256032"/>
          </a:xfrm>
          <a:prstGeom prst="rect">
            <a:avLst/>
          </a:prstGeom>
          <a:noFill/>
        </p:spPr>
        <p:txBody>
          <a:bodyPr wrap="square" anchor="t"/>
          <a:lstStyle/>
          <a:p>
            <a:pPr algn="l">
              <a:spcBef>
                <a:spcPts val="0"/>
              </a:spcBef>
              <a:spcAft>
                <a:spcPts val="0"/>
              </a:spcAft>
            </a:pPr>
            <a:r>
              <a:rPr sz="1100" b="1">
                <a:solidFill>
                  <a:srgbClr val="F0C2A8"/>
                </a:solidFill>
                <a:latin typeface="Calibri"/>
              </a:rPr>
              <a:t>BITEWISE PUBLIC APP</a:t>
            </a:r>
          </a:p>
        </p:txBody>
      </p:sp>
      <p:sp>
        <p:nvSpPr>
          <p:cNvPr id="14" name="TextBox 13"/>
          <p:cNvSpPr txBox="1"/>
          <p:nvPr/>
        </p:nvSpPr>
        <p:spPr>
          <a:xfrm>
            <a:off x="6309360" y="5285232"/>
            <a:ext cx="5029200" cy="292608"/>
          </a:xfrm>
          <a:prstGeom prst="rect">
            <a:avLst/>
          </a:prstGeom>
          <a:noFill/>
        </p:spPr>
        <p:txBody>
          <a:bodyPr wrap="square" anchor="t"/>
          <a:lstStyle/>
          <a:p>
            <a:pPr algn="l">
              <a:spcBef>
                <a:spcPts val="0"/>
              </a:spcBef>
              <a:spcAft>
                <a:spcPts val="0"/>
              </a:spcAft>
            </a:pPr>
            <a:r>
              <a:rPr sz="1800" b="1">
                <a:solidFill>
                  <a:srgbClr val="FFFFFF"/>
                </a:solidFill>
                <a:latin typeface="Calibri"/>
              </a:rPr>
              <a:t>bitewise-ai.ai.studio</a:t>
            </a:r>
          </a:p>
        </p:txBody>
      </p:sp>
      <p:sp>
        <p:nvSpPr>
          <p:cNvPr id="15" name="TextBox 14"/>
          <p:cNvSpPr txBox="1"/>
          <p:nvPr/>
        </p:nvSpPr>
        <p:spPr>
          <a:xfrm>
            <a:off x="6309360" y="5632704"/>
            <a:ext cx="5029200" cy="329184"/>
          </a:xfrm>
          <a:prstGeom prst="rect">
            <a:avLst/>
          </a:prstGeom>
          <a:noFill/>
        </p:spPr>
        <p:txBody>
          <a:bodyPr wrap="square" anchor="t"/>
          <a:lstStyle/>
          <a:p>
            <a:pPr algn="l">
              <a:spcBef>
                <a:spcPts val="0"/>
              </a:spcBef>
              <a:spcAft>
                <a:spcPts val="0"/>
              </a:spcAft>
            </a:pPr>
            <a:r>
              <a:rPr sz="1200" b="0">
                <a:solidFill>
                  <a:srgbClr val="C9D4C8"/>
                </a:solidFill>
                <a:latin typeface="Calibri"/>
              </a:rPr>
              <a:t>Google AI Studio on Cloud Run. Pages and API together.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6858000"/>
          </a:xfrm>
          <a:prstGeom prst="rect">
            <a:avLst/>
          </a:prstGeom>
          <a:solidFill>
            <a:srgbClr val="F6F3EC"/>
          </a:solidFill>
          <a:ln>
            <a:noFill/>
          </a:ln>
        </p:spPr>
        <p:txBody>
          <a:bodyPr rtlCol="0" anchor="ctr"/>
          <a:lstStyle/>
          <a:p>
            <a:pPr algn="ctr"/>
          </a:p>
        </p:txBody>
      </p:sp>
      <p:sp>
        <p:nvSpPr>
          <p:cNvPr id="3" name="Rectangle 2"/>
          <p:cNvSpPr/>
          <p:nvPr/>
        </p:nvSpPr>
        <p:spPr>
          <a:xfrm>
            <a:off x="0" y="0"/>
            <a:ext cx="12198096" cy="73152"/>
          </a:xfrm>
          <a:prstGeom prst="rect">
            <a:avLst/>
          </a:prstGeom>
          <a:solidFill>
            <a:srgbClr val="1A6A64"/>
          </a:solidFill>
          <a:ln>
            <a:noFill/>
          </a:ln>
        </p:spPr>
        <p:txBody>
          <a:bodyPr rtlCol="0" anchor="ctr"/>
          <a:lstStyle/>
          <a:p>
            <a:pPr algn="ctr"/>
          </a:p>
        </p:txBody>
      </p:sp>
      <p:sp>
        <p:nvSpPr>
          <p:cNvPr id="4" name="TextBox 3"/>
          <p:cNvSpPr txBox="1"/>
          <p:nvPr/>
        </p:nvSpPr>
        <p:spPr>
          <a:xfrm>
            <a:off x="420624" y="201168"/>
            <a:ext cx="11155680" cy="256032"/>
          </a:xfrm>
          <a:prstGeom prst="rect">
            <a:avLst/>
          </a:prstGeom>
          <a:noFill/>
        </p:spPr>
        <p:txBody>
          <a:bodyPr wrap="square" anchor="t"/>
          <a:lstStyle/>
          <a:p>
            <a:pPr algn="l">
              <a:spcBef>
                <a:spcPts val="0"/>
              </a:spcBef>
              <a:spcAft>
                <a:spcPts val="0"/>
              </a:spcAft>
            </a:pPr>
            <a:r>
              <a:rPr sz="1200" b="1">
                <a:solidFill>
                  <a:srgbClr val="1A6A64"/>
                </a:solidFill>
                <a:latin typeface="Calibri"/>
              </a:rPr>
              <a:t>TITLE AND OVERVIEW</a:t>
            </a:r>
          </a:p>
        </p:txBody>
      </p:sp>
      <p:sp>
        <p:nvSpPr>
          <p:cNvPr id="5" name="TextBox 4"/>
          <p:cNvSpPr txBox="1"/>
          <p:nvPr/>
        </p:nvSpPr>
        <p:spPr>
          <a:xfrm>
            <a:off x="420624" y="438912"/>
            <a:ext cx="11247120" cy="566928"/>
          </a:xfrm>
          <a:prstGeom prst="rect">
            <a:avLst/>
          </a:prstGeom>
          <a:noFill/>
        </p:spPr>
        <p:txBody>
          <a:bodyPr wrap="square" anchor="t"/>
          <a:lstStyle/>
          <a:p>
            <a:pPr algn="l">
              <a:spcBef>
                <a:spcPts val="0"/>
              </a:spcBef>
              <a:spcAft>
                <a:spcPts val="0"/>
              </a:spcAft>
            </a:pPr>
            <a:r>
              <a:rPr sz="2800" b="1">
                <a:solidFill>
                  <a:srgbClr val="142238"/>
                </a:solidFill>
                <a:latin typeface="Calibri"/>
              </a:rPr>
              <a:t>Both problems, both solutions</a:t>
            </a:r>
          </a:p>
        </p:txBody>
      </p:sp>
      <p:sp>
        <p:nvSpPr>
          <p:cNvPr id="6" name="Rectangle 5"/>
          <p:cNvSpPr/>
          <p:nvPr/>
        </p:nvSpPr>
        <p:spPr>
          <a:xfrm>
            <a:off x="438912" y="1042415"/>
            <a:ext cx="1234440" cy="32004"/>
          </a:xfrm>
          <a:prstGeom prst="rect">
            <a:avLst/>
          </a:prstGeom>
          <a:solidFill>
            <a:srgbClr val="8C6A32"/>
          </a:solidFill>
          <a:ln>
            <a:noFill/>
          </a:ln>
        </p:spPr>
        <p:txBody>
          <a:bodyPr rtlCol="0" anchor="ctr"/>
          <a:lstStyle/>
          <a:p>
            <a:pPr algn="ctr"/>
          </a:p>
        </p:txBody>
      </p:sp>
      <p:sp>
        <p:nvSpPr>
          <p:cNvPr id="7" name="Rectangle 6"/>
          <p:cNvSpPr/>
          <p:nvPr/>
        </p:nvSpPr>
        <p:spPr>
          <a:xfrm>
            <a:off x="0" y="6565392"/>
            <a:ext cx="12198096" cy="13716"/>
          </a:xfrm>
          <a:prstGeom prst="rect">
            <a:avLst/>
          </a:prstGeom>
          <a:solidFill>
            <a:srgbClr val="E4DBCE"/>
          </a:solidFill>
          <a:ln>
            <a:noFill/>
          </a:ln>
        </p:spPr>
        <p:txBody>
          <a:bodyPr rtlCol="0" anchor="ctr"/>
          <a:lstStyle/>
          <a:p>
            <a:pPr algn="ctr"/>
          </a:p>
        </p:txBody>
      </p:sp>
      <p:sp>
        <p:nvSpPr>
          <p:cNvPr id="8" name="TextBox 7"/>
          <p:cNvSpPr txBox="1"/>
          <p:nvPr/>
        </p:nvSpPr>
        <p:spPr>
          <a:xfrm>
            <a:off x="420624" y="6601968"/>
            <a:ext cx="8412480" cy="237744"/>
          </a:xfrm>
          <a:prstGeom prst="rect">
            <a:avLst/>
          </a:prstGeom>
          <a:noFill/>
        </p:spPr>
        <p:txBody>
          <a:bodyPr wrap="square" anchor="ctr"/>
          <a:lstStyle/>
          <a:p>
            <a:pPr algn="l">
              <a:spcBef>
                <a:spcPts val="0"/>
              </a:spcBef>
              <a:spcAft>
                <a:spcPts val="0"/>
              </a:spcAft>
            </a:pPr>
            <a:r>
              <a:rPr sz="1100" b="0">
                <a:solidFill>
                  <a:srgbClr val="5C6570"/>
                </a:solidFill>
                <a:latin typeface="Calibri"/>
              </a:rPr>
              <a:t>Pu Zeng  ·  StudyCite and BiteWise</a:t>
            </a:r>
          </a:p>
        </p:txBody>
      </p:sp>
      <p:sp>
        <p:nvSpPr>
          <p:cNvPr id="9" name="TextBox 8"/>
          <p:cNvSpPr txBox="1"/>
          <p:nvPr/>
        </p:nvSpPr>
        <p:spPr>
          <a:xfrm>
            <a:off x="9509760" y="6601968"/>
            <a:ext cx="2267712" cy="237744"/>
          </a:xfrm>
          <a:prstGeom prst="rect">
            <a:avLst/>
          </a:prstGeom>
          <a:noFill/>
        </p:spPr>
        <p:txBody>
          <a:bodyPr wrap="square" anchor="ctr"/>
          <a:lstStyle/>
          <a:p>
            <a:pPr algn="r">
              <a:spcBef>
                <a:spcPts val="0"/>
              </a:spcBef>
              <a:spcAft>
                <a:spcPts val="0"/>
              </a:spcAft>
            </a:pPr>
            <a:r>
              <a:rPr sz="1100" b="0">
                <a:solidFill>
                  <a:srgbClr val="5C6570"/>
                </a:solidFill>
                <a:latin typeface="Calibri"/>
              </a:rPr>
              <a:t>2   /   24</a:t>
            </a:r>
          </a:p>
        </p:txBody>
      </p:sp>
      <p:sp>
        <p:nvSpPr>
          <p:cNvPr id="10" name="Rounded Rectangle 9"/>
          <p:cNvSpPr/>
          <p:nvPr/>
        </p:nvSpPr>
        <p:spPr>
          <a:xfrm>
            <a:off x="420624" y="1298448"/>
            <a:ext cx="5532120" cy="3703320"/>
          </a:xfrm>
          <a:prstGeom prst="roundRect">
            <a:avLst>
              <a:gd name="adj" fmla="val 8000"/>
            </a:avLst>
          </a:prstGeom>
          <a:solidFill>
            <a:srgbClr val="FFFFFF"/>
          </a:solidFill>
          <a:ln w="12700">
            <a:solidFill>
              <a:srgbClr val="E4DBCE"/>
            </a:solidFill>
          </a:ln>
        </p:spPr>
        <p:txBody>
          <a:bodyPr rtlCol="0" anchor="ctr"/>
          <a:lstStyle/>
          <a:p>
            <a:pPr algn="ctr"/>
          </a:p>
        </p:txBody>
      </p:sp>
      <p:sp>
        <p:nvSpPr>
          <p:cNvPr id="11" name="Rectangle 10"/>
          <p:cNvSpPr/>
          <p:nvPr/>
        </p:nvSpPr>
        <p:spPr>
          <a:xfrm>
            <a:off x="420624" y="1298448"/>
            <a:ext cx="5532120" cy="91440"/>
          </a:xfrm>
          <a:prstGeom prst="rect">
            <a:avLst/>
          </a:prstGeom>
          <a:solidFill>
            <a:srgbClr val="1A6A64"/>
          </a:solidFill>
          <a:ln>
            <a:noFill/>
          </a:ln>
        </p:spPr>
        <p:txBody>
          <a:bodyPr rtlCol="0" anchor="ctr"/>
          <a:lstStyle/>
          <a:p>
            <a:pPr algn="ctr"/>
          </a:p>
        </p:txBody>
      </p:sp>
      <p:sp>
        <p:nvSpPr>
          <p:cNvPr id="12" name="TextBox 11"/>
          <p:cNvSpPr txBox="1"/>
          <p:nvPr/>
        </p:nvSpPr>
        <p:spPr>
          <a:xfrm>
            <a:off x="621792" y="1499616"/>
            <a:ext cx="5120640" cy="274320"/>
          </a:xfrm>
          <a:prstGeom prst="rect">
            <a:avLst/>
          </a:prstGeom>
          <a:noFill/>
        </p:spPr>
        <p:txBody>
          <a:bodyPr wrap="square" anchor="t"/>
          <a:lstStyle/>
          <a:p>
            <a:pPr algn="l">
              <a:spcBef>
                <a:spcPts val="0"/>
              </a:spcBef>
              <a:spcAft>
                <a:spcPts val="0"/>
              </a:spcAft>
            </a:pPr>
            <a:r>
              <a:rPr sz="1300" b="1">
                <a:solidFill>
                  <a:srgbClr val="1A6A64"/>
                </a:solidFill>
                <a:latin typeface="Calibri"/>
              </a:rPr>
              <a:t>STUDYCITE</a:t>
            </a:r>
          </a:p>
        </p:txBody>
      </p:sp>
      <p:sp>
        <p:nvSpPr>
          <p:cNvPr id="13" name="TextBox 12"/>
          <p:cNvSpPr txBox="1"/>
          <p:nvPr/>
        </p:nvSpPr>
        <p:spPr>
          <a:xfrm>
            <a:off x="621792" y="1810512"/>
            <a:ext cx="5120640" cy="640080"/>
          </a:xfrm>
          <a:prstGeom prst="rect">
            <a:avLst/>
          </a:prstGeom>
          <a:noFill/>
        </p:spPr>
        <p:txBody>
          <a:bodyPr wrap="square" anchor="t"/>
          <a:lstStyle/>
          <a:p>
            <a:pPr algn="l">
              <a:spcBef>
                <a:spcPts val="0"/>
              </a:spcBef>
              <a:spcAft>
                <a:spcPts val="0"/>
              </a:spcAft>
            </a:pPr>
            <a:r>
              <a:rPr sz="2000" b="1">
                <a:solidFill>
                  <a:srgbClr val="142238"/>
                </a:solidFill>
                <a:latin typeface="Calibri"/>
              </a:rPr>
              <a:t>Stop citing a superseded protocol.</a:t>
            </a:r>
          </a:p>
        </p:txBody>
      </p:sp>
      <p:sp>
        <p:nvSpPr>
          <p:cNvPr id="14" name="TextBox 13"/>
          <p:cNvSpPr txBox="1"/>
          <p:nvPr/>
        </p:nvSpPr>
        <p:spPr>
          <a:xfrm>
            <a:off x="621792" y="2514600"/>
            <a:ext cx="5074920" cy="2240280"/>
          </a:xfrm>
          <a:prstGeom prst="rect">
            <a:avLst/>
          </a:prstGeom>
          <a:noFill/>
        </p:spPr>
        <p:txBody>
          <a:bodyPr wrap="square" anchor="t"/>
          <a:lstStyle/>
          <a:p>
            <a:pPr algn="l">
              <a:spcBef>
                <a:spcPts val="0"/>
              </a:spcBef>
              <a:spcAft>
                <a:spcPts val="800"/>
              </a:spcAft>
            </a:pPr>
            <a:r>
              <a:rPr sz="1400" b="0">
                <a:solidFill>
                  <a:srgbClr val="1C222B"/>
                </a:solidFill>
                <a:latin typeface="Calibri"/>
              </a:rPr>
              <a:t>•  Problem: study teams search long, amended documents and can use an outdated page.</a:t>
            </a:r>
          </a:p>
          <a:p>
            <a:pPr algn="l">
              <a:spcBef>
                <a:spcPts val="0"/>
              </a:spcBef>
              <a:spcAft>
                <a:spcPts val="800"/>
              </a:spcAft>
            </a:pPr>
            <a:r>
              <a:rPr sz="1400" b="0">
                <a:solidFill>
                  <a:srgbClr val="1C222B"/>
                </a:solidFill>
                <a:latin typeface="Calibri"/>
              </a:rPr>
              <a:t>•  Solution: a cited answer, or an abstention, from approved text for the active study.</a:t>
            </a:r>
          </a:p>
          <a:p>
            <a:pPr algn="l">
              <a:spcBef>
                <a:spcPts val="0"/>
              </a:spcBef>
              <a:spcAft>
                <a:spcPts val="800"/>
              </a:spcAft>
            </a:pPr>
            <a:r>
              <a:rPr sz="1400" b="0">
                <a:solidFill>
                  <a:srgbClr val="1C222B"/>
                </a:solidFill>
                <a:latin typeface="Calibri"/>
              </a:rPr>
              <a:t>•  Scope: knowledge retrieval. Not diagnosis, eligibility automation, or treatment advice.</a:t>
            </a:r>
          </a:p>
        </p:txBody>
      </p:sp>
      <p:sp>
        <p:nvSpPr>
          <p:cNvPr id="15" name="Rounded Rectangle 14"/>
          <p:cNvSpPr/>
          <p:nvPr/>
        </p:nvSpPr>
        <p:spPr>
          <a:xfrm>
            <a:off x="6144768" y="1298448"/>
            <a:ext cx="5623560" cy="3703320"/>
          </a:xfrm>
          <a:prstGeom prst="roundRect">
            <a:avLst>
              <a:gd name="adj" fmla="val 8000"/>
            </a:avLst>
          </a:prstGeom>
          <a:solidFill>
            <a:srgbClr val="FFFFFF"/>
          </a:solidFill>
          <a:ln w="12700">
            <a:solidFill>
              <a:srgbClr val="E4DBCE"/>
            </a:solidFill>
          </a:ln>
        </p:spPr>
        <p:txBody>
          <a:bodyPr rtlCol="0" anchor="ctr"/>
          <a:lstStyle/>
          <a:p>
            <a:pPr algn="ctr"/>
          </a:p>
        </p:txBody>
      </p:sp>
      <p:sp>
        <p:nvSpPr>
          <p:cNvPr id="16" name="Rectangle 15"/>
          <p:cNvSpPr/>
          <p:nvPr/>
        </p:nvSpPr>
        <p:spPr>
          <a:xfrm>
            <a:off x="6144768" y="1298448"/>
            <a:ext cx="5623560" cy="91440"/>
          </a:xfrm>
          <a:prstGeom prst="rect">
            <a:avLst/>
          </a:prstGeom>
          <a:solidFill>
            <a:srgbClr val="C2562A"/>
          </a:solidFill>
          <a:ln>
            <a:noFill/>
          </a:ln>
        </p:spPr>
        <p:txBody>
          <a:bodyPr rtlCol="0" anchor="ctr"/>
          <a:lstStyle/>
          <a:p>
            <a:pPr algn="ctr"/>
          </a:p>
        </p:txBody>
      </p:sp>
      <p:sp>
        <p:nvSpPr>
          <p:cNvPr id="17" name="TextBox 16"/>
          <p:cNvSpPr txBox="1"/>
          <p:nvPr/>
        </p:nvSpPr>
        <p:spPr>
          <a:xfrm>
            <a:off x="6345936" y="1499616"/>
            <a:ext cx="5212080" cy="274320"/>
          </a:xfrm>
          <a:prstGeom prst="rect">
            <a:avLst/>
          </a:prstGeom>
          <a:noFill/>
        </p:spPr>
        <p:txBody>
          <a:bodyPr wrap="square" anchor="t"/>
          <a:lstStyle/>
          <a:p>
            <a:pPr algn="l">
              <a:spcBef>
                <a:spcPts val="0"/>
              </a:spcBef>
              <a:spcAft>
                <a:spcPts val="0"/>
              </a:spcAft>
            </a:pPr>
            <a:r>
              <a:rPr sz="1300" b="1">
                <a:solidFill>
                  <a:srgbClr val="C2562A"/>
                </a:solidFill>
                <a:latin typeface="Calibri"/>
              </a:rPr>
              <a:t>BITEWISE</a:t>
            </a:r>
          </a:p>
        </p:txBody>
      </p:sp>
      <p:sp>
        <p:nvSpPr>
          <p:cNvPr id="18" name="TextBox 17"/>
          <p:cNvSpPr txBox="1"/>
          <p:nvPr/>
        </p:nvSpPr>
        <p:spPr>
          <a:xfrm>
            <a:off x="6345936" y="1810512"/>
            <a:ext cx="5212080" cy="640080"/>
          </a:xfrm>
          <a:prstGeom prst="rect">
            <a:avLst/>
          </a:prstGeom>
          <a:noFill/>
        </p:spPr>
        <p:txBody>
          <a:bodyPr wrap="square" anchor="t"/>
          <a:lstStyle/>
          <a:p>
            <a:pPr algn="l">
              <a:spcBef>
                <a:spcPts val="0"/>
              </a:spcBef>
              <a:spcAft>
                <a:spcPts val="0"/>
              </a:spcAft>
            </a:pPr>
            <a:r>
              <a:rPr sz="2000" b="1">
                <a:solidFill>
                  <a:srgbClr val="142238"/>
                </a:solidFill>
                <a:latin typeface="Calibri"/>
              </a:rPr>
              <a:t>Stop inventing a meal that is not on the menu.</a:t>
            </a:r>
          </a:p>
        </p:txBody>
      </p:sp>
      <p:sp>
        <p:nvSpPr>
          <p:cNvPr id="19" name="TextBox 18"/>
          <p:cNvSpPr txBox="1"/>
          <p:nvPr/>
        </p:nvSpPr>
        <p:spPr>
          <a:xfrm>
            <a:off x="6345936" y="2514600"/>
            <a:ext cx="5212080" cy="2240280"/>
          </a:xfrm>
          <a:prstGeom prst="rect">
            <a:avLst/>
          </a:prstGeom>
          <a:noFill/>
        </p:spPr>
        <p:txBody>
          <a:bodyPr wrap="square" anchor="t"/>
          <a:lstStyle/>
          <a:p>
            <a:pPr algn="l">
              <a:spcBef>
                <a:spcPts val="0"/>
              </a:spcBef>
              <a:spcAft>
                <a:spcPts val="800"/>
              </a:spcAft>
            </a:pPr>
            <a:r>
              <a:rPr sz="1400" b="0">
                <a:solidFill>
                  <a:srgbClr val="1C222B"/>
                </a:solidFill>
                <a:latin typeface="Calibri"/>
              </a:rPr>
              <a:t>•  Problem: choosing from a long menu when budget and diet already rule most of it out.</a:t>
            </a:r>
          </a:p>
          <a:p>
            <a:pPr algn="l">
              <a:spcBef>
                <a:spcPts val="0"/>
              </a:spcBef>
              <a:spcAft>
                <a:spcPts val="800"/>
              </a:spcAft>
            </a:pPr>
            <a:r>
              <a:rPr sz="1400" b="0">
                <a:solidFill>
                  <a:srgbClr val="1C222B"/>
                </a:solidFill>
                <a:latin typeface="Calibri"/>
              </a:rPr>
              <a:t>•  Solution: the server drops ineligible meals, then Gemini ranks what remains.</a:t>
            </a:r>
          </a:p>
          <a:p>
            <a:pPr algn="l">
              <a:spcBef>
                <a:spcPts val="0"/>
              </a:spcBef>
              <a:spcAft>
                <a:spcPts val="800"/>
              </a:spcAft>
            </a:pPr>
            <a:r>
              <a:rPr sz="1400" b="0">
                <a:solidFill>
                  <a:srgbClr val="1C222B"/>
                </a:solidFill>
                <a:latin typeface="Calibri"/>
              </a:rPr>
              <a:t>•  Scope: eight fictional restaurants, 40 dishes. No orders, payment, or delivery.</a:t>
            </a:r>
          </a:p>
        </p:txBody>
      </p:sp>
      <p:sp>
        <p:nvSpPr>
          <p:cNvPr id="20" name="Rounded Rectangle 19"/>
          <p:cNvSpPr/>
          <p:nvPr/>
        </p:nvSpPr>
        <p:spPr>
          <a:xfrm>
            <a:off x="420624" y="5120640"/>
            <a:ext cx="2761488" cy="1261872"/>
          </a:xfrm>
          <a:prstGeom prst="roundRect">
            <a:avLst>
              <a:gd name="adj" fmla="val 8000"/>
            </a:avLst>
          </a:prstGeom>
          <a:solidFill>
            <a:srgbClr val="FFFFFF"/>
          </a:solidFill>
          <a:ln w="12700">
            <a:solidFill>
              <a:srgbClr val="E4DBCE"/>
            </a:solidFill>
          </a:ln>
        </p:spPr>
        <p:txBody>
          <a:bodyPr rtlCol="0" anchor="ctr"/>
          <a:lstStyle/>
          <a:p>
            <a:pPr algn="ctr"/>
          </a:p>
        </p:txBody>
      </p:sp>
      <p:sp>
        <p:nvSpPr>
          <p:cNvPr id="21" name="TextBox 20"/>
          <p:cNvSpPr txBox="1"/>
          <p:nvPr/>
        </p:nvSpPr>
        <p:spPr>
          <a:xfrm>
            <a:off x="566928" y="5212080"/>
            <a:ext cx="2468880" cy="438912"/>
          </a:xfrm>
          <a:prstGeom prst="rect">
            <a:avLst/>
          </a:prstGeom>
          <a:noFill/>
        </p:spPr>
        <p:txBody>
          <a:bodyPr wrap="square" anchor="t"/>
          <a:lstStyle/>
          <a:p>
            <a:pPr algn="l">
              <a:spcBef>
                <a:spcPts val="0"/>
              </a:spcBef>
              <a:spcAft>
                <a:spcPts val="0"/>
              </a:spcAft>
            </a:pPr>
            <a:r>
              <a:rPr sz="2200" b="1">
                <a:solidFill>
                  <a:srgbClr val="142238"/>
                </a:solidFill>
                <a:latin typeface="Calibri"/>
              </a:rPr>
              <a:t>8</a:t>
            </a:r>
          </a:p>
        </p:txBody>
      </p:sp>
      <p:sp>
        <p:nvSpPr>
          <p:cNvPr id="22" name="TextBox 21"/>
          <p:cNvSpPr txBox="1"/>
          <p:nvPr/>
        </p:nvSpPr>
        <p:spPr>
          <a:xfrm>
            <a:off x="566928" y="5669280"/>
            <a:ext cx="2468880" cy="566928"/>
          </a:xfrm>
          <a:prstGeom prst="rect">
            <a:avLst/>
          </a:prstGeom>
          <a:noFill/>
        </p:spPr>
        <p:txBody>
          <a:bodyPr wrap="square" anchor="t"/>
          <a:lstStyle/>
          <a:p>
            <a:pPr algn="l">
              <a:spcBef>
                <a:spcPts val="0"/>
              </a:spcBef>
              <a:spcAft>
                <a:spcPts val="0"/>
              </a:spcAft>
            </a:pPr>
            <a:r>
              <a:rPr sz="1200" b="0">
                <a:solidFill>
                  <a:srgbClr val="5C6570"/>
                </a:solidFill>
                <a:latin typeface="Calibri"/>
              </a:rPr>
              <a:t>Gold-standard</a:t>
            </a:r>
          </a:p>
          <a:p>
            <a:pPr algn="l">
              <a:spcBef>
                <a:spcPts val="0"/>
              </a:spcBef>
              <a:spcAft>
                <a:spcPts val="0"/>
              </a:spcAft>
            </a:pPr>
            <a:r>
              <a:rPr sz="1200" b="0">
                <a:solidFill>
                  <a:srgbClr val="5C6570"/>
                </a:solidFill>
                <a:latin typeface="Calibri"/>
              </a:rPr>
              <a:t>StudyCite cases</a:t>
            </a:r>
          </a:p>
        </p:txBody>
      </p:sp>
      <p:sp>
        <p:nvSpPr>
          <p:cNvPr id="23" name="Rounded Rectangle 22"/>
          <p:cNvSpPr/>
          <p:nvPr/>
        </p:nvSpPr>
        <p:spPr>
          <a:xfrm>
            <a:off x="3346704" y="5120640"/>
            <a:ext cx="2761488" cy="1261872"/>
          </a:xfrm>
          <a:prstGeom prst="roundRect">
            <a:avLst>
              <a:gd name="adj" fmla="val 8000"/>
            </a:avLst>
          </a:prstGeom>
          <a:solidFill>
            <a:srgbClr val="FFFFFF"/>
          </a:solidFill>
          <a:ln w="12700">
            <a:solidFill>
              <a:srgbClr val="E4DBCE"/>
            </a:solidFill>
          </a:ln>
        </p:spPr>
        <p:txBody>
          <a:bodyPr rtlCol="0" anchor="ctr"/>
          <a:lstStyle/>
          <a:p>
            <a:pPr algn="ctr"/>
          </a:p>
        </p:txBody>
      </p:sp>
      <p:sp>
        <p:nvSpPr>
          <p:cNvPr id="24" name="TextBox 23"/>
          <p:cNvSpPr txBox="1"/>
          <p:nvPr/>
        </p:nvSpPr>
        <p:spPr>
          <a:xfrm>
            <a:off x="3493008" y="5212080"/>
            <a:ext cx="2468880" cy="438912"/>
          </a:xfrm>
          <a:prstGeom prst="rect">
            <a:avLst/>
          </a:prstGeom>
          <a:noFill/>
        </p:spPr>
        <p:txBody>
          <a:bodyPr wrap="square" anchor="t"/>
          <a:lstStyle/>
          <a:p>
            <a:pPr algn="l">
              <a:spcBef>
                <a:spcPts val="0"/>
              </a:spcBef>
              <a:spcAft>
                <a:spcPts val="0"/>
              </a:spcAft>
            </a:pPr>
            <a:r>
              <a:rPr sz="2200" b="1">
                <a:solidFill>
                  <a:srgbClr val="142238"/>
                </a:solidFill>
                <a:latin typeface="Calibri"/>
              </a:rPr>
              <a:t>7</a:t>
            </a:r>
          </a:p>
        </p:txBody>
      </p:sp>
      <p:sp>
        <p:nvSpPr>
          <p:cNvPr id="25" name="TextBox 24"/>
          <p:cNvSpPr txBox="1"/>
          <p:nvPr/>
        </p:nvSpPr>
        <p:spPr>
          <a:xfrm>
            <a:off x="3493008" y="5669280"/>
            <a:ext cx="2468880" cy="566928"/>
          </a:xfrm>
          <a:prstGeom prst="rect">
            <a:avLst/>
          </a:prstGeom>
          <a:noFill/>
        </p:spPr>
        <p:txBody>
          <a:bodyPr wrap="square" anchor="t"/>
          <a:lstStyle/>
          <a:p>
            <a:pPr algn="l">
              <a:spcBef>
                <a:spcPts val="0"/>
              </a:spcBef>
              <a:spcAft>
                <a:spcPts val="0"/>
              </a:spcAft>
            </a:pPr>
            <a:r>
              <a:rPr sz="1200" b="0">
                <a:solidFill>
                  <a:srgbClr val="5C6570"/>
                </a:solidFill>
                <a:latin typeface="Calibri"/>
              </a:rPr>
              <a:t>StudyCite defects</a:t>
            </a:r>
          </a:p>
          <a:p>
            <a:pPr algn="l">
              <a:spcBef>
                <a:spcPts val="0"/>
              </a:spcBef>
              <a:spcAft>
                <a:spcPts val="0"/>
              </a:spcAft>
            </a:pPr>
            <a:r>
              <a:rPr sz="1200" b="0">
                <a:solidFill>
                  <a:srgbClr val="5C6570"/>
                </a:solidFill>
                <a:latin typeface="Calibri"/>
              </a:rPr>
              <a:t>fixed in one pass</a:t>
            </a:r>
          </a:p>
        </p:txBody>
      </p:sp>
      <p:sp>
        <p:nvSpPr>
          <p:cNvPr id="26" name="Rounded Rectangle 25"/>
          <p:cNvSpPr/>
          <p:nvPr/>
        </p:nvSpPr>
        <p:spPr>
          <a:xfrm>
            <a:off x="6272784" y="5120640"/>
            <a:ext cx="2761488" cy="1261872"/>
          </a:xfrm>
          <a:prstGeom prst="roundRect">
            <a:avLst>
              <a:gd name="adj" fmla="val 8000"/>
            </a:avLst>
          </a:prstGeom>
          <a:solidFill>
            <a:srgbClr val="FFFFFF"/>
          </a:solidFill>
          <a:ln w="12700">
            <a:solidFill>
              <a:srgbClr val="E4DBCE"/>
            </a:solidFill>
          </a:ln>
        </p:spPr>
        <p:txBody>
          <a:bodyPr rtlCol="0" anchor="ctr"/>
          <a:lstStyle/>
          <a:p>
            <a:pPr algn="ctr"/>
          </a:p>
        </p:txBody>
      </p:sp>
      <p:sp>
        <p:nvSpPr>
          <p:cNvPr id="27" name="TextBox 26"/>
          <p:cNvSpPr txBox="1"/>
          <p:nvPr/>
        </p:nvSpPr>
        <p:spPr>
          <a:xfrm>
            <a:off x="6419088" y="5212080"/>
            <a:ext cx="2468880" cy="438912"/>
          </a:xfrm>
          <a:prstGeom prst="rect">
            <a:avLst/>
          </a:prstGeom>
          <a:noFill/>
        </p:spPr>
        <p:txBody>
          <a:bodyPr wrap="square" anchor="t"/>
          <a:lstStyle/>
          <a:p>
            <a:pPr algn="l">
              <a:spcBef>
                <a:spcPts val="0"/>
              </a:spcBef>
              <a:spcAft>
                <a:spcPts val="0"/>
              </a:spcAft>
            </a:pPr>
            <a:r>
              <a:rPr sz="2200" b="1">
                <a:solidFill>
                  <a:srgbClr val="142238"/>
                </a:solidFill>
                <a:latin typeface="Calibri"/>
              </a:rPr>
              <a:t>12 / 12</a:t>
            </a:r>
          </a:p>
        </p:txBody>
      </p:sp>
      <p:sp>
        <p:nvSpPr>
          <p:cNvPr id="28" name="TextBox 27"/>
          <p:cNvSpPr txBox="1"/>
          <p:nvPr/>
        </p:nvSpPr>
        <p:spPr>
          <a:xfrm>
            <a:off x="6419088" y="5669280"/>
            <a:ext cx="2468880" cy="566928"/>
          </a:xfrm>
          <a:prstGeom prst="rect">
            <a:avLst/>
          </a:prstGeom>
          <a:noFill/>
        </p:spPr>
        <p:txBody>
          <a:bodyPr wrap="square" anchor="t"/>
          <a:lstStyle/>
          <a:p>
            <a:pPr algn="l">
              <a:spcBef>
                <a:spcPts val="0"/>
              </a:spcBef>
              <a:spcAft>
                <a:spcPts val="0"/>
              </a:spcAft>
            </a:pPr>
            <a:r>
              <a:rPr sz="1200" b="0">
                <a:solidFill>
                  <a:srgbClr val="5C6570"/>
                </a:solidFill>
                <a:latin typeface="Calibri"/>
              </a:rPr>
              <a:t>BiteWise API</a:t>
            </a:r>
          </a:p>
          <a:p>
            <a:pPr algn="l">
              <a:spcBef>
                <a:spcPts val="0"/>
              </a:spcBef>
              <a:spcAft>
                <a:spcPts val="0"/>
              </a:spcAft>
            </a:pPr>
            <a:r>
              <a:rPr sz="1200" b="0">
                <a:solidFill>
                  <a:srgbClr val="5C6570"/>
                </a:solidFill>
                <a:latin typeface="Calibri"/>
              </a:rPr>
              <a:t>tests passing</a:t>
            </a:r>
          </a:p>
        </p:txBody>
      </p:sp>
      <p:sp>
        <p:nvSpPr>
          <p:cNvPr id="29" name="Rounded Rectangle 28"/>
          <p:cNvSpPr/>
          <p:nvPr/>
        </p:nvSpPr>
        <p:spPr>
          <a:xfrm>
            <a:off x="9198864" y="5120640"/>
            <a:ext cx="2761488" cy="1261872"/>
          </a:xfrm>
          <a:prstGeom prst="roundRect">
            <a:avLst>
              <a:gd name="adj" fmla="val 8000"/>
            </a:avLst>
          </a:prstGeom>
          <a:solidFill>
            <a:srgbClr val="FFFFFF"/>
          </a:solidFill>
          <a:ln w="12700">
            <a:solidFill>
              <a:srgbClr val="E4DBCE"/>
            </a:solidFill>
          </a:ln>
        </p:spPr>
        <p:txBody>
          <a:bodyPr rtlCol="0" anchor="ctr"/>
          <a:lstStyle/>
          <a:p>
            <a:pPr algn="ctr"/>
          </a:p>
        </p:txBody>
      </p:sp>
      <p:sp>
        <p:nvSpPr>
          <p:cNvPr id="30" name="TextBox 29"/>
          <p:cNvSpPr txBox="1"/>
          <p:nvPr/>
        </p:nvSpPr>
        <p:spPr>
          <a:xfrm>
            <a:off x="9345168" y="5212080"/>
            <a:ext cx="2468880" cy="438912"/>
          </a:xfrm>
          <a:prstGeom prst="rect">
            <a:avLst/>
          </a:prstGeom>
          <a:noFill/>
        </p:spPr>
        <p:txBody>
          <a:bodyPr wrap="square" anchor="t"/>
          <a:lstStyle/>
          <a:p>
            <a:pPr algn="l">
              <a:spcBef>
                <a:spcPts val="0"/>
              </a:spcBef>
              <a:spcAft>
                <a:spcPts val="0"/>
              </a:spcAft>
            </a:pPr>
            <a:r>
              <a:rPr sz="2200" b="1">
                <a:solidFill>
                  <a:srgbClr val="142238"/>
                </a:solidFill>
                <a:latin typeface="Calibri"/>
              </a:rPr>
              <a:t>2</a:t>
            </a:r>
          </a:p>
        </p:txBody>
      </p:sp>
      <p:sp>
        <p:nvSpPr>
          <p:cNvPr id="31" name="TextBox 30"/>
          <p:cNvSpPr txBox="1"/>
          <p:nvPr/>
        </p:nvSpPr>
        <p:spPr>
          <a:xfrm>
            <a:off x="9345168" y="5669280"/>
            <a:ext cx="2468880" cy="566928"/>
          </a:xfrm>
          <a:prstGeom prst="rect">
            <a:avLst/>
          </a:prstGeom>
          <a:noFill/>
        </p:spPr>
        <p:txBody>
          <a:bodyPr wrap="square" anchor="t"/>
          <a:lstStyle/>
          <a:p>
            <a:pPr algn="l">
              <a:spcBef>
                <a:spcPts val="0"/>
              </a:spcBef>
              <a:spcAft>
                <a:spcPts val="0"/>
              </a:spcAft>
            </a:pPr>
            <a:r>
              <a:rPr sz="1200" b="0">
                <a:solidFill>
                  <a:srgbClr val="5C6570"/>
                </a:solidFill>
                <a:latin typeface="Calibri"/>
              </a:rPr>
              <a:t>Hosts that</a:t>
            </a:r>
          </a:p>
          <a:p>
            <a:pPr algn="l">
              <a:spcBef>
                <a:spcPts val="0"/>
              </a:spcBef>
              <a:spcAft>
                <a:spcPts val="0"/>
              </a:spcAft>
            </a:pPr>
            <a:r>
              <a:rPr sz="1200" b="0">
                <a:solidFill>
                  <a:srgbClr val="5C6570"/>
                </a:solidFill>
                <a:latin typeface="Calibri"/>
              </a:rPr>
              <a:t>answer today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6858000"/>
          </a:xfrm>
          <a:prstGeom prst="rect">
            <a:avLst/>
          </a:prstGeom>
          <a:solidFill>
            <a:srgbClr val="F6F3EC"/>
          </a:solidFill>
          <a:ln>
            <a:noFill/>
          </a:ln>
        </p:spPr>
        <p:txBody>
          <a:bodyPr rtlCol="0" anchor="ctr"/>
          <a:lstStyle/>
          <a:p>
            <a:pPr algn="ctr"/>
          </a:p>
        </p:txBody>
      </p:sp>
      <p:sp>
        <p:nvSpPr>
          <p:cNvPr id="3" name="Rectangle 2"/>
          <p:cNvSpPr/>
          <p:nvPr/>
        </p:nvSpPr>
        <p:spPr>
          <a:xfrm>
            <a:off x="0" y="0"/>
            <a:ext cx="12198096" cy="73152"/>
          </a:xfrm>
          <a:prstGeom prst="rect">
            <a:avLst/>
          </a:prstGeom>
          <a:solidFill>
            <a:srgbClr val="1A6A64"/>
          </a:solidFill>
          <a:ln>
            <a:noFill/>
          </a:ln>
        </p:spPr>
        <p:txBody>
          <a:bodyPr rtlCol="0" anchor="ctr"/>
          <a:lstStyle/>
          <a:p>
            <a:pPr algn="ctr"/>
          </a:p>
        </p:txBody>
      </p:sp>
      <p:sp>
        <p:nvSpPr>
          <p:cNvPr id="4" name="TextBox 3"/>
          <p:cNvSpPr txBox="1"/>
          <p:nvPr/>
        </p:nvSpPr>
        <p:spPr>
          <a:xfrm>
            <a:off x="420624" y="201168"/>
            <a:ext cx="11155680" cy="256032"/>
          </a:xfrm>
          <a:prstGeom prst="rect">
            <a:avLst/>
          </a:prstGeom>
          <a:noFill/>
        </p:spPr>
        <p:txBody>
          <a:bodyPr wrap="square" anchor="t"/>
          <a:lstStyle/>
          <a:p>
            <a:pPr algn="l">
              <a:spcBef>
                <a:spcPts val="0"/>
              </a:spcBef>
              <a:spcAft>
                <a:spcPts val="0"/>
              </a:spcAft>
            </a:pPr>
            <a:r>
              <a:rPr sz="1200" b="1">
                <a:solidFill>
                  <a:srgbClr val="1A6A64"/>
                </a:solidFill>
                <a:latin typeface="Calibri"/>
              </a:rPr>
              <a:t>APPLICATION 1  ·  PHASE 1  ·  WORKSHOP 1</a:t>
            </a:r>
          </a:p>
        </p:txBody>
      </p:sp>
      <p:sp>
        <p:nvSpPr>
          <p:cNvPr id="5" name="TextBox 4"/>
          <p:cNvSpPr txBox="1"/>
          <p:nvPr/>
        </p:nvSpPr>
        <p:spPr>
          <a:xfrm>
            <a:off x="420624" y="438912"/>
            <a:ext cx="11247120" cy="566928"/>
          </a:xfrm>
          <a:prstGeom prst="rect">
            <a:avLst/>
          </a:prstGeom>
          <a:noFill/>
        </p:spPr>
        <p:txBody>
          <a:bodyPr wrap="square" anchor="t"/>
          <a:lstStyle/>
          <a:p>
            <a:pPr algn="l">
              <a:spcBef>
                <a:spcPts val="0"/>
              </a:spcBef>
              <a:spcAft>
                <a:spcPts val="0"/>
              </a:spcAft>
            </a:pPr>
            <a:r>
              <a:rPr sz="2800" b="1">
                <a:solidFill>
                  <a:srgbClr val="142238"/>
                </a:solidFill>
                <a:latin typeface="Calibri"/>
              </a:rPr>
              <a:t>The study-team problem</a:t>
            </a:r>
          </a:p>
        </p:txBody>
      </p:sp>
      <p:sp>
        <p:nvSpPr>
          <p:cNvPr id="6" name="Rectangle 5"/>
          <p:cNvSpPr/>
          <p:nvPr/>
        </p:nvSpPr>
        <p:spPr>
          <a:xfrm>
            <a:off x="438912" y="1042415"/>
            <a:ext cx="1234440" cy="32004"/>
          </a:xfrm>
          <a:prstGeom prst="rect">
            <a:avLst/>
          </a:prstGeom>
          <a:solidFill>
            <a:srgbClr val="8C6A32"/>
          </a:solidFill>
          <a:ln>
            <a:noFill/>
          </a:ln>
        </p:spPr>
        <p:txBody>
          <a:bodyPr rtlCol="0" anchor="ctr"/>
          <a:lstStyle/>
          <a:p>
            <a:pPr algn="ctr"/>
          </a:p>
        </p:txBody>
      </p:sp>
      <p:sp>
        <p:nvSpPr>
          <p:cNvPr id="7" name="Rectangle 6"/>
          <p:cNvSpPr/>
          <p:nvPr/>
        </p:nvSpPr>
        <p:spPr>
          <a:xfrm>
            <a:off x="0" y="6565392"/>
            <a:ext cx="12198096" cy="13716"/>
          </a:xfrm>
          <a:prstGeom prst="rect">
            <a:avLst/>
          </a:prstGeom>
          <a:solidFill>
            <a:srgbClr val="E4DBCE"/>
          </a:solidFill>
          <a:ln>
            <a:noFill/>
          </a:ln>
        </p:spPr>
        <p:txBody>
          <a:bodyPr rtlCol="0" anchor="ctr"/>
          <a:lstStyle/>
          <a:p>
            <a:pPr algn="ctr"/>
          </a:p>
        </p:txBody>
      </p:sp>
      <p:sp>
        <p:nvSpPr>
          <p:cNvPr id="8" name="TextBox 7"/>
          <p:cNvSpPr txBox="1"/>
          <p:nvPr/>
        </p:nvSpPr>
        <p:spPr>
          <a:xfrm>
            <a:off x="420624" y="6601968"/>
            <a:ext cx="8412480" cy="237744"/>
          </a:xfrm>
          <a:prstGeom prst="rect">
            <a:avLst/>
          </a:prstGeom>
          <a:noFill/>
        </p:spPr>
        <p:txBody>
          <a:bodyPr wrap="square" anchor="ctr"/>
          <a:lstStyle/>
          <a:p>
            <a:pPr algn="l">
              <a:spcBef>
                <a:spcPts val="0"/>
              </a:spcBef>
              <a:spcAft>
                <a:spcPts val="0"/>
              </a:spcAft>
            </a:pPr>
            <a:r>
              <a:rPr sz="1100" b="0">
                <a:solidFill>
                  <a:srgbClr val="5C6570"/>
                </a:solidFill>
                <a:latin typeface="Calibri"/>
              </a:rPr>
              <a:t>Pu Zeng  ·  StudyCite and BiteWise</a:t>
            </a:r>
          </a:p>
        </p:txBody>
      </p:sp>
      <p:sp>
        <p:nvSpPr>
          <p:cNvPr id="9" name="TextBox 8"/>
          <p:cNvSpPr txBox="1"/>
          <p:nvPr/>
        </p:nvSpPr>
        <p:spPr>
          <a:xfrm>
            <a:off x="9509760" y="6601968"/>
            <a:ext cx="2267712" cy="237744"/>
          </a:xfrm>
          <a:prstGeom prst="rect">
            <a:avLst/>
          </a:prstGeom>
          <a:noFill/>
        </p:spPr>
        <p:txBody>
          <a:bodyPr wrap="square" anchor="ctr"/>
          <a:lstStyle/>
          <a:p>
            <a:pPr algn="r">
              <a:spcBef>
                <a:spcPts val="0"/>
              </a:spcBef>
              <a:spcAft>
                <a:spcPts val="0"/>
              </a:spcAft>
            </a:pPr>
            <a:r>
              <a:rPr sz="1100" b="0">
                <a:solidFill>
                  <a:srgbClr val="5C6570"/>
                </a:solidFill>
                <a:latin typeface="Calibri"/>
              </a:rPr>
              <a:t>3   /   24</a:t>
            </a:r>
          </a:p>
        </p:txBody>
      </p:sp>
      <p:sp>
        <p:nvSpPr>
          <p:cNvPr id="10" name="TextBox 9"/>
          <p:cNvSpPr txBox="1"/>
          <p:nvPr/>
        </p:nvSpPr>
        <p:spPr>
          <a:xfrm>
            <a:off x="438912" y="1261872"/>
            <a:ext cx="11247120" cy="640080"/>
          </a:xfrm>
          <a:prstGeom prst="rect">
            <a:avLst/>
          </a:prstGeom>
          <a:noFill/>
        </p:spPr>
        <p:txBody>
          <a:bodyPr wrap="square" anchor="t"/>
          <a:lstStyle/>
          <a:p>
            <a:pPr algn="l">
              <a:spcBef>
                <a:spcPts val="0"/>
              </a:spcBef>
              <a:spcAft>
                <a:spcPts val="0"/>
              </a:spcAft>
            </a:pPr>
            <a:r>
              <a:rPr sz="1600" b="0">
                <a:solidFill>
                  <a:srgbClr val="1C222B"/>
                </a:solidFill>
                <a:latin typeface="Calibri"/>
              </a:rPr>
              <a:t>Study teams lose time searching lengthy, frequently amended controlled documents. Manual search creates delays, and a superseded source can still look official.</a:t>
            </a:r>
          </a:p>
        </p:txBody>
      </p:sp>
      <p:sp>
        <p:nvSpPr>
          <p:cNvPr id="11" name="Rounded Rectangle 10"/>
          <p:cNvSpPr/>
          <p:nvPr/>
        </p:nvSpPr>
        <p:spPr>
          <a:xfrm>
            <a:off x="420624" y="2057400"/>
            <a:ext cx="5623560" cy="1207008"/>
          </a:xfrm>
          <a:prstGeom prst="roundRect">
            <a:avLst>
              <a:gd name="adj" fmla="val 8000"/>
            </a:avLst>
          </a:prstGeom>
          <a:solidFill>
            <a:srgbClr val="FFFFFF"/>
          </a:solidFill>
          <a:ln w="12700">
            <a:solidFill>
              <a:srgbClr val="E4DBCE"/>
            </a:solidFill>
          </a:ln>
        </p:spPr>
        <p:txBody>
          <a:bodyPr rtlCol="0" anchor="ctr"/>
          <a:lstStyle/>
          <a:p>
            <a:pPr algn="ctr"/>
          </a:p>
        </p:txBody>
      </p:sp>
      <p:sp>
        <p:nvSpPr>
          <p:cNvPr id="12" name="Rectangle 11"/>
          <p:cNvSpPr/>
          <p:nvPr/>
        </p:nvSpPr>
        <p:spPr>
          <a:xfrm>
            <a:off x="420624" y="2057400"/>
            <a:ext cx="73152" cy="1207008"/>
          </a:xfrm>
          <a:prstGeom prst="rect">
            <a:avLst/>
          </a:prstGeom>
          <a:solidFill>
            <a:srgbClr val="1A6A64"/>
          </a:solidFill>
          <a:ln>
            <a:noFill/>
          </a:ln>
        </p:spPr>
        <p:txBody>
          <a:bodyPr rtlCol="0" anchor="ctr"/>
          <a:lstStyle/>
          <a:p>
            <a:pPr algn="ctr"/>
          </a:p>
        </p:txBody>
      </p:sp>
      <p:sp>
        <p:nvSpPr>
          <p:cNvPr id="13" name="TextBox 12"/>
          <p:cNvSpPr txBox="1"/>
          <p:nvPr/>
        </p:nvSpPr>
        <p:spPr>
          <a:xfrm>
            <a:off x="676656" y="2221992"/>
            <a:ext cx="5120640" cy="329184"/>
          </a:xfrm>
          <a:prstGeom prst="rect">
            <a:avLst/>
          </a:prstGeom>
          <a:noFill/>
        </p:spPr>
        <p:txBody>
          <a:bodyPr wrap="square" anchor="t"/>
          <a:lstStyle/>
          <a:p>
            <a:pPr algn="l">
              <a:spcBef>
                <a:spcPts val="0"/>
              </a:spcBef>
              <a:spcAft>
                <a:spcPts val="0"/>
              </a:spcAft>
            </a:pPr>
            <a:r>
              <a:rPr sz="1600" b="1">
                <a:solidFill>
                  <a:srgbClr val="142238"/>
                </a:solidFill>
                <a:latin typeface="Calibri"/>
              </a:rPr>
              <a:t>ClinOps lead</a:t>
            </a:r>
          </a:p>
        </p:txBody>
      </p:sp>
      <p:sp>
        <p:nvSpPr>
          <p:cNvPr id="14" name="TextBox 13"/>
          <p:cNvSpPr txBox="1"/>
          <p:nvPr/>
        </p:nvSpPr>
        <p:spPr>
          <a:xfrm>
            <a:off x="676656" y="2587752"/>
            <a:ext cx="5120640" cy="502920"/>
          </a:xfrm>
          <a:prstGeom prst="rect">
            <a:avLst/>
          </a:prstGeom>
          <a:noFill/>
        </p:spPr>
        <p:txBody>
          <a:bodyPr wrap="square" anchor="t"/>
          <a:lstStyle/>
          <a:p>
            <a:pPr algn="l">
              <a:spcBef>
                <a:spcPts val="0"/>
              </a:spcBef>
              <a:spcAft>
                <a:spcPts val="0"/>
              </a:spcAft>
            </a:pPr>
            <a:r>
              <a:rPr sz="1400" b="0">
                <a:solidFill>
                  <a:srgbClr val="5C6570"/>
                </a:solidFill>
                <a:latin typeface="Calibri"/>
              </a:rPr>
              <a:t>Amendment rollout and cross-site compliance.</a:t>
            </a:r>
          </a:p>
        </p:txBody>
      </p:sp>
      <p:sp>
        <p:nvSpPr>
          <p:cNvPr id="15" name="Rounded Rectangle 14"/>
          <p:cNvSpPr/>
          <p:nvPr/>
        </p:nvSpPr>
        <p:spPr>
          <a:xfrm>
            <a:off x="6272784" y="2057400"/>
            <a:ext cx="5623560" cy="1207008"/>
          </a:xfrm>
          <a:prstGeom prst="roundRect">
            <a:avLst>
              <a:gd name="adj" fmla="val 8000"/>
            </a:avLst>
          </a:prstGeom>
          <a:solidFill>
            <a:srgbClr val="FFFFFF"/>
          </a:solidFill>
          <a:ln w="12700">
            <a:solidFill>
              <a:srgbClr val="E4DBCE"/>
            </a:solidFill>
          </a:ln>
        </p:spPr>
        <p:txBody>
          <a:bodyPr rtlCol="0" anchor="ctr"/>
          <a:lstStyle/>
          <a:p>
            <a:pPr algn="ctr"/>
          </a:p>
        </p:txBody>
      </p:sp>
      <p:sp>
        <p:nvSpPr>
          <p:cNvPr id="16" name="Rectangle 15"/>
          <p:cNvSpPr/>
          <p:nvPr/>
        </p:nvSpPr>
        <p:spPr>
          <a:xfrm>
            <a:off x="6272784" y="2057400"/>
            <a:ext cx="73152" cy="1207008"/>
          </a:xfrm>
          <a:prstGeom prst="rect">
            <a:avLst/>
          </a:prstGeom>
          <a:solidFill>
            <a:srgbClr val="1A6A64"/>
          </a:solidFill>
          <a:ln>
            <a:noFill/>
          </a:ln>
        </p:spPr>
        <p:txBody>
          <a:bodyPr rtlCol="0" anchor="ctr"/>
          <a:lstStyle/>
          <a:p>
            <a:pPr algn="ctr"/>
          </a:p>
        </p:txBody>
      </p:sp>
      <p:sp>
        <p:nvSpPr>
          <p:cNvPr id="17" name="TextBox 16"/>
          <p:cNvSpPr txBox="1"/>
          <p:nvPr/>
        </p:nvSpPr>
        <p:spPr>
          <a:xfrm>
            <a:off x="6528816" y="2221992"/>
            <a:ext cx="5120640" cy="329184"/>
          </a:xfrm>
          <a:prstGeom prst="rect">
            <a:avLst/>
          </a:prstGeom>
          <a:noFill/>
        </p:spPr>
        <p:txBody>
          <a:bodyPr wrap="square" anchor="t"/>
          <a:lstStyle/>
          <a:p>
            <a:pPr algn="l">
              <a:spcBef>
                <a:spcPts val="0"/>
              </a:spcBef>
              <a:spcAft>
                <a:spcPts val="0"/>
              </a:spcAft>
            </a:pPr>
            <a:r>
              <a:rPr sz="1600" b="1">
                <a:solidFill>
                  <a:srgbClr val="142238"/>
                </a:solidFill>
                <a:latin typeface="Calibri"/>
              </a:rPr>
              <a:t>CRA</a:t>
            </a:r>
          </a:p>
        </p:txBody>
      </p:sp>
      <p:sp>
        <p:nvSpPr>
          <p:cNvPr id="18" name="TextBox 17"/>
          <p:cNvSpPr txBox="1"/>
          <p:nvPr/>
        </p:nvSpPr>
        <p:spPr>
          <a:xfrm>
            <a:off x="6528816" y="2587752"/>
            <a:ext cx="5120640" cy="502920"/>
          </a:xfrm>
          <a:prstGeom prst="rect">
            <a:avLst/>
          </a:prstGeom>
          <a:noFill/>
        </p:spPr>
        <p:txBody>
          <a:bodyPr wrap="square" anchor="t"/>
          <a:lstStyle/>
          <a:p>
            <a:pPr algn="l">
              <a:spcBef>
                <a:spcPts val="0"/>
              </a:spcBef>
              <a:spcAft>
                <a:spcPts val="0"/>
              </a:spcAft>
            </a:pPr>
            <a:r>
              <a:rPr sz="1400" b="0">
                <a:solidFill>
                  <a:srgbClr val="5C6570"/>
                </a:solidFill>
                <a:latin typeface="Calibri"/>
              </a:rPr>
              <a:t>Visit windows, deviations, and laboratory eligibility.</a:t>
            </a:r>
          </a:p>
        </p:txBody>
      </p:sp>
      <p:sp>
        <p:nvSpPr>
          <p:cNvPr id="19" name="Rounded Rectangle 18"/>
          <p:cNvSpPr/>
          <p:nvPr/>
        </p:nvSpPr>
        <p:spPr>
          <a:xfrm>
            <a:off x="420624" y="3383280"/>
            <a:ext cx="5623560" cy="1207008"/>
          </a:xfrm>
          <a:prstGeom prst="roundRect">
            <a:avLst>
              <a:gd name="adj" fmla="val 8000"/>
            </a:avLst>
          </a:prstGeom>
          <a:solidFill>
            <a:srgbClr val="FFFFFF"/>
          </a:solidFill>
          <a:ln w="12700">
            <a:solidFill>
              <a:srgbClr val="E4DBCE"/>
            </a:solidFill>
          </a:ln>
        </p:spPr>
        <p:txBody>
          <a:bodyPr rtlCol="0" anchor="ctr"/>
          <a:lstStyle/>
          <a:p>
            <a:pPr algn="ctr"/>
          </a:p>
        </p:txBody>
      </p:sp>
      <p:sp>
        <p:nvSpPr>
          <p:cNvPr id="20" name="Rectangle 19"/>
          <p:cNvSpPr/>
          <p:nvPr/>
        </p:nvSpPr>
        <p:spPr>
          <a:xfrm>
            <a:off x="420624" y="3383280"/>
            <a:ext cx="73152" cy="1207008"/>
          </a:xfrm>
          <a:prstGeom prst="rect">
            <a:avLst/>
          </a:prstGeom>
          <a:solidFill>
            <a:srgbClr val="1A6A64"/>
          </a:solidFill>
          <a:ln>
            <a:noFill/>
          </a:ln>
        </p:spPr>
        <p:txBody>
          <a:bodyPr rtlCol="0" anchor="ctr"/>
          <a:lstStyle/>
          <a:p>
            <a:pPr algn="ctr"/>
          </a:p>
        </p:txBody>
      </p:sp>
      <p:sp>
        <p:nvSpPr>
          <p:cNvPr id="21" name="TextBox 20"/>
          <p:cNvSpPr txBox="1"/>
          <p:nvPr/>
        </p:nvSpPr>
        <p:spPr>
          <a:xfrm>
            <a:off x="676656" y="3547872"/>
            <a:ext cx="5120640" cy="329184"/>
          </a:xfrm>
          <a:prstGeom prst="rect">
            <a:avLst/>
          </a:prstGeom>
          <a:noFill/>
        </p:spPr>
        <p:txBody>
          <a:bodyPr wrap="square" anchor="t"/>
          <a:lstStyle/>
          <a:p>
            <a:pPr algn="l">
              <a:spcBef>
                <a:spcPts val="0"/>
              </a:spcBef>
              <a:spcAft>
                <a:spcPts val="0"/>
              </a:spcAft>
            </a:pPr>
            <a:r>
              <a:rPr sz="1600" b="1">
                <a:solidFill>
                  <a:srgbClr val="142238"/>
                </a:solidFill>
                <a:latin typeface="Calibri"/>
              </a:rPr>
              <a:t>Clinical scientist</a:t>
            </a:r>
          </a:p>
        </p:txBody>
      </p:sp>
      <p:sp>
        <p:nvSpPr>
          <p:cNvPr id="22" name="TextBox 21"/>
          <p:cNvSpPr txBox="1"/>
          <p:nvPr/>
        </p:nvSpPr>
        <p:spPr>
          <a:xfrm>
            <a:off x="676656" y="3913632"/>
            <a:ext cx="5120640" cy="502920"/>
          </a:xfrm>
          <a:prstGeom prst="rect">
            <a:avLst/>
          </a:prstGeom>
          <a:noFill/>
        </p:spPr>
        <p:txBody>
          <a:bodyPr wrap="square" anchor="t"/>
          <a:lstStyle/>
          <a:p>
            <a:pPr algn="l">
              <a:spcBef>
                <a:spcPts val="0"/>
              </a:spcBef>
              <a:spcAft>
                <a:spcPts val="0"/>
              </a:spcAft>
            </a:pPr>
            <a:r>
              <a:rPr sz="1400" b="0">
                <a:solidFill>
                  <a:srgbClr val="5C6570"/>
                </a:solidFill>
                <a:latin typeface="Calibri"/>
              </a:rPr>
              <a:t>Inclusion, exclusion, PK, and dose changes.</a:t>
            </a:r>
          </a:p>
        </p:txBody>
      </p:sp>
      <p:sp>
        <p:nvSpPr>
          <p:cNvPr id="23" name="Rounded Rectangle 22"/>
          <p:cNvSpPr/>
          <p:nvPr/>
        </p:nvSpPr>
        <p:spPr>
          <a:xfrm>
            <a:off x="6272784" y="3383280"/>
            <a:ext cx="5623560" cy="1207008"/>
          </a:xfrm>
          <a:prstGeom prst="roundRect">
            <a:avLst>
              <a:gd name="adj" fmla="val 8000"/>
            </a:avLst>
          </a:prstGeom>
          <a:solidFill>
            <a:srgbClr val="FFFFFF"/>
          </a:solidFill>
          <a:ln w="12700">
            <a:solidFill>
              <a:srgbClr val="E4DBCE"/>
            </a:solidFill>
          </a:ln>
        </p:spPr>
        <p:txBody>
          <a:bodyPr rtlCol="0" anchor="ctr"/>
          <a:lstStyle/>
          <a:p>
            <a:pPr algn="ctr"/>
          </a:p>
        </p:txBody>
      </p:sp>
      <p:sp>
        <p:nvSpPr>
          <p:cNvPr id="24" name="Rectangle 23"/>
          <p:cNvSpPr/>
          <p:nvPr/>
        </p:nvSpPr>
        <p:spPr>
          <a:xfrm>
            <a:off x="6272784" y="3383280"/>
            <a:ext cx="73152" cy="1207008"/>
          </a:xfrm>
          <a:prstGeom prst="rect">
            <a:avLst/>
          </a:prstGeom>
          <a:solidFill>
            <a:srgbClr val="1A6A64"/>
          </a:solidFill>
          <a:ln>
            <a:noFill/>
          </a:ln>
        </p:spPr>
        <p:txBody>
          <a:bodyPr rtlCol="0" anchor="ctr"/>
          <a:lstStyle/>
          <a:p>
            <a:pPr algn="ctr"/>
          </a:p>
        </p:txBody>
      </p:sp>
      <p:sp>
        <p:nvSpPr>
          <p:cNvPr id="25" name="TextBox 24"/>
          <p:cNvSpPr txBox="1"/>
          <p:nvPr/>
        </p:nvSpPr>
        <p:spPr>
          <a:xfrm>
            <a:off x="6528816" y="3547872"/>
            <a:ext cx="5120640" cy="329184"/>
          </a:xfrm>
          <a:prstGeom prst="rect">
            <a:avLst/>
          </a:prstGeom>
          <a:noFill/>
        </p:spPr>
        <p:txBody>
          <a:bodyPr wrap="square" anchor="t"/>
          <a:lstStyle/>
          <a:p>
            <a:pPr algn="l">
              <a:spcBef>
                <a:spcPts val="0"/>
              </a:spcBef>
              <a:spcAft>
                <a:spcPts val="0"/>
              </a:spcAft>
            </a:pPr>
            <a:r>
              <a:rPr sz="1600" b="1">
                <a:solidFill>
                  <a:srgbClr val="142238"/>
                </a:solidFill>
                <a:latin typeface="Calibri"/>
              </a:rPr>
              <a:t>Site coordinator</a:t>
            </a:r>
          </a:p>
        </p:txBody>
      </p:sp>
      <p:sp>
        <p:nvSpPr>
          <p:cNvPr id="26" name="TextBox 25"/>
          <p:cNvSpPr txBox="1"/>
          <p:nvPr/>
        </p:nvSpPr>
        <p:spPr>
          <a:xfrm>
            <a:off x="6528816" y="3913632"/>
            <a:ext cx="5120640" cy="502920"/>
          </a:xfrm>
          <a:prstGeom prst="rect">
            <a:avLst/>
          </a:prstGeom>
          <a:noFill/>
        </p:spPr>
        <p:txBody>
          <a:bodyPr wrap="square" anchor="t"/>
          <a:lstStyle/>
          <a:p>
            <a:pPr algn="l">
              <a:spcBef>
                <a:spcPts val="0"/>
              </a:spcBef>
              <a:spcAft>
                <a:spcPts val="0"/>
              </a:spcAft>
            </a:pPr>
            <a:r>
              <a:rPr sz="1400" b="0">
                <a:solidFill>
                  <a:srgbClr val="5C6570"/>
                </a:solidFill>
                <a:latin typeface="Calibri"/>
              </a:rPr>
              <a:t>Visit windows, tube handling, and IP storage.</a:t>
            </a:r>
          </a:p>
        </p:txBody>
      </p:sp>
      <p:sp>
        <p:nvSpPr>
          <p:cNvPr id="27" name="TextBox 26"/>
          <p:cNvSpPr txBox="1"/>
          <p:nvPr/>
        </p:nvSpPr>
        <p:spPr>
          <a:xfrm>
            <a:off x="438912" y="4846320"/>
            <a:ext cx="11247120" cy="640080"/>
          </a:xfrm>
          <a:prstGeom prst="rect">
            <a:avLst/>
          </a:prstGeom>
          <a:noFill/>
        </p:spPr>
        <p:txBody>
          <a:bodyPr wrap="square" anchor="t"/>
          <a:lstStyle/>
          <a:p>
            <a:pPr algn="l">
              <a:spcBef>
                <a:spcPts val="0"/>
              </a:spcBef>
              <a:spcAft>
                <a:spcPts val="0"/>
              </a:spcAft>
            </a:pPr>
            <a:r>
              <a:rPr sz="1600" b="1">
                <a:solidFill>
                  <a:srgbClr val="142238"/>
                </a:solidFill>
                <a:latin typeface="Calibri"/>
              </a:rPr>
              <a:t>AI use case: ask in ordinary language, retrieve from the authorized study, and return a short answer with a citation — or abstain.</a:t>
            </a:r>
          </a:p>
        </p:txBody>
      </p:sp>
      <p:sp>
        <p:nvSpPr>
          <p:cNvPr id="28" name="TextBox 27"/>
          <p:cNvSpPr txBox="1"/>
          <p:nvPr/>
        </p:nvSpPr>
        <p:spPr>
          <a:xfrm>
            <a:off x="438912" y="5532120"/>
            <a:ext cx="11247120" cy="777240"/>
          </a:xfrm>
          <a:prstGeom prst="rect">
            <a:avLst/>
          </a:prstGeom>
          <a:noFill/>
        </p:spPr>
        <p:txBody>
          <a:bodyPr wrap="square" anchor="t"/>
          <a:lstStyle/>
          <a:p>
            <a:pPr algn="l">
              <a:spcBef>
                <a:spcPts val="0"/>
              </a:spcBef>
              <a:spcAft>
                <a:spcPts val="0"/>
              </a:spcAft>
            </a:pPr>
            <a:r>
              <a:rPr sz="1500" b="0">
                <a:solidFill>
                  <a:srgbClr val="5C6570"/>
                </a:solidFill>
                <a:latin typeface="Calibri"/>
              </a:rPr>
              <a:t>The product is knowledge retrieval and source summarization. The MVP excludes diagnoses, treatment recommendations, eligibility automation, and patient-level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6858000"/>
          </a:xfrm>
          <a:prstGeom prst="rect">
            <a:avLst/>
          </a:prstGeom>
          <a:solidFill>
            <a:srgbClr val="F6F3EC"/>
          </a:solidFill>
          <a:ln>
            <a:noFill/>
          </a:ln>
        </p:spPr>
        <p:txBody>
          <a:bodyPr rtlCol="0" anchor="ctr"/>
          <a:lstStyle/>
          <a:p>
            <a:pPr algn="ctr"/>
          </a:p>
        </p:txBody>
      </p:sp>
      <p:sp>
        <p:nvSpPr>
          <p:cNvPr id="3" name="Rectangle 2"/>
          <p:cNvSpPr/>
          <p:nvPr/>
        </p:nvSpPr>
        <p:spPr>
          <a:xfrm>
            <a:off x="0" y="0"/>
            <a:ext cx="12198096" cy="73152"/>
          </a:xfrm>
          <a:prstGeom prst="rect">
            <a:avLst/>
          </a:prstGeom>
          <a:solidFill>
            <a:srgbClr val="1A6A64"/>
          </a:solidFill>
          <a:ln>
            <a:noFill/>
          </a:ln>
        </p:spPr>
        <p:txBody>
          <a:bodyPr rtlCol="0" anchor="ctr"/>
          <a:lstStyle/>
          <a:p>
            <a:pPr algn="ctr"/>
          </a:p>
        </p:txBody>
      </p:sp>
      <p:sp>
        <p:nvSpPr>
          <p:cNvPr id="4" name="TextBox 3"/>
          <p:cNvSpPr txBox="1"/>
          <p:nvPr/>
        </p:nvSpPr>
        <p:spPr>
          <a:xfrm>
            <a:off x="420624" y="201168"/>
            <a:ext cx="11155680" cy="256032"/>
          </a:xfrm>
          <a:prstGeom prst="rect">
            <a:avLst/>
          </a:prstGeom>
          <a:noFill/>
        </p:spPr>
        <p:txBody>
          <a:bodyPr wrap="square" anchor="t"/>
          <a:lstStyle/>
          <a:p>
            <a:pPr algn="l">
              <a:spcBef>
                <a:spcPts val="0"/>
              </a:spcBef>
              <a:spcAft>
                <a:spcPts val="0"/>
              </a:spcAft>
            </a:pPr>
            <a:r>
              <a:rPr sz="1200" b="1">
                <a:solidFill>
                  <a:srgbClr val="1A6A64"/>
                </a:solidFill>
                <a:latin typeface="Calibri"/>
              </a:rPr>
              <a:t>APPLICATION 1  ·  PHASE 1</a:t>
            </a:r>
          </a:p>
        </p:txBody>
      </p:sp>
      <p:sp>
        <p:nvSpPr>
          <p:cNvPr id="5" name="TextBox 4"/>
          <p:cNvSpPr txBox="1"/>
          <p:nvPr/>
        </p:nvSpPr>
        <p:spPr>
          <a:xfrm>
            <a:off x="420624" y="438912"/>
            <a:ext cx="11247120" cy="566928"/>
          </a:xfrm>
          <a:prstGeom prst="rect">
            <a:avLst/>
          </a:prstGeom>
          <a:noFill/>
        </p:spPr>
        <p:txBody>
          <a:bodyPr wrap="square" anchor="t"/>
          <a:lstStyle/>
          <a:p>
            <a:pPr algn="l">
              <a:spcBef>
                <a:spcPts val="0"/>
              </a:spcBef>
              <a:spcAft>
                <a:spcPts val="0"/>
              </a:spcAft>
            </a:pPr>
            <a:r>
              <a:rPr sz="2800" b="1">
                <a:solidFill>
                  <a:srgbClr val="142238"/>
                </a:solidFill>
                <a:latin typeface="Calibri"/>
              </a:rPr>
              <a:t>What the assistant is allowed to say</a:t>
            </a:r>
          </a:p>
        </p:txBody>
      </p:sp>
      <p:sp>
        <p:nvSpPr>
          <p:cNvPr id="6" name="Rectangle 5"/>
          <p:cNvSpPr/>
          <p:nvPr/>
        </p:nvSpPr>
        <p:spPr>
          <a:xfrm>
            <a:off x="438912" y="1042415"/>
            <a:ext cx="1234440" cy="32004"/>
          </a:xfrm>
          <a:prstGeom prst="rect">
            <a:avLst/>
          </a:prstGeom>
          <a:solidFill>
            <a:srgbClr val="8C6A32"/>
          </a:solidFill>
          <a:ln>
            <a:noFill/>
          </a:ln>
        </p:spPr>
        <p:txBody>
          <a:bodyPr rtlCol="0" anchor="ctr"/>
          <a:lstStyle/>
          <a:p>
            <a:pPr algn="ctr"/>
          </a:p>
        </p:txBody>
      </p:sp>
      <p:sp>
        <p:nvSpPr>
          <p:cNvPr id="7" name="Rectangle 6"/>
          <p:cNvSpPr/>
          <p:nvPr/>
        </p:nvSpPr>
        <p:spPr>
          <a:xfrm>
            <a:off x="0" y="6565392"/>
            <a:ext cx="12198096" cy="13716"/>
          </a:xfrm>
          <a:prstGeom prst="rect">
            <a:avLst/>
          </a:prstGeom>
          <a:solidFill>
            <a:srgbClr val="E4DBCE"/>
          </a:solidFill>
          <a:ln>
            <a:noFill/>
          </a:ln>
        </p:spPr>
        <p:txBody>
          <a:bodyPr rtlCol="0" anchor="ctr"/>
          <a:lstStyle/>
          <a:p>
            <a:pPr algn="ctr"/>
          </a:p>
        </p:txBody>
      </p:sp>
      <p:sp>
        <p:nvSpPr>
          <p:cNvPr id="8" name="TextBox 7"/>
          <p:cNvSpPr txBox="1"/>
          <p:nvPr/>
        </p:nvSpPr>
        <p:spPr>
          <a:xfrm>
            <a:off x="420624" y="6601968"/>
            <a:ext cx="8412480" cy="237744"/>
          </a:xfrm>
          <a:prstGeom prst="rect">
            <a:avLst/>
          </a:prstGeom>
          <a:noFill/>
        </p:spPr>
        <p:txBody>
          <a:bodyPr wrap="square" anchor="ctr"/>
          <a:lstStyle/>
          <a:p>
            <a:pPr algn="l">
              <a:spcBef>
                <a:spcPts val="0"/>
              </a:spcBef>
              <a:spcAft>
                <a:spcPts val="0"/>
              </a:spcAft>
            </a:pPr>
            <a:r>
              <a:rPr sz="1100" b="0">
                <a:solidFill>
                  <a:srgbClr val="5C6570"/>
                </a:solidFill>
                <a:latin typeface="Calibri"/>
              </a:rPr>
              <a:t>Pu Zeng  ·  StudyCite and BiteWise</a:t>
            </a:r>
          </a:p>
        </p:txBody>
      </p:sp>
      <p:sp>
        <p:nvSpPr>
          <p:cNvPr id="9" name="TextBox 8"/>
          <p:cNvSpPr txBox="1"/>
          <p:nvPr/>
        </p:nvSpPr>
        <p:spPr>
          <a:xfrm>
            <a:off x="9509760" y="6601968"/>
            <a:ext cx="2267712" cy="237744"/>
          </a:xfrm>
          <a:prstGeom prst="rect">
            <a:avLst/>
          </a:prstGeom>
          <a:noFill/>
        </p:spPr>
        <p:txBody>
          <a:bodyPr wrap="square" anchor="ctr"/>
          <a:lstStyle/>
          <a:p>
            <a:pPr algn="r">
              <a:spcBef>
                <a:spcPts val="0"/>
              </a:spcBef>
              <a:spcAft>
                <a:spcPts val="0"/>
              </a:spcAft>
            </a:pPr>
            <a:r>
              <a:rPr sz="1100" b="0">
                <a:solidFill>
                  <a:srgbClr val="5C6570"/>
                </a:solidFill>
                <a:latin typeface="Calibri"/>
              </a:rPr>
              <a:t>4   /   24</a:t>
            </a:r>
          </a:p>
        </p:txBody>
      </p:sp>
      <p:sp>
        <p:nvSpPr>
          <p:cNvPr id="10" name="Rounded Rectangle 9"/>
          <p:cNvSpPr/>
          <p:nvPr/>
        </p:nvSpPr>
        <p:spPr>
          <a:xfrm>
            <a:off x="420624" y="1280160"/>
            <a:ext cx="11338560" cy="1417320"/>
          </a:xfrm>
          <a:prstGeom prst="roundRect">
            <a:avLst>
              <a:gd name="adj" fmla="val 8000"/>
            </a:avLst>
          </a:prstGeom>
          <a:solidFill>
            <a:srgbClr val="E7F3F1"/>
          </a:solidFill>
          <a:ln w="12700">
            <a:solidFill>
              <a:srgbClr val="E4DBCE"/>
            </a:solidFill>
          </a:ln>
        </p:spPr>
        <p:txBody>
          <a:bodyPr rtlCol="0" anchor="ctr"/>
          <a:lstStyle/>
          <a:p>
            <a:pPr algn="ctr"/>
          </a:p>
        </p:txBody>
      </p:sp>
      <p:sp>
        <p:nvSpPr>
          <p:cNvPr id="11" name="TextBox 10"/>
          <p:cNvSpPr txBox="1"/>
          <p:nvPr/>
        </p:nvSpPr>
        <p:spPr>
          <a:xfrm>
            <a:off x="640080" y="1417320"/>
            <a:ext cx="10972800" cy="274320"/>
          </a:xfrm>
          <a:prstGeom prst="rect">
            <a:avLst/>
          </a:prstGeom>
          <a:noFill/>
        </p:spPr>
        <p:txBody>
          <a:bodyPr wrap="square" anchor="t"/>
          <a:lstStyle/>
          <a:p>
            <a:pPr algn="l">
              <a:spcBef>
                <a:spcPts val="0"/>
              </a:spcBef>
              <a:spcAft>
                <a:spcPts val="0"/>
              </a:spcAft>
            </a:pPr>
            <a:r>
              <a:rPr sz="1200" b="1">
                <a:solidFill>
                  <a:srgbClr val="1A6A64"/>
                </a:solidFill>
                <a:latin typeface="Calibri"/>
              </a:rPr>
              <a:t>PROBLEM STATEMENT</a:t>
            </a:r>
          </a:p>
        </p:txBody>
      </p:sp>
      <p:sp>
        <p:nvSpPr>
          <p:cNvPr id="12" name="TextBox 11"/>
          <p:cNvSpPr txBox="1"/>
          <p:nvPr/>
        </p:nvSpPr>
        <p:spPr>
          <a:xfrm>
            <a:off x="640080" y="1737360"/>
            <a:ext cx="10881360" cy="777240"/>
          </a:xfrm>
          <a:prstGeom prst="rect">
            <a:avLst/>
          </a:prstGeom>
          <a:noFill/>
        </p:spPr>
        <p:txBody>
          <a:bodyPr wrap="square" anchor="t"/>
          <a:lstStyle/>
          <a:p>
            <a:pPr algn="l">
              <a:spcBef>
                <a:spcPts val="0"/>
              </a:spcBef>
              <a:spcAft>
                <a:spcPts val="0"/>
              </a:spcAft>
            </a:pPr>
            <a:r>
              <a:rPr sz="1600" b="0">
                <a:solidFill>
                  <a:srgbClr val="142238"/>
                </a:solidFill>
                <a:latin typeface="Calibri"/>
              </a:rPr>
              <a:t>Fragmented protocols, lab manuals, pharmacy binders, and monitoring plans, plus version uncertainty when a site still holds a superseded amendment.</a:t>
            </a:r>
          </a:p>
        </p:txBody>
      </p:sp>
      <p:sp>
        <p:nvSpPr>
          <p:cNvPr id="13" name="Rounded Rectangle 12"/>
          <p:cNvSpPr/>
          <p:nvPr/>
        </p:nvSpPr>
        <p:spPr>
          <a:xfrm>
            <a:off x="420624" y="2880360"/>
            <a:ext cx="3657600" cy="3429000"/>
          </a:xfrm>
          <a:prstGeom prst="roundRect">
            <a:avLst>
              <a:gd name="adj" fmla="val 8000"/>
            </a:avLst>
          </a:prstGeom>
          <a:solidFill>
            <a:srgbClr val="FFFFFF"/>
          </a:solidFill>
          <a:ln w="12700">
            <a:solidFill>
              <a:srgbClr val="E4DBCE"/>
            </a:solidFill>
          </a:ln>
        </p:spPr>
        <p:txBody>
          <a:bodyPr rtlCol="0" anchor="ctr"/>
          <a:lstStyle/>
          <a:p>
            <a:pPr algn="ctr"/>
          </a:p>
        </p:txBody>
      </p:sp>
      <p:sp>
        <p:nvSpPr>
          <p:cNvPr id="14" name="TextBox 13"/>
          <p:cNvSpPr txBox="1"/>
          <p:nvPr/>
        </p:nvSpPr>
        <p:spPr>
          <a:xfrm>
            <a:off x="621792" y="3035808"/>
            <a:ext cx="3246120" cy="329184"/>
          </a:xfrm>
          <a:prstGeom prst="rect">
            <a:avLst/>
          </a:prstGeom>
          <a:noFill/>
        </p:spPr>
        <p:txBody>
          <a:bodyPr wrap="square" anchor="t"/>
          <a:lstStyle/>
          <a:p>
            <a:pPr algn="l">
              <a:spcBef>
                <a:spcPts val="0"/>
              </a:spcBef>
              <a:spcAft>
                <a:spcPts val="0"/>
              </a:spcAft>
            </a:pPr>
            <a:r>
              <a:rPr sz="1600" b="1">
                <a:solidFill>
                  <a:srgbClr val="142238"/>
                </a:solidFill>
                <a:latin typeface="Calibri"/>
              </a:rPr>
              <a:t>Pain</a:t>
            </a:r>
          </a:p>
        </p:txBody>
      </p:sp>
      <p:sp>
        <p:nvSpPr>
          <p:cNvPr id="15" name="TextBox 14"/>
          <p:cNvSpPr txBox="1"/>
          <p:nvPr/>
        </p:nvSpPr>
        <p:spPr>
          <a:xfrm>
            <a:off x="585216" y="3474720"/>
            <a:ext cx="3291840" cy="2606040"/>
          </a:xfrm>
          <a:prstGeom prst="rect">
            <a:avLst/>
          </a:prstGeom>
          <a:noFill/>
        </p:spPr>
        <p:txBody>
          <a:bodyPr wrap="square" anchor="t"/>
          <a:lstStyle/>
          <a:p>
            <a:pPr algn="l">
              <a:spcBef>
                <a:spcPts val="0"/>
              </a:spcBef>
              <a:spcAft>
                <a:spcPts val="1000"/>
              </a:spcAft>
            </a:pPr>
            <a:r>
              <a:rPr sz="1400" b="0">
                <a:solidFill>
                  <a:srgbClr val="1C222B"/>
                </a:solidFill>
                <a:latin typeface="Calibri"/>
              </a:rPr>
              <a:t>•  Information split across document types.</a:t>
            </a:r>
          </a:p>
          <a:p>
            <a:pPr algn="l">
              <a:spcBef>
                <a:spcPts val="0"/>
              </a:spcBef>
              <a:spcAft>
                <a:spcPts val="1000"/>
              </a:spcAft>
            </a:pPr>
            <a:r>
              <a:rPr sz="1400" b="0">
                <a:solidFill>
                  <a:srgbClr val="1C222B"/>
                </a:solidFill>
                <a:latin typeface="Calibri"/>
              </a:rPr>
              <a:t>•  An old amendment can look current.</a:t>
            </a:r>
          </a:p>
          <a:p>
            <a:pPr algn="l">
              <a:spcBef>
                <a:spcPts val="0"/>
              </a:spcBef>
              <a:spcAft>
                <a:spcPts val="1000"/>
              </a:spcAft>
            </a:pPr>
            <a:r>
              <a:rPr sz="1400" b="0">
                <a:solidFill>
                  <a:srgbClr val="1C222B"/>
                </a:solidFill>
                <a:latin typeface="Calibri"/>
              </a:rPr>
              <a:t>•  Hard to verify document, version, section, and page.</a:t>
            </a:r>
          </a:p>
        </p:txBody>
      </p:sp>
      <p:sp>
        <p:nvSpPr>
          <p:cNvPr id="16" name="Rounded Rectangle 15"/>
          <p:cNvSpPr/>
          <p:nvPr/>
        </p:nvSpPr>
        <p:spPr>
          <a:xfrm>
            <a:off x="4261104" y="2880360"/>
            <a:ext cx="3657600" cy="3429000"/>
          </a:xfrm>
          <a:prstGeom prst="roundRect">
            <a:avLst>
              <a:gd name="adj" fmla="val 8000"/>
            </a:avLst>
          </a:prstGeom>
          <a:solidFill>
            <a:srgbClr val="FFFFFF"/>
          </a:solidFill>
          <a:ln w="12700">
            <a:solidFill>
              <a:srgbClr val="E4DBCE"/>
            </a:solidFill>
          </a:ln>
        </p:spPr>
        <p:txBody>
          <a:bodyPr rtlCol="0" anchor="ctr"/>
          <a:lstStyle/>
          <a:p>
            <a:pPr algn="ctr"/>
          </a:p>
        </p:txBody>
      </p:sp>
      <p:sp>
        <p:nvSpPr>
          <p:cNvPr id="17" name="TextBox 16"/>
          <p:cNvSpPr txBox="1"/>
          <p:nvPr/>
        </p:nvSpPr>
        <p:spPr>
          <a:xfrm>
            <a:off x="4462272" y="3035808"/>
            <a:ext cx="3246120" cy="329184"/>
          </a:xfrm>
          <a:prstGeom prst="rect">
            <a:avLst/>
          </a:prstGeom>
          <a:noFill/>
        </p:spPr>
        <p:txBody>
          <a:bodyPr wrap="square" anchor="t"/>
          <a:lstStyle/>
          <a:p>
            <a:pPr algn="l">
              <a:spcBef>
                <a:spcPts val="0"/>
              </a:spcBef>
              <a:spcAft>
                <a:spcPts val="0"/>
              </a:spcAft>
            </a:pPr>
            <a:r>
              <a:rPr sz="1600" b="1">
                <a:solidFill>
                  <a:srgbClr val="142238"/>
                </a:solidFill>
                <a:latin typeface="Calibri"/>
              </a:rPr>
              <a:t>Requirement</a:t>
            </a:r>
          </a:p>
        </p:txBody>
      </p:sp>
      <p:sp>
        <p:nvSpPr>
          <p:cNvPr id="18" name="TextBox 17"/>
          <p:cNvSpPr txBox="1"/>
          <p:nvPr/>
        </p:nvSpPr>
        <p:spPr>
          <a:xfrm>
            <a:off x="4425696" y="3474720"/>
            <a:ext cx="3291840" cy="2606040"/>
          </a:xfrm>
          <a:prstGeom prst="rect">
            <a:avLst/>
          </a:prstGeom>
          <a:noFill/>
        </p:spPr>
        <p:txBody>
          <a:bodyPr wrap="square" anchor="t"/>
          <a:lstStyle/>
          <a:p>
            <a:pPr algn="l">
              <a:spcBef>
                <a:spcPts val="0"/>
              </a:spcBef>
              <a:spcAft>
                <a:spcPts val="1000"/>
              </a:spcAft>
            </a:pPr>
            <a:r>
              <a:rPr sz="1400" b="0">
                <a:solidFill>
                  <a:srgbClr val="1C222B"/>
                </a:solidFill>
                <a:latin typeface="Calibri"/>
              </a:rPr>
              <a:t>•  Authorization filter before retrieval.</a:t>
            </a:r>
          </a:p>
          <a:p>
            <a:pPr algn="l">
              <a:spcBef>
                <a:spcPts val="0"/>
              </a:spcBef>
              <a:spcAft>
                <a:spcPts val="1000"/>
              </a:spcAft>
            </a:pPr>
            <a:r>
              <a:rPr sz="1400" b="0">
                <a:solidFill>
                  <a:srgbClr val="1C222B"/>
                </a:solidFill>
                <a:latin typeface="Calibri"/>
              </a:rPr>
              <a:t>•  Only approved, indexed documents for the active study.</a:t>
            </a:r>
          </a:p>
          <a:p>
            <a:pPr algn="l">
              <a:spcBef>
                <a:spcPts val="0"/>
              </a:spcBef>
              <a:spcAft>
                <a:spcPts val="1000"/>
              </a:spcAft>
            </a:pPr>
            <a:r>
              <a:rPr sz="1400" b="0">
                <a:solidFill>
                  <a:srgbClr val="1C222B"/>
                </a:solidFill>
                <a:latin typeface="Calibri"/>
              </a:rPr>
              <a:t>•  Clickable citation, or an explicit abstention.</a:t>
            </a:r>
          </a:p>
        </p:txBody>
      </p:sp>
      <p:sp>
        <p:nvSpPr>
          <p:cNvPr id="19" name="Rounded Rectangle 18"/>
          <p:cNvSpPr/>
          <p:nvPr/>
        </p:nvSpPr>
        <p:spPr>
          <a:xfrm>
            <a:off x="8101584" y="2880360"/>
            <a:ext cx="3657600" cy="3429000"/>
          </a:xfrm>
          <a:prstGeom prst="roundRect">
            <a:avLst>
              <a:gd name="adj" fmla="val 8000"/>
            </a:avLst>
          </a:prstGeom>
          <a:solidFill>
            <a:srgbClr val="FFFFFF"/>
          </a:solidFill>
          <a:ln w="12700">
            <a:solidFill>
              <a:srgbClr val="E4DBCE"/>
            </a:solidFill>
          </a:ln>
        </p:spPr>
        <p:txBody>
          <a:bodyPr rtlCol="0" anchor="ctr"/>
          <a:lstStyle/>
          <a:p>
            <a:pPr algn="ctr"/>
          </a:p>
        </p:txBody>
      </p:sp>
      <p:sp>
        <p:nvSpPr>
          <p:cNvPr id="20" name="TextBox 19"/>
          <p:cNvSpPr txBox="1"/>
          <p:nvPr/>
        </p:nvSpPr>
        <p:spPr>
          <a:xfrm>
            <a:off x="8302752" y="3035808"/>
            <a:ext cx="3246120" cy="329184"/>
          </a:xfrm>
          <a:prstGeom prst="rect">
            <a:avLst/>
          </a:prstGeom>
          <a:noFill/>
        </p:spPr>
        <p:txBody>
          <a:bodyPr wrap="square" anchor="t"/>
          <a:lstStyle/>
          <a:p>
            <a:pPr algn="l">
              <a:spcBef>
                <a:spcPts val="0"/>
              </a:spcBef>
              <a:spcAft>
                <a:spcPts val="0"/>
              </a:spcAft>
            </a:pPr>
            <a:r>
              <a:rPr sz="1600" b="1">
                <a:solidFill>
                  <a:srgbClr val="142238"/>
                </a:solidFill>
                <a:latin typeface="Calibri"/>
              </a:rPr>
              <a:t>Out of scope</a:t>
            </a:r>
          </a:p>
        </p:txBody>
      </p:sp>
      <p:sp>
        <p:nvSpPr>
          <p:cNvPr id="21" name="TextBox 20"/>
          <p:cNvSpPr txBox="1"/>
          <p:nvPr/>
        </p:nvSpPr>
        <p:spPr>
          <a:xfrm>
            <a:off x="8266176" y="3474720"/>
            <a:ext cx="3291840" cy="2606040"/>
          </a:xfrm>
          <a:prstGeom prst="rect">
            <a:avLst/>
          </a:prstGeom>
          <a:noFill/>
        </p:spPr>
        <p:txBody>
          <a:bodyPr wrap="square" anchor="t"/>
          <a:lstStyle/>
          <a:p>
            <a:pPr algn="l">
              <a:spcBef>
                <a:spcPts val="0"/>
              </a:spcBef>
              <a:spcAft>
                <a:spcPts val="1000"/>
              </a:spcAft>
            </a:pPr>
            <a:r>
              <a:rPr sz="1400" b="0">
                <a:solidFill>
                  <a:srgbClr val="1C222B"/>
                </a:solidFill>
                <a:latin typeface="Calibri"/>
              </a:rPr>
              <a:t>•  No diagnosis or treatment advice.</a:t>
            </a:r>
          </a:p>
          <a:p>
            <a:pPr algn="l">
              <a:spcBef>
                <a:spcPts val="0"/>
              </a:spcBef>
              <a:spcAft>
                <a:spcPts val="1000"/>
              </a:spcAft>
            </a:pPr>
            <a:r>
              <a:rPr sz="1400" b="0">
                <a:solidFill>
                  <a:srgbClr val="1C222B"/>
                </a:solidFill>
                <a:latin typeface="Calibri"/>
              </a:rPr>
              <a:t>•  No eligibility automation.</a:t>
            </a:r>
          </a:p>
          <a:p>
            <a:pPr algn="l">
              <a:spcBef>
                <a:spcPts val="0"/>
              </a:spcBef>
              <a:spcAft>
                <a:spcPts val="1000"/>
              </a:spcAft>
            </a:pPr>
            <a:r>
              <a:rPr sz="1400" b="0">
                <a:solidFill>
                  <a:srgbClr val="1C222B"/>
                </a:solidFill>
                <a:latin typeface="Calibri"/>
              </a:rPr>
              <a:t>•  No patient-level data in the MVP.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6858000"/>
          </a:xfrm>
          <a:prstGeom prst="rect">
            <a:avLst/>
          </a:prstGeom>
          <a:solidFill>
            <a:srgbClr val="F6F3EC"/>
          </a:solidFill>
          <a:ln>
            <a:noFill/>
          </a:ln>
        </p:spPr>
        <p:txBody>
          <a:bodyPr rtlCol="0" anchor="ctr"/>
          <a:lstStyle/>
          <a:p>
            <a:pPr algn="ctr"/>
          </a:p>
        </p:txBody>
      </p:sp>
      <p:sp>
        <p:nvSpPr>
          <p:cNvPr id="3" name="Rectangle 2"/>
          <p:cNvSpPr/>
          <p:nvPr/>
        </p:nvSpPr>
        <p:spPr>
          <a:xfrm>
            <a:off x="0" y="0"/>
            <a:ext cx="12198096" cy="73152"/>
          </a:xfrm>
          <a:prstGeom prst="rect">
            <a:avLst/>
          </a:prstGeom>
          <a:solidFill>
            <a:srgbClr val="1A6A64"/>
          </a:solidFill>
          <a:ln>
            <a:noFill/>
          </a:ln>
        </p:spPr>
        <p:txBody>
          <a:bodyPr rtlCol="0" anchor="ctr"/>
          <a:lstStyle/>
          <a:p>
            <a:pPr algn="ctr"/>
          </a:p>
        </p:txBody>
      </p:sp>
      <p:sp>
        <p:nvSpPr>
          <p:cNvPr id="4" name="TextBox 3"/>
          <p:cNvSpPr txBox="1"/>
          <p:nvPr/>
        </p:nvSpPr>
        <p:spPr>
          <a:xfrm>
            <a:off x="420624" y="201168"/>
            <a:ext cx="11155680" cy="256032"/>
          </a:xfrm>
          <a:prstGeom prst="rect">
            <a:avLst/>
          </a:prstGeom>
          <a:noFill/>
        </p:spPr>
        <p:txBody>
          <a:bodyPr wrap="square" anchor="t"/>
          <a:lstStyle/>
          <a:p>
            <a:pPr algn="l">
              <a:spcBef>
                <a:spcPts val="0"/>
              </a:spcBef>
              <a:spcAft>
                <a:spcPts val="0"/>
              </a:spcAft>
            </a:pPr>
            <a:r>
              <a:rPr sz="1200" b="1">
                <a:solidFill>
                  <a:srgbClr val="1A6A64"/>
                </a:solidFill>
                <a:latin typeface="Calibri"/>
              </a:rPr>
              <a:t>APPLICATION 1  ·  PHASE 2</a:t>
            </a:r>
          </a:p>
        </p:txBody>
      </p:sp>
      <p:sp>
        <p:nvSpPr>
          <p:cNvPr id="5" name="TextBox 4"/>
          <p:cNvSpPr txBox="1"/>
          <p:nvPr/>
        </p:nvSpPr>
        <p:spPr>
          <a:xfrm>
            <a:off x="420624" y="438912"/>
            <a:ext cx="11247120" cy="566928"/>
          </a:xfrm>
          <a:prstGeom prst="rect">
            <a:avLst/>
          </a:prstGeom>
          <a:noFill/>
        </p:spPr>
        <p:txBody>
          <a:bodyPr wrap="square" anchor="t"/>
          <a:lstStyle/>
          <a:p>
            <a:pPr algn="l">
              <a:spcBef>
                <a:spcPts val="0"/>
              </a:spcBef>
              <a:spcAft>
                <a:spcPts val="0"/>
              </a:spcAft>
            </a:pPr>
            <a:r>
              <a:rPr sz="2600" b="1">
                <a:solidFill>
                  <a:srgbClr val="142238"/>
                </a:solidFill>
                <a:latin typeface="Calibri"/>
              </a:rPr>
              <a:t>Stack decisions, and the target diagram</a:t>
            </a:r>
          </a:p>
        </p:txBody>
      </p:sp>
      <p:sp>
        <p:nvSpPr>
          <p:cNvPr id="6" name="Rectangle 5"/>
          <p:cNvSpPr/>
          <p:nvPr/>
        </p:nvSpPr>
        <p:spPr>
          <a:xfrm>
            <a:off x="438912" y="1042415"/>
            <a:ext cx="1234440" cy="32004"/>
          </a:xfrm>
          <a:prstGeom prst="rect">
            <a:avLst/>
          </a:prstGeom>
          <a:solidFill>
            <a:srgbClr val="8C6A32"/>
          </a:solidFill>
          <a:ln>
            <a:noFill/>
          </a:ln>
        </p:spPr>
        <p:txBody>
          <a:bodyPr rtlCol="0" anchor="ctr"/>
          <a:lstStyle/>
          <a:p>
            <a:pPr algn="ctr"/>
          </a:p>
        </p:txBody>
      </p:sp>
      <p:sp>
        <p:nvSpPr>
          <p:cNvPr id="7" name="Rectangle 6"/>
          <p:cNvSpPr/>
          <p:nvPr/>
        </p:nvSpPr>
        <p:spPr>
          <a:xfrm>
            <a:off x="0" y="6565392"/>
            <a:ext cx="12198096" cy="13716"/>
          </a:xfrm>
          <a:prstGeom prst="rect">
            <a:avLst/>
          </a:prstGeom>
          <a:solidFill>
            <a:srgbClr val="E4DBCE"/>
          </a:solidFill>
          <a:ln>
            <a:noFill/>
          </a:ln>
        </p:spPr>
        <p:txBody>
          <a:bodyPr rtlCol="0" anchor="ctr"/>
          <a:lstStyle/>
          <a:p>
            <a:pPr algn="ctr"/>
          </a:p>
        </p:txBody>
      </p:sp>
      <p:sp>
        <p:nvSpPr>
          <p:cNvPr id="8" name="TextBox 7"/>
          <p:cNvSpPr txBox="1"/>
          <p:nvPr/>
        </p:nvSpPr>
        <p:spPr>
          <a:xfrm>
            <a:off x="420624" y="6601968"/>
            <a:ext cx="8412480" cy="237744"/>
          </a:xfrm>
          <a:prstGeom prst="rect">
            <a:avLst/>
          </a:prstGeom>
          <a:noFill/>
        </p:spPr>
        <p:txBody>
          <a:bodyPr wrap="square" anchor="ctr"/>
          <a:lstStyle/>
          <a:p>
            <a:pPr algn="l">
              <a:spcBef>
                <a:spcPts val="0"/>
              </a:spcBef>
              <a:spcAft>
                <a:spcPts val="0"/>
              </a:spcAft>
            </a:pPr>
            <a:r>
              <a:rPr sz="1100" b="0">
                <a:solidFill>
                  <a:srgbClr val="5C6570"/>
                </a:solidFill>
                <a:latin typeface="Calibri"/>
              </a:rPr>
              <a:t>Pu Zeng  ·  StudyCite and BiteWise</a:t>
            </a:r>
          </a:p>
        </p:txBody>
      </p:sp>
      <p:sp>
        <p:nvSpPr>
          <p:cNvPr id="9" name="TextBox 8"/>
          <p:cNvSpPr txBox="1"/>
          <p:nvPr/>
        </p:nvSpPr>
        <p:spPr>
          <a:xfrm>
            <a:off x="9509760" y="6601968"/>
            <a:ext cx="2267712" cy="237744"/>
          </a:xfrm>
          <a:prstGeom prst="rect">
            <a:avLst/>
          </a:prstGeom>
          <a:noFill/>
        </p:spPr>
        <p:txBody>
          <a:bodyPr wrap="square" anchor="ctr"/>
          <a:lstStyle/>
          <a:p>
            <a:pPr algn="r">
              <a:spcBef>
                <a:spcPts val="0"/>
              </a:spcBef>
              <a:spcAft>
                <a:spcPts val="0"/>
              </a:spcAft>
            </a:pPr>
            <a:r>
              <a:rPr sz="1100" b="0">
                <a:solidFill>
                  <a:srgbClr val="5C6570"/>
                </a:solidFill>
                <a:latin typeface="Calibri"/>
              </a:rPr>
              <a:t>5   /   24</a:t>
            </a:r>
          </a:p>
        </p:txBody>
      </p:sp>
      <p:sp>
        <p:nvSpPr>
          <p:cNvPr id="10" name="TextBox 9"/>
          <p:cNvSpPr txBox="1"/>
          <p:nvPr/>
        </p:nvSpPr>
        <p:spPr>
          <a:xfrm>
            <a:off x="438912" y="1207008"/>
            <a:ext cx="11247120" cy="365760"/>
          </a:xfrm>
          <a:prstGeom prst="rect">
            <a:avLst/>
          </a:prstGeom>
          <a:noFill/>
        </p:spPr>
        <p:txBody>
          <a:bodyPr wrap="square" anchor="t"/>
          <a:lstStyle/>
          <a:p>
            <a:pPr algn="l">
              <a:spcBef>
                <a:spcPts val="0"/>
              </a:spcBef>
              <a:spcAft>
                <a:spcPts val="0"/>
              </a:spcAft>
            </a:pPr>
            <a:r>
              <a:rPr sz="1400" b="0">
                <a:solidFill>
                  <a:srgbClr val="5C6570"/>
                </a:solidFill>
                <a:latin typeface="Calibri"/>
              </a:rPr>
              <a:t>Production target from the Architecture page. The running prototype does not use this stack.</a:t>
            </a:r>
          </a:p>
        </p:txBody>
      </p:sp>
      <p:sp>
        <p:nvSpPr>
          <p:cNvPr id="11" name="Rounded Rectangle 10"/>
          <p:cNvSpPr/>
          <p:nvPr/>
        </p:nvSpPr>
        <p:spPr>
          <a:xfrm>
            <a:off x="420624" y="1691640"/>
            <a:ext cx="2615184" cy="1554480"/>
          </a:xfrm>
          <a:prstGeom prst="roundRect">
            <a:avLst>
              <a:gd name="adj" fmla="val 10000"/>
            </a:avLst>
          </a:prstGeom>
          <a:solidFill>
            <a:srgbClr val="FFFFFF"/>
          </a:solidFill>
          <a:ln>
            <a:noFill/>
          </a:ln>
        </p:spPr>
        <p:txBody>
          <a:bodyPr rtlCol="0" anchor="ctr"/>
          <a:lstStyle/>
          <a:p>
            <a:pPr algn="ctr"/>
          </a:p>
        </p:txBody>
      </p:sp>
      <p:sp>
        <p:nvSpPr>
          <p:cNvPr id="12" name="TextBox 11"/>
          <p:cNvSpPr txBox="1"/>
          <p:nvPr/>
        </p:nvSpPr>
        <p:spPr>
          <a:xfrm>
            <a:off x="512064" y="1801368"/>
            <a:ext cx="2432304" cy="502920"/>
          </a:xfrm>
          <a:prstGeom prst="rect">
            <a:avLst/>
          </a:prstGeom>
          <a:noFill/>
        </p:spPr>
        <p:txBody>
          <a:bodyPr wrap="square" anchor="t"/>
          <a:lstStyle/>
          <a:p>
            <a:pPr algn="ctr">
              <a:spcBef>
                <a:spcPts val="0"/>
              </a:spcBef>
              <a:spcAft>
                <a:spcPts val="0"/>
              </a:spcAft>
            </a:pPr>
            <a:r>
              <a:rPr sz="1300" b="1">
                <a:solidFill>
                  <a:srgbClr val="142238"/>
                </a:solidFill>
                <a:latin typeface="Calibri"/>
              </a:rPr>
              <a:t>Browser</a:t>
            </a:r>
          </a:p>
        </p:txBody>
      </p:sp>
      <p:sp>
        <p:nvSpPr>
          <p:cNvPr id="13" name="TextBox 12"/>
          <p:cNvSpPr txBox="1"/>
          <p:nvPr/>
        </p:nvSpPr>
        <p:spPr>
          <a:xfrm>
            <a:off x="512064" y="2313432"/>
            <a:ext cx="2432304" cy="822959"/>
          </a:xfrm>
          <a:prstGeom prst="rect">
            <a:avLst/>
          </a:prstGeom>
          <a:noFill/>
        </p:spPr>
        <p:txBody>
          <a:bodyPr wrap="square" anchor="t"/>
          <a:lstStyle/>
          <a:p>
            <a:pPr algn="ctr">
              <a:spcBef>
                <a:spcPts val="0"/>
              </a:spcBef>
              <a:spcAft>
                <a:spcPts val="0"/>
              </a:spcAft>
            </a:pPr>
            <a:r>
              <a:rPr sz="1200" b="0">
                <a:solidFill>
                  <a:srgbClr val="5C6570"/>
                </a:solidFill>
                <a:latin typeface="Calibri"/>
              </a:rPr>
              <a:t>Next.js in the production target. React in the prototype.</a:t>
            </a:r>
          </a:p>
        </p:txBody>
      </p:sp>
      <p:sp>
        <p:nvSpPr>
          <p:cNvPr id="14" name="Right Arrow 13"/>
          <p:cNvSpPr/>
          <p:nvPr/>
        </p:nvSpPr>
        <p:spPr>
          <a:xfrm>
            <a:off x="3081528" y="2404872"/>
            <a:ext cx="201168" cy="128016"/>
          </a:xfrm>
          <a:prstGeom prst="rightArrow">
            <a:avLst/>
          </a:prstGeom>
          <a:solidFill>
            <a:srgbClr val="8C6A32"/>
          </a:solidFill>
          <a:ln>
            <a:noFill/>
          </a:ln>
        </p:spPr>
        <p:txBody>
          <a:bodyPr rtlCol="0" anchor="ctr"/>
          <a:lstStyle/>
          <a:p>
            <a:pPr algn="ctr"/>
          </a:p>
        </p:txBody>
      </p:sp>
      <p:sp>
        <p:nvSpPr>
          <p:cNvPr id="15" name="Rounded Rectangle 14"/>
          <p:cNvSpPr/>
          <p:nvPr/>
        </p:nvSpPr>
        <p:spPr>
          <a:xfrm>
            <a:off x="3328416" y="1691640"/>
            <a:ext cx="2615184" cy="1554480"/>
          </a:xfrm>
          <a:prstGeom prst="roundRect">
            <a:avLst>
              <a:gd name="adj" fmla="val 10000"/>
            </a:avLst>
          </a:prstGeom>
          <a:solidFill>
            <a:srgbClr val="FFFFFF"/>
          </a:solidFill>
          <a:ln>
            <a:noFill/>
          </a:ln>
        </p:spPr>
        <p:txBody>
          <a:bodyPr rtlCol="0" anchor="ctr"/>
          <a:lstStyle/>
          <a:p>
            <a:pPr algn="ctr"/>
          </a:p>
        </p:txBody>
      </p:sp>
      <p:sp>
        <p:nvSpPr>
          <p:cNvPr id="16" name="TextBox 15"/>
          <p:cNvSpPr txBox="1"/>
          <p:nvPr/>
        </p:nvSpPr>
        <p:spPr>
          <a:xfrm>
            <a:off x="3419856" y="1801368"/>
            <a:ext cx="2432304" cy="502920"/>
          </a:xfrm>
          <a:prstGeom prst="rect">
            <a:avLst/>
          </a:prstGeom>
          <a:noFill/>
        </p:spPr>
        <p:txBody>
          <a:bodyPr wrap="square" anchor="t"/>
          <a:lstStyle/>
          <a:p>
            <a:pPr algn="ctr">
              <a:spcBef>
                <a:spcPts val="0"/>
              </a:spcBef>
              <a:spcAft>
                <a:spcPts val="0"/>
              </a:spcAft>
            </a:pPr>
            <a:r>
              <a:rPr sz="1300" b="1">
                <a:solidFill>
                  <a:srgbClr val="142238"/>
                </a:solidFill>
                <a:latin typeface="Calibri"/>
              </a:rPr>
              <a:t>API</a:t>
            </a:r>
          </a:p>
        </p:txBody>
      </p:sp>
      <p:sp>
        <p:nvSpPr>
          <p:cNvPr id="17" name="TextBox 16"/>
          <p:cNvSpPr txBox="1"/>
          <p:nvPr/>
        </p:nvSpPr>
        <p:spPr>
          <a:xfrm>
            <a:off x="3419856" y="2313432"/>
            <a:ext cx="2432304" cy="822959"/>
          </a:xfrm>
          <a:prstGeom prst="rect">
            <a:avLst/>
          </a:prstGeom>
          <a:noFill/>
        </p:spPr>
        <p:txBody>
          <a:bodyPr wrap="square" anchor="t"/>
          <a:lstStyle/>
          <a:p>
            <a:pPr algn="ctr">
              <a:spcBef>
                <a:spcPts val="0"/>
              </a:spcBef>
              <a:spcAft>
                <a:spcPts val="0"/>
              </a:spcAft>
            </a:pPr>
            <a:r>
              <a:rPr sz="1200" b="0">
                <a:solidFill>
                  <a:srgbClr val="5C6570"/>
                </a:solidFill>
                <a:latin typeface="Calibri"/>
              </a:rPr>
              <a:t>Python and FastAPI on ECS / Fargate.</a:t>
            </a:r>
          </a:p>
        </p:txBody>
      </p:sp>
      <p:sp>
        <p:nvSpPr>
          <p:cNvPr id="18" name="Right Arrow 17"/>
          <p:cNvSpPr/>
          <p:nvPr/>
        </p:nvSpPr>
        <p:spPr>
          <a:xfrm>
            <a:off x="5989320" y="2404872"/>
            <a:ext cx="201168" cy="128016"/>
          </a:xfrm>
          <a:prstGeom prst="rightArrow">
            <a:avLst/>
          </a:prstGeom>
          <a:solidFill>
            <a:srgbClr val="8C6A32"/>
          </a:solidFill>
          <a:ln>
            <a:noFill/>
          </a:ln>
        </p:spPr>
        <p:txBody>
          <a:bodyPr rtlCol="0" anchor="ctr"/>
          <a:lstStyle/>
          <a:p>
            <a:pPr algn="ctr"/>
          </a:p>
        </p:txBody>
      </p:sp>
      <p:sp>
        <p:nvSpPr>
          <p:cNvPr id="19" name="Rounded Rectangle 18"/>
          <p:cNvSpPr/>
          <p:nvPr/>
        </p:nvSpPr>
        <p:spPr>
          <a:xfrm>
            <a:off x="6236208" y="1691640"/>
            <a:ext cx="2615184" cy="1554480"/>
          </a:xfrm>
          <a:prstGeom prst="roundRect">
            <a:avLst>
              <a:gd name="adj" fmla="val 10000"/>
            </a:avLst>
          </a:prstGeom>
          <a:solidFill>
            <a:srgbClr val="FFFFFF"/>
          </a:solidFill>
          <a:ln>
            <a:noFill/>
          </a:ln>
        </p:spPr>
        <p:txBody>
          <a:bodyPr rtlCol="0" anchor="ctr"/>
          <a:lstStyle/>
          <a:p>
            <a:pPr algn="ctr"/>
          </a:p>
        </p:txBody>
      </p:sp>
      <p:sp>
        <p:nvSpPr>
          <p:cNvPr id="20" name="TextBox 19"/>
          <p:cNvSpPr txBox="1"/>
          <p:nvPr/>
        </p:nvSpPr>
        <p:spPr>
          <a:xfrm>
            <a:off x="6327648" y="1801368"/>
            <a:ext cx="2432304" cy="502920"/>
          </a:xfrm>
          <a:prstGeom prst="rect">
            <a:avLst/>
          </a:prstGeom>
          <a:noFill/>
        </p:spPr>
        <p:txBody>
          <a:bodyPr wrap="square" anchor="t"/>
          <a:lstStyle/>
          <a:p>
            <a:pPr algn="ctr">
              <a:spcBef>
                <a:spcPts val="0"/>
              </a:spcBef>
              <a:spcAft>
                <a:spcPts val="0"/>
              </a:spcAft>
            </a:pPr>
            <a:r>
              <a:rPr sz="1300" b="1">
                <a:solidFill>
                  <a:srgbClr val="142238"/>
                </a:solidFill>
                <a:latin typeface="Calibri"/>
              </a:rPr>
              <a:t>Retrieval</a:t>
            </a:r>
          </a:p>
        </p:txBody>
      </p:sp>
      <p:sp>
        <p:nvSpPr>
          <p:cNvPr id="21" name="TextBox 20"/>
          <p:cNvSpPr txBox="1"/>
          <p:nvPr/>
        </p:nvSpPr>
        <p:spPr>
          <a:xfrm>
            <a:off x="6327648" y="2313432"/>
            <a:ext cx="2432304" cy="822959"/>
          </a:xfrm>
          <a:prstGeom prst="rect">
            <a:avLst/>
          </a:prstGeom>
          <a:noFill/>
        </p:spPr>
        <p:txBody>
          <a:bodyPr wrap="square" anchor="t"/>
          <a:lstStyle/>
          <a:p>
            <a:pPr algn="ctr">
              <a:spcBef>
                <a:spcPts val="0"/>
              </a:spcBef>
              <a:spcAft>
                <a:spcPts val="0"/>
              </a:spcAft>
            </a:pPr>
            <a:r>
              <a:rPr sz="1200" b="0">
                <a:solidFill>
                  <a:srgbClr val="5C6570"/>
                </a:solidFill>
                <a:latin typeface="Calibri"/>
              </a:rPr>
              <a:t>About 20 candidates, reranked to about 5.</a:t>
            </a:r>
          </a:p>
        </p:txBody>
      </p:sp>
      <p:sp>
        <p:nvSpPr>
          <p:cNvPr id="22" name="Right Arrow 21"/>
          <p:cNvSpPr/>
          <p:nvPr/>
        </p:nvSpPr>
        <p:spPr>
          <a:xfrm>
            <a:off x="8897112" y="2404872"/>
            <a:ext cx="201168" cy="128016"/>
          </a:xfrm>
          <a:prstGeom prst="rightArrow">
            <a:avLst/>
          </a:prstGeom>
          <a:solidFill>
            <a:srgbClr val="8C6A32"/>
          </a:solidFill>
          <a:ln>
            <a:noFill/>
          </a:ln>
        </p:spPr>
        <p:txBody>
          <a:bodyPr rtlCol="0" anchor="ctr"/>
          <a:lstStyle/>
          <a:p>
            <a:pPr algn="ctr"/>
          </a:p>
        </p:txBody>
      </p:sp>
      <p:sp>
        <p:nvSpPr>
          <p:cNvPr id="23" name="Rounded Rectangle 22"/>
          <p:cNvSpPr/>
          <p:nvPr/>
        </p:nvSpPr>
        <p:spPr>
          <a:xfrm>
            <a:off x="9144000" y="1691640"/>
            <a:ext cx="2615184" cy="1554480"/>
          </a:xfrm>
          <a:prstGeom prst="roundRect">
            <a:avLst>
              <a:gd name="adj" fmla="val 10000"/>
            </a:avLst>
          </a:prstGeom>
          <a:solidFill>
            <a:srgbClr val="FFFFFF"/>
          </a:solidFill>
          <a:ln>
            <a:noFill/>
          </a:ln>
        </p:spPr>
        <p:txBody>
          <a:bodyPr rtlCol="0" anchor="ctr"/>
          <a:lstStyle/>
          <a:p>
            <a:pPr algn="ctr"/>
          </a:p>
        </p:txBody>
      </p:sp>
      <p:sp>
        <p:nvSpPr>
          <p:cNvPr id="24" name="TextBox 23"/>
          <p:cNvSpPr txBox="1"/>
          <p:nvPr/>
        </p:nvSpPr>
        <p:spPr>
          <a:xfrm>
            <a:off x="9235440" y="1801368"/>
            <a:ext cx="2432304" cy="502920"/>
          </a:xfrm>
          <a:prstGeom prst="rect">
            <a:avLst/>
          </a:prstGeom>
          <a:noFill/>
        </p:spPr>
        <p:txBody>
          <a:bodyPr wrap="square" anchor="t"/>
          <a:lstStyle/>
          <a:p>
            <a:pPr algn="ctr">
              <a:spcBef>
                <a:spcPts val="0"/>
              </a:spcBef>
              <a:spcAft>
                <a:spcPts val="0"/>
              </a:spcAft>
            </a:pPr>
            <a:r>
              <a:rPr sz="1300" b="1">
                <a:solidFill>
                  <a:srgbClr val="142238"/>
                </a:solidFill>
                <a:latin typeface="Calibri"/>
              </a:rPr>
              <a:t>Data</a:t>
            </a:r>
          </a:p>
        </p:txBody>
      </p:sp>
      <p:sp>
        <p:nvSpPr>
          <p:cNvPr id="25" name="TextBox 24"/>
          <p:cNvSpPr txBox="1"/>
          <p:nvPr/>
        </p:nvSpPr>
        <p:spPr>
          <a:xfrm>
            <a:off x="9235440" y="2313432"/>
            <a:ext cx="2432304" cy="822959"/>
          </a:xfrm>
          <a:prstGeom prst="rect">
            <a:avLst/>
          </a:prstGeom>
          <a:noFill/>
        </p:spPr>
        <p:txBody>
          <a:bodyPr wrap="square" anchor="t"/>
          <a:lstStyle/>
          <a:p>
            <a:pPr algn="ctr">
              <a:spcBef>
                <a:spcPts val="0"/>
              </a:spcBef>
              <a:spcAft>
                <a:spcPts val="0"/>
              </a:spcAft>
            </a:pPr>
            <a:r>
              <a:rPr sz="1200" b="0">
                <a:solidFill>
                  <a:srgbClr val="5C6570"/>
                </a:solidFill>
                <a:latin typeface="Calibri"/>
              </a:rPr>
              <a:t>PostgreSQL with pgvector. PDFs in S3.</a:t>
            </a:r>
          </a:p>
        </p:txBody>
      </p:sp>
      <p:sp>
        <p:nvSpPr>
          <p:cNvPr id="26" name="Rounded Rectangle 25"/>
          <p:cNvSpPr/>
          <p:nvPr/>
        </p:nvSpPr>
        <p:spPr>
          <a:xfrm>
            <a:off x="420624" y="3474720"/>
            <a:ext cx="2788920" cy="1874519"/>
          </a:xfrm>
          <a:prstGeom prst="roundRect">
            <a:avLst>
              <a:gd name="adj" fmla="val 8000"/>
            </a:avLst>
          </a:prstGeom>
          <a:solidFill>
            <a:srgbClr val="FFFFFF"/>
          </a:solidFill>
          <a:ln w="12700">
            <a:solidFill>
              <a:srgbClr val="E4DBCE"/>
            </a:solidFill>
          </a:ln>
        </p:spPr>
        <p:txBody>
          <a:bodyPr rtlCol="0" anchor="ctr"/>
          <a:lstStyle/>
          <a:p>
            <a:pPr algn="ctr"/>
          </a:p>
        </p:txBody>
      </p:sp>
      <p:sp>
        <p:nvSpPr>
          <p:cNvPr id="27" name="TextBox 26"/>
          <p:cNvSpPr txBox="1"/>
          <p:nvPr/>
        </p:nvSpPr>
        <p:spPr>
          <a:xfrm>
            <a:off x="566928" y="3602736"/>
            <a:ext cx="2514600" cy="365760"/>
          </a:xfrm>
          <a:prstGeom prst="rect">
            <a:avLst/>
          </a:prstGeom>
          <a:noFill/>
        </p:spPr>
        <p:txBody>
          <a:bodyPr wrap="square" anchor="t"/>
          <a:lstStyle/>
          <a:p>
            <a:pPr algn="l">
              <a:spcBef>
                <a:spcPts val="0"/>
              </a:spcBef>
              <a:spcAft>
                <a:spcPts val="0"/>
              </a:spcAft>
            </a:pPr>
            <a:r>
              <a:rPr sz="1400" b="1">
                <a:solidFill>
                  <a:srgbClr val="1A6A64"/>
                </a:solidFill>
                <a:latin typeface="Calibri"/>
              </a:rPr>
              <a:t>Why RAG</a:t>
            </a:r>
          </a:p>
        </p:txBody>
      </p:sp>
      <p:sp>
        <p:nvSpPr>
          <p:cNvPr id="28" name="TextBox 27"/>
          <p:cNvSpPr txBox="1"/>
          <p:nvPr/>
        </p:nvSpPr>
        <p:spPr>
          <a:xfrm>
            <a:off x="566928" y="4023360"/>
            <a:ext cx="2514600" cy="1143000"/>
          </a:xfrm>
          <a:prstGeom prst="rect">
            <a:avLst/>
          </a:prstGeom>
          <a:noFill/>
        </p:spPr>
        <p:txBody>
          <a:bodyPr wrap="square" anchor="t"/>
          <a:lstStyle/>
          <a:p>
            <a:pPr algn="l">
              <a:spcBef>
                <a:spcPts val="0"/>
              </a:spcBef>
              <a:spcAft>
                <a:spcPts val="0"/>
              </a:spcAft>
            </a:pPr>
            <a:r>
              <a:rPr sz="1300" b="0">
                <a:solidFill>
                  <a:srgbClr val="1C222B"/>
                </a:solidFill>
                <a:latin typeface="Calibri"/>
              </a:rPr>
              <a:t>Documents change. An answer has to stay traceable to a version, section, and page.</a:t>
            </a:r>
          </a:p>
        </p:txBody>
      </p:sp>
      <p:sp>
        <p:nvSpPr>
          <p:cNvPr id="29" name="Rounded Rectangle 28"/>
          <p:cNvSpPr/>
          <p:nvPr/>
        </p:nvSpPr>
        <p:spPr>
          <a:xfrm>
            <a:off x="3346704" y="3474720"/>
            <a:ext cx="2788920" cy="1874519"/>
          </a:xfrm>
          <a:prstGeom prst="roundRect">
            <a:avLst>
              <a:gd name="adj" fmla="val 8000"/>
            </a:avLst>
          </a:prstGeom>
          <a:solidFill>
            <a:srgbClr val="FFFFFF"/>
          </a:solidFill>
          <a:ln w="12700">
            <a:solidFill>
              <a:srgbClr val="E4DBCE"/>
            </a:solidFill>
          </a:ln>
        </p:spPr>
        <p:txBody>
          <a:bodyPr rtlCol="0" anchor="ctr"/>
          <a:lstStyle/>
          <a:p>
            <a:pPr algn="ctr"/>
          </a:p>
        </p:txBody>
      </p:sp>
      <p:sp>
        <p:nvSpPr>
          <p:cNvPr id="30" name="TextBox 29"/>
          <p:cNvSpPr txBox="1"/>
          <p:nvPr/>
        </p:nvSpPr>
        <p:spPr>
          <a:xfrm>
            <a:off x="3493008" y="3602736"/>
            <a:ext cx="2514600" cy="365760"/>
          </a:xfrm>
          <a:prstGeom prst="rect">
            <a:avLst/>
          </a:prstGeom>
          <a:noFill/>
        </p:spPr>
        <p:txBody>
          <a:bodyPr wrap="square" anchor="t"/>
          <a:lstStyle/>
          <a:p>
            <a:pPr algn="l">
              <a:spcBef>
                <a:spcPts val="0"/>
              </a:spcBef>
              <a:spcAft>
                <a:spcPts val="0"/>
              </a:spcAft>
            </a:pPr>
            <a:r>
              <a:rPr sz="1400" b="1">
                <a:solidFill>
                  <a:srgbClr val="1A6A64"/>
                </a:solidFill>
                <a:latin typeface="Calibri"/>
              </a:rPr>
              <a:t>Why pgvector</a:t>
            </a:r>
          </a:p>
        </p:txBody>
      </p:sp>
      <p:sp>
        <p:nvSpPr>
          <p:cNvPr id="31" name="TextBox 30"/>
          <p:cNvSpPr txBox="1"/>
          <p:nvPr/>
        </p:nvSpPr>
        <p:spPr>
          <a:xfrm>
            <a:off x="3493008" y="4023360"/>
            <a:ext cx="2514600" cy="1143000"/>
          </a:xfrm>
          <a:prstGeom prst="rect">
            <a:avLst/>
          </a:prstGeom>
          <a:noFill/>
        </p:spPr>
        <p:txBody>
          <a:bodyPr wrap="square" anchor="t"/>
          <a:lstStyle/>
          <a:p>
            <a:pPr algn="l">
              <a:spcBef>
                <a:spcPts val="0"/>
              </a:spcBef>
              <a:spcAft>
                <a:spcPts val="0"/>
              </a:spcAft>
            </a:pPr>
            <a:r>
              <a:rPr sz="1300" b="0">
                <a:solidFill>
                  <a:srgbClr val="1C222B"/>
                </a:solidFill>
                <a:latin typeface="Calibri"/>
              </a:rPr>
              <a:t>Metadata and embeddings stay together for an MVP, before a separate vector service.</a:t>
            </a:r>
          </a:p>
        </p:txBody>
      </p:sp>
      <p:sp>
        <p:nvSpPr>
          <p:cNvPr id="32" name="Rounded Rectangle 31"/>
          <p:cNvSpPr/>
          <p:nvPr/>
        </p:nvSpPr>
        <p:spPr>
          <a:xfrm>
            <a:off x="6272784" y="3474720"/>
            <a:ext cx="2788920" cy="1874519"/>
          </a:xfrm>
          <a:prstGeom prst="roundRect">
            <a:avLst>
              <a:gd name="adj" fmla="val 8000"/>
            </a:avLst>
          </a:prstGeom>
          <a:solidFill>
            <a:srgbClr val="FFFFFF"/>
          </a:solidFill>
          <a:ln w="12700">
            <a:solidFill>
              <a:srgbClr val="E4DBCE"/>
            </a:solidFill>
          </a:ln>
        </p:spPr>
        <p:txBody>
          <a:bodyPr rtlCol="0" anchor="ctr"/>
          <a:lstStyle/>
          <a:p>
            <a:pPr algn="ctr"/>
          </a:p>
        </p:txBody>
      </p:sp>
      <p:sp>
        <p:nvSpPr>
          <p:cNvPr id="33" name="TextBox 32"/>
          <p:cNvSpPr txBox="1"/>
          <p:nvPr/>
        </p:nvSpPr>
        <p:spPr>
          <a:xfrm>
            <a:off x="6419088" y="3602736"/>
            <a:ext cx="2514600" cy="365760"/>
          </a:xfrm>
          <a:prstGeom prst="rect">
            <a:avLst/>
          </a:prstGeom>
          <a:noFill/>
        </p:spPr>
        <p:txBody>
          <a:bodyPr wrap="square" anchor="t"/>
          <a:lstStyle/>
          <a:p>
            <a:pPr algn="l">
              <a:spcBef>
                <a:spcPts val="0"/>
              </a:spcBef>
              <a:spcAft>
                <a:spcPts val="0"/>
              </a:spcAft>
            </a:pPr>
            <a:r>
              <a:rPr sz="1400" b="1">
                <a:solidFill>
                  <a:srgbClr val="1A6A64"/>
                </a:solidFill>
                <a:latin typeface="Calibri"/>
              </a:rPr>
              <a:t>Why Cognito</a:t>
            </a:r>
          </a:p>
        </p:txBody>
      </p:sp>
      <p:sp>
        <p:nvSpPr>
          <p:cNvPr id="34" name="TextBox 33"/>
          <p:cNvSpPr txBox="1"/>
          <p:nvPr/>
        </p:nvSpPr>
        <p:spPr>
          <a:xfrm>
            <a:off x="6419088" y="4023360"/>
            <a:ext cx="2514600" cy="1143000"/>
          </a:xfrm>
          <a:prstGeom prst="rect">
            <a:avLst/>
          </a:prstGeom>
          <a:noFill/>
        </p:spPr>
        <p:txBody>
          <a:bodyPr wrap="square" anchor="t"/>
          <a:lstStyle/>
          <a:p>
            <a:pPr algn="l">
              <a:spcBef>
                <a:spcPts val="0"/>
              </a:spcBef>
              <a:spcAft>
                <a:spcPts val="0"/>
              </a:spcAft>
            </a:pPr>
            <a:r>
              <a:rPr sz="1300" b="0">
                <a:solidFill>
                  <a:srgbClr val="1C222B"/>
                </a:solidFill>
                <a:latin typeface="Calibri"/>
              </a:rPr>
              <a:t>Role switching in the demo stands in for identity. It is not production authentication.</a:t>
            </a:r>
          </a:p>
        </p:txBody>
      </p:sp>
      <p:sp>
        <p:nvSpPr>
          <p:cNvPr id="35" name="Rounded Rectangle 34"/>
          <p:cNvSpPr/>
          <p:nvPr/>
        </p:nvSpPr>
        <p:spPr>
          <a:xfrm>
            <a:off x="9198864" y="3474720"/>
            <a:ext cx="2788920" cy="1874519"/>
          </a:xfrm>
          <a:prstGeom prst="roundRect">
            <a:avLst>
              <a:gd name="adj" fmla="val 8000"/>
            </a:avLst>
          </a:prstGeom>
          <a:solidFill>
            <a:srgbClr val="FFFFFF"/>
          </a:solidFill>
          <a:ln w="12700">
            <a:solidFill>
              <a:srgbClr val="E4DBCE"/>
            </a:solidFill>
          </a:ln>
        </p:spPr>
        <p:txBody>
          <a:bodyPr rtlCol="0" anchor="ctr"/>
          <a:lstStyle/>
          <a:p>
            <a:pPr algn="ctr"/>
          </a:p>
        </p:txBody>
      </p:sp>
      <p:sp>
        <p:nvSpPr>
          <p:cNvPr id="36" name="TextBox 35"/>
          <p:cNvSpPr txBox="1"/>
          <p:nvPr/>
        </p:nvSpPr>
        <p:spPr>
          <a:xfrm>
            <a:off x="9345168" y="3602736"/>
            <a:ext cx="2514600" cy="365760"/>
          </a:xfrm>
          <a:prstGeom prst="rect">
            <a:avLst/>
          </a:prstGeom>
          <a:noFill/>
        </p:spPr>
        <p:txBody>
          <a:bodyPr wrap="square" anchor="t"/>
          <a:lstStyle/>
          <a:p>
            <a:pPr algn="l">
              <a:spcBef>
                <a:spcPts val="0"/>
              </a:spcBef>
              <a:spcAft>
                <a:spcPts val="0"/>
              </a:spcAft>
            </a:pPr>
            <a:r>
              <a:rPr sz="1400" b="1">
                <a:solidFill>
                  <a:srgbClr val="1A6A64"/>
                </a:solidFill>
                <a:latin typeface="Calibri"/>
              </a:rPr>
              <a:t>Chunking</a:t>
            </a:r>
          </a:p>
        </p:txBody>
      </p:sp>
      <p:sp>
        <p:nvSpPr>
          <p:cNvPr id="37" name="TextBox 36"/>
          <p:cNvSpPr txBox="1"/>
          <p:nvPr/>
        </p:nvSpPr>
        <p:spPr>
          <a:xfrm>
            <a:off x="9345168" y="4023360"/>
            <a:ext cx="2514600" cy="1143000"/>
          </a:xfrm>
          <a:prstGeom prst="rect">
            <a:avLst/>
          </a:prstGeom>
          <a:noFill/>
        </p:spPr>
        <p:txBody>
          <a:bodyPr wrap="square" anchor="t"/>
          <a:lstStyle/>
          <a:p>
            <a:pPr algn="l">
              <a:spcBef>
                <a:spcPts val="0"/>
              </a:spcBef>
              <a:spcAft>
                <a:spcPts val="0"/>
              </a:spcAft>
            </a:pPr>
            <a:r>
              <a:rPr sz="1300" b="0">
                <a:solidFill>
                  <a:srgbClr val="1C222B"/>
                </a:solidFill>
                <a:latin typeface="Calibri"/>
              </a:rPr>
              <a:t>500–800 tokens, about 100 tokens of overlap, with study and version on every chunk.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6858000"/>
          </a:xfrm>
          <a:prstGeom prst="rect">
            <a:avLst/>
          </a:prstGeom>
          <a:solidFill>
            <a:srgbClr val="F6F3EC"/>
          </a:solidFill>
          <a:ln>
            <a:noFill/>
          </a:ln>
        </p:spPr>
        <p:txBody>
          <a:bodyPr rtlCol="0" anchor="ctr"/>
          <a:lstStyle/>
          <a:p>
            <a:pPr algn="ctr"/>
          </a:p>
        </p:txBody>
      </p:sp>
      <p:sp>
        <p:nvSpPr>
          <p:cNvPr id="3" name="Rectangle 2"/>
          <p:cNvSpPr/>
          <p:nvPr/>
        </p:nvSpPr>
        <p:spPr>
          <a:xfrm>
            <a:off x="0" y="0"/>
            <a:ext cx="12198096" cy="73152"/>
          </a:xfrm>
          <a:prstGeom prst="rect">
            <a:avLst/>
          </a:prstGeom>
          <a:solidFill>
            <a:srgbClr val="1A6A64"/>
          </a:solidFill>
          <a:ln>
            <a:noFill/>
          </a:ln>
        </p:spPr>
        <p:txBody>
          <a:bodyPr rtlCol="0" anchor="ctr"/>
          <a:lstStyle/>
          <a:p>
            <a:pPr algn="ctr"/>
          </a:p>
        </p:txBody>
      </p:sp>
      <p:sp>
        <p:nvSpPr>
          <p:cNvPr id="4" name="TextBox 3"/>
          <p:cNvSpPr txBox="1"/>
          <p:nvPr/>
        </p:nvSpPr>
        <p:spPr>
          <a:xfrm>
            <a:off x="420624" y="201168"/>
            <a:ext cx="11155680" cy="256032"/>
          </a:xfrm>
          <a:prstGeom prst="rect">
            <a:avLst/>
          </a:prstGeom>
          <a:noFill/>
        </p:spPr>
        <p:txBody>
          <a:bodyPr wrap="square" anchor="t"/>
          <a:lstStyle/>
          <a:p>
            <a:pPr algn="l">
              <a:spcBef>
                <a:spcPts val="0"/>
              </a:spcBef>
              <a:spcAft>
                <a:spcPts val="0"/>
              </a:spcAft>
            </a:pPr>
            <a:r>
              <a:rPr sz="1200" b="1">
                <a:solidFill>
                  <a:srgbClr val="1A6A64"/>
                </a:solidFill>
                <a:latin typeface="Calibri"/>
              </a:rPr>
              <a:t>APPLICATION 1  ·  PHASE 3  ·  WORKSHOP 1</a:t>
            </a:r>
          </a:p>
        </p:txBody>
      </p:sp>
      <p:sp>
        <p:nvSpPr>
          <p:cNvPr id="5" name="TextBox 4"/>
          <p:cNvSpPr txBox="1"/>
          <p:nvPr/>
        </p:nvSpPr>
        <p:spPr>
          <a:xfrm>
            <a:off x="420624" y="438912"/>
            <a:ext cx="11247120" cy="566928"/>
          </a:xfrm>
          <a:prstGeom prst="rect">
            <a:avLst/>
          </a:prstGeom>
          <a:noFill/>
        </p:spPr>
        <p:txBody>
          <a:bodyPr wrap="square" anchor="t"/>
          <a:lstStyle/>
          <a:p>
            <a:pPr algn="l">
              <a:spcBef>
                <a:spcPts val="0"/>
              </a:spcBef>
              <a:spcAft>
                <a:spcPts val="0"/>
              </a:spcAft>
            </a:pPr>
            <a:r>
              <a:rPr sz="2800" b="1">
                <a:solidFill>
                  <a:srgbClr val="142238"/>
                </a:solidFill>
                <a:latin typeface="Calibri"/>
              </a:rPr>
              <a:t>The single-file prototype</a:t>
            </a:r>
          </a:p>
        </p:txBody>
      </p:sp>
      <p:sp>
        <p:nvSpPr>
          <p:cNvPr id="6" name="Rectangle 5"/>
          <p:cNvSpPr/>
          <p:nvPr/>
        </p:nvSpPr>
        <p:spPr>
          <a:xfrm>
            <a:off x="438912" y="1042415"/>
            <a:ext cx="1234440" cy="32004"/>
          </a:xfrm>
          <a:prstGeom prst="rect">
            <a:avLst/>
          </a:prstGeom>
          <a:solidFill>
            <a:srgbClr val="8C6A32"/>
          </a:solidFill>
          <a:ln>
            <a:noFill/>
          </a:ln>
        </p:spPr>
        <p:txBody>
          <a:bodyPr rtlCol="0" anchor="ctr"/>
          <a:lstStyle/>
          <a:p>
            <a:pPr algn="ctr"/>
          </a:p>
        </p:txBody>
      </p:sp>
      <p:sp>
        <p:nvSpPr>
          <p:cNvPr id="7" name="Rectangle 6"/>
          <p:cNvSpPr/>
          <p:nvPr/>
        </p:nvSpPr>
        <p:spPr>
          <a:xfrm>
            <a:off x="0" y="6565392"/>
            <a:ext cx="12198096" cy="13716"/>
          </a:xfrm>
          <a:prstGeom prst="rect">
            <a:avLst/>
          </a:prstGeom>
          <a:solidFill>
            <a:srgbClr val="E4DBCE"/>
          </a:solidFill>
          <a:ln>
            <a:noFill/>
          </a:ln>
        </p:spPr>
        <p:txBody>
          <a:bodyPr rtlCol="0" anchor="ctr"/>
          <a:lstStyle/>
          <a:p>
            <a:pPr algn="ctr"/>
          </a:p>
        </p:txBody>
      </p:sp>
      <p:sp>
        <p:nvSpPr>
          <p:cNvPr id="8" name="TextBox 7"/>
          <p:cNvSpPr txBox="1"/>
          <p:nvPr/>
        </p:nvSpPr>
        <p:spPr>
          <a:xfrm>
            <a:off x="420624" y="6601968"/>
            <a:ext cx="8412480" cy="237744"/>
          </a:xfrm>
          <a:prstGeom prst="rect">
            <a:avLst/>
          </a:prstGeom>
          <a:noFill/>
        </p:spPr>
        <p:txBody>
          <a:bodyPr wrap="square" anchor="ctr"/>
          <a:lstStyle/>
          <a:p>
            <a:pPr algn="l">
              <a:spcBef>
                <a:spcPts val="0"/>
              </a:spcBef>
              <a:spcAft>
                <a:spcPts val="0"/>
              </a:spcAft>
            </a:pPr>
            <a:r>
              <a:rPr sz="1100" b="0">
                <a:solidFill>
                  <a:srgbClr val="5C6570"/>
                </a:solidFill>
                <a:latin typeface="Calibri"/>
              </a:rPr>
              <a:t>Pu Zeng  ·  StudyCite and BiteWise</a:t>
            </a:r>
          </a:p>
        </p:txBody>
      </p:sp>
      <p:sp>
        <p:nvSpPr>
          <p:cNvPr id="9" name="TextBox 8"/>
          <p:cNvSpPr txBox="1"/>
          <p:nvPr/>
        </p:nvSpPr>
        <p:spPr>
          <a:xfrm>
            <a:off x="9509760" y="6601968"/>
            <a:ext cx="2267712" cy="237744"/>
          </a:xfrm>
          <a:prstGeom prst="rect">
            <a:avLst/>
          </a:prstGeom>
          <a:noFill/>
        </p:spPr>
        <p:txBody>
          <a:bodyPr wrap="square" anchor="ctr"/>
          <a:lstStyle/>
          <a:p>
            <a:pPr algn="r">
              <a:spcBef>
                <a:spcPts val="0"/>
              </a:spcBef>
              <a:spcAft>
                <a:spcPts val="0"/>
              </a:spcAft>
            </a:pPr>
            <a:r>
              <a:rPr sz="1100" b="0">
                <a:solidFill>
                  <a:srgbClr val="5C6570"/>
                </a:solidFill>
                <a:latin typeface="Calibri"/>
              </a:rPr>
              <a:t>6   /   24</a:t>
            </a:r>
          </a:p>
        </p:txBody>
      </p:sp>
      <p:sp>
        <p:nvSpPr>
          <p:cNvPr id="10" name="TextBox 9"/>
          <p:cNvSpPr txBox="1"/>
          <p:nvPr/>
        </p:nvSpPr>
        <p:spPr>
          <a:xfrm>
            <a:off x="420624" y="1243584"/>
            <a:ext cx="5212080" cy="777240"/>
          </a:xfrm>
          <a:prstGeom prst="rect">
            <a:avLst/>
          </a:prstGeom>
          <a:noFill/>
        </p:spPr>
        <p:txBody>
          <a:bodyPr wrap="square" anchor="t"/>
          <a:lstStyle/>
          <a:p>
            <a:pPr algn="l">
              <a:spcBef>
                <a:spcPts val="0"/>
              </a:spcBef>
              <a:spcAft>
                <a:spcPts val="0"/>
              </a:spcAft>
            </a:pPr>
            <a:r>
              <a:rPr sz="1800" b="1">
                <a:solidFill>
                  <a:srgbClr val="142238"/>
                </a:solidFill>
                <a:latin typeface="Calibri"/>
              </a:rPr>
              <a:t>A shared URL was the fastest way to see the workflow.</a:t>
            </a:r>
          </a:p>
        </p:txBody>
      </p:sp>
      <p:sp>
        <p:nvSpPr>
          <p:cNvPr id="11" name="TextBox 10"/>
          <p:cNvSpPr txBox="1"/>
          <p:nvPr/>
        </p:nvSpPr>
        <p:spPr>
          <a:xfrm>
            <a:off x="420624" y="2057400"/>
            <a:ext cx="5349240" cy="3017520"/>
          </a:xfrm>
          <a:prstGeom prst="rect">
            <a:avLst/>
          </a:prstGeom>
          <a:noFill/>
        </p:spPr>
        <p:txBody>
          <a:bodyPr wrap="square" anchor="t"/>
          <a:lstStyle/>
          <a:p>
            <a:pPr algn="l">
              <a:spcBef>
                <a:spcPts val="0"/>
              </a:spcBef>
              <a:spcAft>
                <a:spcPts val="900"/>
              </a:spcAft>
            </a:pPr>
            <a:r>
              <a:rPr sz="1500" b="0">
                <a:solidFill>
                  <a:srgbClr val="1C222B"/>
                </a:solidFill>
                <a:latin typeface="Calibri"/>
              </a:rPr>
              <a:t>•  Hosted at triallens-ai.ai.studio. It still answers, and it still says TrialLens AI.</a:t>
            </a:r>
          </a:p>
          <a:p>
            <a:pPr algn="l">
              <a:spcBef>
                <a:spcPts val="0"/>
              </a:spcBef>
              <a:spcAft>
                <a:spcPts val="900"/>
              </a:spcAft>
            </a:pPr>
            <a:r>
              <a:rPr sz="1500" b="0">
                <a:solidFill>
                  <a:srgbClr val="1C222B"/>
                </a:solidFill>
                <a:latin typeface="Calibri"/>
              </a:rPr>
              <a:t>•  One file showed Overview, Assistant, documents, evaluation, and architecture.</a:t>
            </a:r>
          </a:p>
          <a:p>
            <a:pPr algn="l">
              <a:spcBef>
                <a:spcPts val="0"/>
              </a:spcBef>
              <a:spcAft>
                <a:spcPts val="900"/>
              </a:spcAft>
            </a:pPr>
            <a:r>
              <a:rPr sz="1500" b="0">
                <a:solidFill>
                  <a:srgbClr val="1C222B"/>
                </a:solidFill>
                <a:latin typeface="Calibri"/>
              </a:rPr>
              <a:t>•  Strength: no install, easy to react to, easy to share.</a:t>
            </a:r>
          </a:p>
          <a:p>
            <a:pPr algn="l">
              <a:spcBef>
                <a:spcPts val="0"/>
              </a:spcBef>
              <a:spcAft>
                <a:spcPts val="900"/>
              </a:spcAft>
            </a:pPr>
            <a:r>
              <a:rPr sz="1500" b="0">
                <a:solidFill>
                  <a:srgbClr val="1C222B"/>
                </a:solidFill>
                <a:latin typeface="Calibri"/>
              </a:rPr>
              <a:t>•  Limit: routing, types, and Git are hidden inside one document.</a:t>
            </a:r>
          </a:p>
        </p:txBody>
      </p:sp>
      <p:sp>
        <p:nvSpPr>
          <p:cNvPr id="12" name="TextBox 11"/>
          <p:cNvSpPr txBox="1"/>
          <p:nvPr/>
        </p:nvSpPr>
        <p:spPr>
          <a:xfrm>
            <a:off x="420624" y="5212080"/>
            <a:ext cx="5349240" cy="1051560"/>
          </a:xfrm>
          <a:prstGeom prst="rect">
            <a:avLst/>
          </a:prstGeom>
          <a:noFill/>
        </p:spPr>
        <p:txBody>
          <a:bodyPr wrap="square" anchor="t"/>
          <a:lstStyle/>
          <a:p>
            <a:pPr algn="l">
              <a:spcBef>
                <a:spcPts val="0"/>
              </a:spcBef>
              <a:spcAft>
                <a:spcPts val="0"/>
              </a:spcAft>
            </a:pPr>
            <a:r>
              <a:rPr sz="1400" b="0">
                <a:solidFill>
                  <a:srgbClr val="5C6570"/>
                </a:solidFill>
                <a:latin typeface="Calibri"/>
              </a:rPr>
              <a:t>Hero numbers on that page are interface claims. They are not a measured study.</a:t>
            </a:r>
          </a:p>
        </p:txBody>
      </p:sp>
      <p:pic>
        <p:nvPicPr>
          <p:cNvPr id="13" name="Picture 12" descr="studycite.png"/>
          <p:cNvPicPr>
            <a:picLocks noChangeAspect="1"/>
          </p:cNvPicPr>
          <p:nvPr/>
        </p:nvPicPr>
        <p:blipFill>
          <a:blip r:embed="rId2"/>
          <a:stretch>
            <a:fillRect/>
          </a:stretch>
        </p:blipFill>
        <p:spPr>
          <a:xfrm>
            <a:off x="5989320" y="1280160"/>
            <a:ext cx="5760720" cy="3602736"/>
          </a:xfrm>
          <a:prstGeom prst="rect">
            <a:avLst/>
          </a:prstGeom>
        </p:spPr>
      </p:pic>
      <p:sp>
        <p:nvSpPr>
          <p:cNvPr id="14" name="TextBox 13"/>
          <p:cNvSpPr txBox="1"/>
          <p:nvPr/>
        </p:nvSpPr>
        <p:spPr>
          <a:xfrm>
            <a:off x="5989320" y="4956048"/>
            <a:ext cx="5760720" cy="640080"/>
          </a:xfrm>
          <a:prstGeom prst="rect">
            <a:avLst/>
          </a:prstGeom>
          <a:noFill/>
        </p:spPr>
        <p:txBody>
          <a:bodyPr wrap="square" anchor="t"/>
          <a:lstStyle/>
          <a:p>
            <a:pPr algn="l">
              <a:spcBef>
                <a:spcPts val="0"/>
              </a:spcBef>
              <a:spcAft>
                <a:spcPts val="0"/>
              </a:spcAft>
            </a:pPr>
            <a:r>
              <a:rPr sz="1200" b="0">
                <a:solidFill>
                  <a:srgbClr val="5C6570"/>
                </a:solidFill>
                <a:latin typeface="Calibri"/>
              </a:rPr>
              <a:t>Live prototype, October 18, 2026. Working title still on the page.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6858000"/>
          </a:xfrm>
          <a:prstGeom prst="rect">
            <a:avLst/>
          </a:prstGeom>
          <a:solidFill>
            <a:srgbClr val="F6F3EC"/>
          </a:solidFill>
          <a:ln>
            <a:noFill/>
          </a:ln>
        </p:spPr>
        <p:txBody>
          <a:bodyPr rtlCol="0" anchor="ctr"/>
          <a:lstStyle/>
          <a:p>
            <a:pPr algn="ctr"/>
          </a:p>
        </p:txBody>
      </p:sp>
      <p:sp>
        <p:nvSpPr>
          <p:cNvPr id="3" name="Rectangle 2"/>
          <p:cNvSpPr/>
          <p:nvPr/>
        </p:nvSpPr>
        <p:spPr>
          <a:xfrm>
            <a:off x="0" y="0"/>
            <a:ext cx="12198096" cy="73152"/>
          </a:xfrm>
          <a:prstGeom prst="rect">
            <a:avLst/>
          </a:prstGeom>
          <a:solidFill>
            <a:srgbClr val="1A6A64"/>
          </a:solidFill>
          <a:ln>
            <a:noFill/>
          </a:ln>
        </p:spPr>
        <p:txBody>
          <a:bodyPr rtlCol="0" anchor="ctr"/>
          <a:lstStyle/>
          <a:p>
            <a:pPr algn="ctr"/>
          </a:p>
        </p:txBody>
      </p:sp>
      <p:sp>
        <p:nvSpPr>
          <p:cNvPr id="4" name="TextBox 3"/>
          <p:cNvSpPr txBox="1"/>
          <p:nvPr/>
        </p:nvSpPr>
        <p:spPr>
          <a:xfrm>
            <a:off x="420624" y="201168"/>
            <a:ext cx="11155680" cy="256032"/>
          </a:xfrm>
          <a:prstGeom prst="rect">
            <a:avLst/>
          </a:prstGeom>
          <a:noFill/>
        </p:spPr>
        <p:txBody>
          <a:bodyPr wrap="square" anchor="t"/>
          <a:lstStyle/>
          <a:p>
            <a:pPr algn="l">
              <a:spcBef>
                <a:spcPts val="0"/>
              </a:spcBef>
              <a:spcAft>
                <a:spcPts val="0"/>
              </a:spcAft>
            </a:pPr>
            <a:r>
              <a:rPr sz="1200" b="1">
                <a:solidFill>
                  <a:srgbClr val="1A6A64"/>
                </a:solidFill>
                <a:latin typeface="Calibri"/>
              </a:rPr>
              <a:t>APPLICATION 1  ·  PHASE 3  ·  WORKSHOP 2</a:t>
            </a:r>
          </a:p>
        </p:txBody>
      </p:sp>
      <p:sp>
        <p:nvSpPr>
          <p:cNvPr id="5" name="TextBox 4"/>
          <p:cNvSpPr txBox="1"/>
          <p:nvPr/>
        </p:nvSpPr>
        <p:spPr>
          <a:xfrm>
            <a:off x="420624" y="438912"/>
            <a:ext cx="11247120" cy="566928"/>
          </a:xfrm>
          <a:prstGeom prst="rect">
            <a:avLst/>
          </a:prstGeom>
          <a:noFill/>
        </p:spPr>
        <p:txBody>
          <a:bodyPr wrap="square" anchor="t"/>
          <a:lstStyle/>
          <a:p>
            <a:pPr algn="l">
              <a:spcBef>
                <a:spcPts val="0"/>
              </a:spcBef>
              <a:spcAft>
                <a:spcPts val="0"/>
              </a:spcAft>
            </a:pPr>
            <a:r>
              <a:rPr sz="2800" b="1">
                <a:solidFill>
                  <a:srgbClr val="142238"/>
                </a:solidFill>
                <a:latin typeface="Calibri"/>
              </a:rPr>
              <a:t>From one file to a repository</a:t>
            </a:r>
          </a:p>
        </p:txBody>
      </p:sp>
      <p:sp>
        <p:nvSpPr>
          <p:cNvPr id="6" name="Rectangle 5"/>
          <p:cNvSpPr/>
          <p:nvPr/>
        </p:nvSpPr>
        <p:spPr>
          <a:xfrm>
            <a:off x="438912" y="1042415"/>
            <a:ext cx="1234440" cy="32004"/>
          </a:xfrm>
          <a:prstGeom prst="rect">
            <a:avLst/>
          </a:prstGeom>
          <a:solidFill>
            <a:srgbClr val="8C6A32"/>
          </a:solidFill>
          <a:ln>
            <a:noFill/>
          </a:ln>
        </p:spPr>
        <p:txBody>
          <a:bodyPr rtlCol="0" anchor="ctr"/>
          <a:lstStyle/>
          <a:p>
            <a:pPr algn="ctr"/>
          </a:p>
        </p:txBody>
      </p:sp>
      <p:sp>
        <p:nvSpPr>
          <p:cNvPr id="7" name="Rectangle 6"/>
          <p:cNvSpPr/>
          <p:nvPr/>
        </p:nvSpPr>
        <p:spPr>
          <a:xfrm>
            <a:off x="0" y="6565392"/>
            <a:ext cx="12198096" cy="13716"/>
          </a:xfrm>
          <a:prstGeom prst="rect">
            <a:avLst/>
          </a:prstGeom>
          <a:solidFill>
            <a:srgbClr val="E4DBCE"/>
          </a:solidFill>
          <a:ln>
            <a:noFill/>
          </a:ln>
        </p:spPr>
        <p:txBody>
          <a:bodyPr rtlCol="0" anchor="ctr"/>
          <a:lstStyle/>
          <a:p>
            <a:pPr algn="ctr"/>
          </a:p>
        </p:txBody>
      </p:sp>
      <p:sp>
        <p:nvSpPr>
          <p:cNvPr id="8" name="TextBox 7"/>
          <p:cNvSpPr txBox="1"/>
          <p:nvPr/>
        </p:nvSpPr>
        <p:spPr>
          <a:xfrm>
            <a:off x="420624" y="6601968"/>
            <a:ext cx="8412480" cy="237744"/>
          </a:xfrm>
          <a:prstGeom prst="rect">
            <a:avLst/>
          </a:prstGeom>
          <a:noFill/>
        </p:spPr>
        <p:txBody>
          <a:bodyPr wrap="square" anchor="ctr"/>
          <a:lstStyle/>
          <a:p>
            <a:pPr algn="l">
              <a:spcBef>
                <a:spcPts val="0"/>
              </a:spcBef>
              <a:spcAft>
                <a:spcPts val="0"/>
              </a:spcAft>
            </a:pPr>
            <a:r>
              <a:rPr sz="1100" b="0">
                <a:solidFill>
                  <a:srgbClr val="5C6570"/>
                </a:solidFill>
                <a:latin typeface="Calibri"/>
              </a:rPr>
              <a:t>Pu Zeng  ·  StudyCite and BiteWise</a:t>
            </a:r>
          </a:p>
        </p:txBody>
      </p:sp>
      <p:sp>
        <p:nvSpPr>
          <p:cNvPr id="9" name="TextBox 8"/>
          <p:cNvSpPr txBox="1"/>
          <p:nvPr/>
        </p:nvSpPr>
        <p:spPr>
          <a:xfrm>
            <a:off x="9509760" y="6601968"/>
            <a:ext cx="2267712" cy="237744"/>
          </a:xfrm>
          <a:prstGeom prst="rect">
            <a:avLst/>
          </a:prstGeom>
          <a:noFill/>
        </p:spPr>
        <p:txBody>
          <a:bodyPr wrap="square" anchor="ctr"/>
          <a:lstStyle/>
          <a:p>
            <a:pPr algn="r">
              <a:spcBef>
                <a:spcPts val="0"/>
              </a:spcBef>
              <a:spcAft>
                <a:spcPts val="0"/>
              </a:spcAft>
            </a:pPr>
            <a:r>
              <a:rPr sz="1100" b="0">
                <a:solidFill>
                  <a:srgbClr val="5C6570"/>
                </a:solidFill>
                <a:latin typeface="Calibri"/>
              </a:rPr>
              <a:t>7   /   24</a:t>
            </a:r>
          </a:p>
        </p:txBody>
      </p:sp>
      <p:sp>
        <p:nvSpPr>
          <p:cNvPr id="10" name="TextBox 9"/>
          <p:cNvSpPr txBox="1"/>
          <p:nvPr/>
        </p:nvSpPr>
        <p:spPr>
          <a:xfrm>
            <a:off x="438912" y="1225296"/>
            <a:ext cx="11247120" cy="640080"/>
          </a:xfrm>
          <a:prstGeom prst="rect">
            <a:avLst/>
          </a:prstGeom>
          <a:noFill/>
        </p:spPr>
        <p:txBody>
          <a:bodyPr wrap="square" anchor="t"/>
          <a:lstStyle/>
          <a:p>
            <a:pPr algn="l">
              <a:spcBef>
                <a:spcPts val="0"/>
              </a:spcBef>
              <a:spcAft>
                <a:spcPts val="0"/>
              </a:spcAft>
            </a:pPr>
            <a:r>
              <a:rPr sz="1600" b="0">
                <a:solidFill>
                  <a:srgbClr val="1C222B"/>
                </a:solidFill>
                <a:latin typeface="Calibri"/>
              </a:rPr>
              <a:t>I built a fresh Vite project in Cursor instead of splitting the original file line by line. Local conversion took about 2 hours 45 minutes.</a:t>
            </a:r>
          </a:p>
        </p:txBody>
      </p:sp>
      <p:sp>
        <p:nvSpPr>
          <p:cNvPr id="11" name="Rounded Rectangle 10"/>
          <p:cNvSpPr/>
          <p:nvPr/>
        </p:nvSpPr>
        <p:spPr>
          <a:xfrm>
            <a:off x="420624" y="2011680"/>
            <a:ext cx="3675887" cy="1207008"/>
          </a:xfrm>
          <a:prstGeom prst="roundRect">
            <a:avLst>
              <a:gd name="adj" fmla="val 8000"/>
            </a:avLst>
          </a:prstGeom>
          <a:solidFill>
            <a:srgbClr val="FFFFFF"/>
          </a:solidFill>
          <a:ln w="12700">
            <a:solidFill>
              <a:srgbClr val="E4DBCE"/>
            </a:solidFill>
          </a:ln>
        </p:spPr>
        <p:txBody>
          <a:bodyPr rtlCol="0" anchor="ctr"/>
          <a:lstStyle/>
          <a:p>
            <a:pPr algn="ctr"/>
          </a:p>
        </p:txBody>
      </p:sp>
      <p:sp>
        <p:nvSpPr>
          <p:cNvPr id="12" name="TextBox 11"/>
          <p:cNvSpPr txBox="1"/>
          <p:nvPr/>
        </p:nvSpPr>
        <p:spPr>
          <a:xfrm>
            <a:off x="603504" y="2157984"/>
            <a:ext cx="3291840" cy="365760"/>
          </a:xfrm>
          <a:prstGeom prst="rect">
            <a:avLst/>
          </a:prstGeom>
          <a:noFill/>
        </p:spPr>
        <p:txBody>
          <a:bodyPr wrap="square" anchor="t"/>
          <a:lstStyle/>
          <a:p>
            <a:pPr algn="l">
              <a:spcBef>
                <a:spcPts val="0"/>
              </a:spcBef>
              <a:spcAft>
                <a:spcPts val="0"/>
              </a:spcAft>
            </a:pPr>
            <a:r>
              <a:rPr sz="2000" b="1">
                <a:solidFill>
                  <a:srgbClr val="1A6A64"/>
                </a:solidFill>
                <a:latin typeface="Calibri"/>
              </a:rPr>
              <a:t>25 min</a:t>
            </a:r>
          </a:p>
        </p:txBody>
      </p:sp>
      <p:sp>
        <p:nvSpPr>
          <p:cNvPr id="13" name="TextBox 12"/>
          <p:cNvSpPr txBox="1"/>
          <p:nvPr/>
        </p:nvSpPr>
        <p:spPr>
          <a:xfrm>
            <a:off x="603504" y="2596896"/>
            <a:ext cx="3291840" cy="457200"/>
          </a:xfrm>
          <a:prstGeom prst="rect">
            <a:avLst/>
          </a:prstGeom>
          <a:noFill/>
        </p:spPr>
        <p:txBody>
          <a:bodyPr wrap="square" anchor="t"/>
          <a:lstStyle/>
          <a:p>
            <a:pPr algn="l">
              <a:spcBef>
                <a:spcPts val="0"/>
              </a:spcBef>
              <a:spcAft>
                <a:spcPts val="0"/>
              </a:spcAft>
            </a:pPr>
            <a:r>
              <a:rPr sz="1300" b="0">
                <a:solidFill>
                  <a:srgbClr val="1C222B"/>
                </a:solidFill>
                <a:latin typeface="Calibri"/>
              </a:rPr>
              <a:t>Review spec, prototype, and the rename</a:t>
            </a:r>
          </a:p>
        </p:txBody>
      </p:sp>
      <p:sp>
        <p:nvSpPr>
          <p:cNvPr id="14" name="Rounded Rectangle 13"/>
          <p:cNvSpPr/>
          <p:nvPr/>
        </p:nvSpPr>
        <p:spPr>
          <a:xfrm>
            <a:off x="4261104" y="2011680"/>
            <a:ext cx="3675887" cy="1207008"/>
          </a:xfrm>
          <a:prstGeom prst="roundRect">
            <a:avLst>
              <a:gd name="adj" fmla="val 8000"/>
            </a:avLst>
          </a:prstGeom>
          <a:solidFill>
            <a:srgbClr val="FFFFFF"/>
          </a:solidFill>
          <a:ln w="12700">
            <a:solidFill>
              <a:srgbClr val="E4DBCE"/>
            </a:solidFill>
          </a:ln>
        </p:spPr>
        <p:txBody>
          <a:bodyPr rtlCol="0" anchor="ctr"/>
          <a:lstStyle/>
          <a:p>
            <a:pPr algn="ctr"/>
          </a:p>
        </p:txBody>
      </p:sp>
      <p:sp>
        <p:nvSpPr>
          <p:cNvPr id="15" name="TextBox 14"/>
          <p:cNvSpPr txBox="1"/>
          <p:nvPr/>
        </p:nvSpPr>
        <p:spPr>
          <a:xfrm>
            <a:off x="4443984" y="2157984"/>
            <a:ext cx="3291840" cy="365760"/>
          </a:xfrm>
          <a:prstGeom prst="rect">
            <a:avLst/>
          </a:prstGeom>
          <a:noFill/>
        </p:spPr>
        <p:txBody>
          <a:bodyPr wrap="square" anchor="t"/>
          <a:lstStyle/>
          <a:p>
            <a:pPr algn="l">
              <a:spcBef>
                <a:spcPts val="0"/>
              </a:spcBef>
              <a:spcAft>
                <a:spcPts val="0"/>
              </a:spcAft>
            </a:pPr>
            <a:r>
              <a:rPr sz="2000" b="1">
                <a:solidFill>
                  <a:srgbClr val="1A6A64"/>
                </a:solidFill>
                <a:latin typeface="Calibri"/>
              </a:rPr>
              <a:t>45 min</a:t>
            </a:r>
          </a:p>
        </p:txBody>
      </p:sp>
      <p:sp>
        <p:nvSpPr>
          <p:cNvPr id="16" name="TextBox 15"/>
          <p:cNvSpPr txBox="1"/>
          <p:nvPr/>
        </p:nvSpPr>
        <p:spPr>
          <a:xfrm>
            <a:off x="4443984" y="2596896"/>
            <a:ext cx="3291840" cy="457200"/>
          </a:xfrm>
          <a:prstGeom prst="rect">
            <a:avLst/>
          </a:prstGeom>
          <a:noFill/>
        </p:spPr>
        <p:txBody>
          <a:bodyPr wrap="square" anchor="t"/>
          <a:lstStyle/>
          <a:p>
            <a:pPr algn="l">
              <a:spcBef>
                <a:spcPts val="0"/>
              </a:spcBef>
              <a:spcAft>
                <a:spcPts val="0"/>
              </a:spcAft>
            </a:pPr>
            <a:r>
              <a:rPr sz="1300" b="0">
                <a:solidFill>
                  <a:srgbClr val="1C222B"/>
                </a:solidFill>
                <a:latin typeface="Calibri"/>
              </a:rPr>
              <a:t>Scaffold Vite, routes, and components</a:t>
            </a:r>
          </a:p>
        </p:txBody>
      </p:sp>
      <p:sp>
        <p:nvSpPr>
          <p:cNvPr id="17" name="Rounded Rectangle 16"/>
          <p:cNvSpPr/>
          <p:nvPr/>
        </p:nvSpPr>
        <p:spPr>
          <a:xfrm>
            <a:off x="8101584" y="2011680"/>
            <a:ext cx="3675887" cy="1207008"/>
          </a:xfrm>
          <a:prstGeom prst="roundRect">
            <a:avLst>
              <a:gd name="adj" fmla="val 8000"/>
            </a:avLst>
          </a:prstGeom>
          <a:solidFill>
            <a:srgbClr val="FFFFFF"/>
          </a:solidFill>
          <a:ln w="12700">
            <a:solidFill>
              <a:srgbClr val="E4DBCE"/>
            </a:solidFill>
          </a:ln>
        </p:spPr>
        <p:txBody>
          <a:bodyPr rtlCol="0" anchor="ctr"/>
          <a:lstStyle/>
          <a:p>
            <a:pPr algn="ctr"/>
          </a:p>
        </p:txBody>
      </p:sp>
      <p:sp>
        <p:nvSpPr>
          <p:cNvPr id="18" name="TextBox 17"/>
          <p:cNvSpPr txBox="1"/>
          <p:nvPr/>
        </p:nvSpPr>
        <p:spPr>
          <a:xfrm>
            <a:off x="8284464" y="2157984"/>
            <a:ext cx="3291840" cy="365760"/>
          </a:xfrm>
          <a:prstGeom prst="rect">
            <a:avLst/>
          </a:prstGeom>
          <a:noFill/>
        </p:spPr>
        <p:txBody>
          <a:bodyPr wrap="square" anchor="t"/>
          <a:lstStyle/>
          <a:p>
            <a:pPr algn="l">
              <a:spcBef>
                <a:spcPts val="0"/>
              </a:spcBef>
              <a:spcAft>
                <a:spcPts val="0"/>
              </a:spcAft>
            </a:pPr>
            <a:r>
              <a:rPr sz="2000" b="1">
                <a:solidFill>
                  <a:srgbClr val="1A6A64"/>
                </a:solidFill>
                <a:latin typeface="Calibri"/>
              </a:rPr>
              <a:t>40 min</a:t>
            </a:r>
          </a:p>
        </p:txBody>
      </p:sp>
      <p:sp>
        <p:nvSpPr>
          <p:cNvPr id="19" name="TextBox 18"/>
          <p:cNvSpPr txBox="1"/>
          <p:nvPr/>
        </p:nvSpPr>
        <p:spPr>
          <a:xfrm>
            <a:off x="8284464" y="2596896"/>
            <a:ext cx="3291840" cy="457200"/>
          </a:xfrm>
          <a:prstGeom prst="rect">
            <a:avLst/>
          </a:prstGeom>
          <a:noFill/>
        </p:spPr>
        <p:txBody>
          <a:bodyPr wrap="square" anchor="t"/>
          <a:lstStyle/>
          <a:p>
            <a:pPr algn="l">
              <a:spcBef>
                <a:spcPts val="0"/>
              </a:spcBef>
              <a:spcAft>
                <a:spcPts val="0"/>
              </a:spcAft>
            </a:pPr>
            <a:r>
              <a:rPr sz="1300" b="0">
                <a:solidFill>
                  <a:srgbClr val="1C222B"/>
                </a:solidFill>
                <a:latin typeface="Calibri"/>
              </a:rPr>
              <a:t>Seed data, retrieval, evaluation cases</a:t>
            </a:r>
          </a:p>
        </p:txBody>
      </p:sp>
      <p:sp>
        <p:nvSpPr>
          <p:cNvPr id="20" name="Rounded Rectangle 19"/>
          <p:cNvSpPr/>
          <p:nvPr/>
        </p:nvSpPr>
        <p:spPr>
          <a:xfrm>
            <a:off x="420624" y="3337560"/>
            <a:ext cx="3675887" cy="1207008"/>
          </a:xfrm>
          <a:prstGeom prst="roundRect">
            <a:avLst>
              <a:gd name="adj" fmla="val 8000"/>
            </a:avLst>
          </a:prstGeom>
          <a:solidFill>
            <a:srgbClr val="FFFFFF"/>
          </a:solidFill>
          <a:ln w="12700">
            <a:solidFill>
              <a:srgbClr val="E4DBCE"/>
            </a:solidFill>
          </a:ln>
        </p:spPr>
        <p:txBody>
          <a:bodyPr rtlCol="0" anchor="ctr"/>
          <a:lstStyle/>
          <a:p>
            <a:pPr algn="ctr"/>
          </a:p>
        </p:txBody>
      </p:sp>
      <p:sp>
        <p:nvSpPr>
          <p:cNvPr id="21" name="TextBox 20"/>
          <p:cNvSpPr txBox="1"/>
          <p:nvPr/>
        </p:nvSpPr>
        <p:spPr>
          <a:xfrm>
            <a:off x="603504" y="3483864"/>
            <a:ext cx="3291840" cy="365760"/>
          </a:xfrm>
          <a:prstGeom prst="rect">
            <a:avLst/>
          </a:prstGeom>
          <a:noFill/>
        </p:spPr>
        <p:txBody>
          <a:bodyPr wrap="square" anchor="t"/>
          <a:lstStyle/>
          <a:p>
            <a:pPr algn="l">
              <a:spcBef>
                <a:spcPts val="0"/>
              </a:spcBef>
              <a:spcAft>
                <a:spcPts val="0"/>
              </a:spcAft>
            </a:pPr>
            <a:r>
              <a:rPr sz="2000" b="1">
                <a:solidFill>
                  <a:srgbClr val="1A6A64"/>
                </a:solidFill>
                <a:latin typeface="Calibri"/>
              </a:rPr>
              <a:t>20 min</a:t>
            </a:r>
          </a:p>
        </p:txBody>
      </p:sp>
      <p:sp>
        <p:nvSpPr>
          <p:cNvPr id="22" name="TextBox 21"/>
          <p:cNvSpPr txBox="1"/>
          <p:nvPr/>
        </p:nvSpPr>
        <p:spPr>
          <a:xfrm>
            <a:off x="603504" y="3922776"/>
            <a:ext cx="3291840" cy="457200"/>
          </a:xfrm>
          <a:prstGeom prst="rect">
            <a:avLst/>
          </a:prstGeom>
          <a:noFill/>
        </p:spPr>
        <p:txBody>
          <a:bodyPr wrap="square" anchor="t"/>
          <a:lstStyle/>
          <a:p>
            <a:pPr algn="l">
              <a:spcBef>
                <a:spcPts val="0"/>
              </a:spcBef>
              <a:spcAft>
                <a:spcPts val="0"/>
              </a:spcAft>
            </a:pPr>
            <a:r>
              <a:rPr sz="1300" b="0">
                <a:solidFill>
                  <a:srgbClr val="1C222B"/>
                </a:solidFill>
                <a:latin typeface="Calibri"/>
              </a:rPr>
              <a:t>Browser checks and TypeScript fixes</a:t>
            </a:r>
          </a:p>
        </p:txBody>
      </p:sp>
      <p:sp>
        <p:nvSpPr>
          <p:cNvPr id="23" name="Rounded Rectangle 22"/>
          <p:cNvSpPr/>
          <p:nvPr/>
        </p:nvSpPr>
        <p:spPr>
          <a:xfrm>
            <a:off x="4261104" y="3337560"/>
            <a:ext cx="3675887" cy="1207008"/>
          </a:xfrm>
          <a:prstGeom prst="roundRect">
            <a:avLst>
              <a:gd name="adj" fmla="val 8000"/>
            </a:avLst>
          </a:prstGeom>
          <a:solidFill>
            <a:srgbClr val="FFFFFF"/>
          </a:solidFill>
          <a:ln w="12700">
            <a:solidFill>
              <a:srgbClr val="E4DBCE"/>
            </a:solidFill>
          </a:ln>
        </p:spPr>
        <p:txBody>
          <a:bodyPr rtlCol="0" anchor="ctr"/>
          <a:lstStyle/>
          <a:p>
            <a:pPr algn="ctr"/>
          </a:p>
        </p:txBody>
      </p:sp>
      <p:sp>
        <p:nvSpPr>
          <p:cNvPr id="24" name="TextBox 23"/>
          <p:cNvSpPr txBox="1"/>
          <p:nvPr/>
        </p:nvSpPr>
        <p:spPr>
          <a:xfrm>
            <a:off x="4443984" y="3483864"/>
            <a:ext cx="3291840" cy="365760"/>
          </a:xfrm>
          <a:prstGeom prst="rect">
            <a:avLst/>
          </a:prstGeom>
          <a:noFill/>
        </p:spPr>
        <p:txBody>
          <a:bodyPr wrap="square" anchor="t"/>
          <a:lstStyle/>
          <a:p>
            <a:pPr algn="l">
              <a:spcBef>
                <a:spcPts val="0"/>
              </a:spcBef>
              <a:spcAft>
                <a:spcPts val="0"/>
              </a:spcAft>
            </a:pPr>
            <a:r>
              <a:rPr sz="2000" b="1">
                <a:solidFill>
                  <a:srgbClr val="1A6A64"/>
                </a:solidFill>
                <a:latin typeface="Calibri"/>
              </a:rPr>
              <a:t>15 min</a:t>
            </a:r>
          </a:p>
        </p:txBody>
      </p:sp>
      <p:sp>
        <p:nvSpPr>
          <p:cNvPr id="25" name="TextBox 24"/>
          <p:cNvSpPr txBox="1"/>
          <p:nvPr/>
        </p:nvSpPr>
        <p:spPr>
          <a:xfrm>
            <a:off x="4443984" y="3922776"/>
            <a:ext cx="3291840" cy="457200"/>
          </a:xfrm>
          <a:prstGeom prst="rect">
            <a:avLst/>
          </a:prstGeom>
          <a:noFill/>
        </p:spPr>
        <p:txBody>
          <a:bodyPr wrap="square" anchor="t"/>
          <a:lstStyle/>
          <a:p>
            <a:pPr algn="l">
              <a:spcBef>
                <a:spcPts val="0"/>
              </a:spcBef>
              <a:spcAft>
                <a:spcPts val="0"/>
              </a:spcAft>
            </a:pPr>
            <a:r>
              <a:rPr sz="1300" b="0">
                <a:solidFill>
                  <a:srgbClr val="1C222B"/>
                </a:solidFill>
                <a:latin typeface="Calibri"/>
              </a:rPr>
              <a:t>Code screenshots, eight PNGs</a:t>
            </a:r>
          </a:p>
        </p:txBody>
      </p:sp>
      <p:sp>
        <p:nvSpPr>
          <p:cNvPr id="26" name="Rounded Rectangle 25"/>
          <p:cNvSpPr/>
          <p:nvPr/>
        </p:nvSpPr>
        <p:spPr>
          <a:xfrm>
            <a:off x="8101584" y="3337560"/>
            <a:ext cx="3675887" cy="1207008"/>
          </a:xfrm>
          <a:prstGeom prst="roundRect">
            <a:avLst>
              <a:gd name="adj" fmla="val 8000"/>
            </a:avLst>
          </a:prstGeom>
          <a:solidFill>
            <a:srgbClr val="FFFFFF"/>
          </a:solidFill>
          <a:ln w="12700">
            <a:solidFill>
              <a:srgbClr val="E4DBCE"/>
            </a:solidFill>
          </a:ln>
        </p:spPr>
        <p:txBody>
          <a:bodyPr rtlCol="0" anchor="ctr"/>
          <a:lstStyle/>
          <a:p>
            <a:pPr algn="ctr"/>
          </a:p>
        </p:txBody>
      </p:sp>
      <p:sp>
        <p:nvSpPr>
          <p:cNvPr id="27" name="TextBox 26"/>
          <p:cNvSpPr txBox="1"/>
          <p:nvPr/>
        </p:nvSpPr>
        <p:spPr>
          <a:xfrm>
            <a:off x="8284464" y="3483864"/>
            <a:ext cx="3291840" cy="365760"/>
          </a:xfrm>
          <a:prstGeom prst="rect">
            <a:avLst/>
          </a:prstGeom>
          <a:noFill/>
        </p:spPr>
        <p:txBody>
          <a:bodyPr wrap="square" anchor="t"/>
          <a:lstStyle/>
          <a:p>
            <a:pPr algn="l">
              <a:spcBef>
                <a:spcPts val="0"/>
              </a:spcBef>
              <a:spcAft>
                <a:spcPts val="0"/>
              </a:spcAft>
            </a:pPr>
            <a:r>
              <a:rPr sz="2000" b="1">
                <a:solidFill>
                  <a:srgbClr val="1A6A64"/>
                </a:solidFill>
                <a:latin typeface="Calibri"/>
              </a:rPr>
              <a:t>20 min</a:t>
            </a:r>
          </a:p>
        </p:txBody>
      </p:sp>
      <p:sp>
        <p:nvSpPr>
          <p:cNvPr id="28" name="TextBox 27"/>
          <p:cNvSpPr txBox="1"/>
          <p:nvPr/>
        </p:nvSpPr>
        <p:spPr>
          <a:xfrm>
            <a:off x="8284464" y="3922776"/>
            <a:ext cx="3291840" cy="457200"/>
          </a:xfrm>
          <a:prstGeom prst="rect">
            <a:avLst/>
          </a:prstGeom>
          <a:noFill/>
        </p:spPr>
        <p:txBody>
          <a:bodyPr wrap="square" anchor="t"/>
          <a:lstStyle/>
          <a:p>
            <a:pPr algn="l">
              <a:spcBef>
                <a:spcPts val="0"/>
              </a:spcBef>
              <a:spcAft>
                <a:spcPts val="0"/>
              </a:spcAft>
            </a:pPr>
            <a:r>
              <a:rPr sz="1300" b="0">
                <a:solidFill>
                  <a:srgbClr val="1C222B"/>
                </a:solidFill>
                <a:latin typeface="Calibri"/>
              </a:rPr>
              <a:t>The development reflection</a:t>
            </a:r>
          </a:p>
        </p:txBody>
      </p:sp>
      <p:sp>
        <p:nvSpPr>
          <p:cNvPr id="29" name="TextBox 28"/>
          <p:cNvSpPr txBox="1"/>
          <p:nvPr/>
        </p:nvSpPr>
        <p:spPr>
          <a:xfrm>
            <a:off x="438912" y="4800600"/>
            <a:ext cx="11247120" cy="1463040"/>
          </a:xfrm>
          <a:prstGeom prst="rect">
            <a:avLst/>
          </a:prstGeom>
          <a:noFill/>
        </p:spPr>
        <p:txBody>
          <a:bodyPr wrap="square" anchor="t"/>
          <a:lstStyle/>
          <a:p>
            <a:pPr algn="l">
              <a:spcBef>
                <a:spcPts val="0"/>
              </a:spcBef>
              <a:spcAft>
                <a:spcPts val="0"/>
              </a:spcAft>
            </a:pPr>
            <a:r>
              <a:rPr sz="1500" b="0">
                <a:solidFill>
                  <a:srgbClr val="5C6570"/>
                </a:solidFill>
                <a:latin typeface="Calibri"/>
              </a:rPr>
              <a:t>Stack that actually runs: React 19, TypeScript, Vite 8, Material UI 9, React Router 7. Pages: Overview, Assistant, Controlled Documents, Evaluation, Architecture. Studies TL-301 and TL-204. More than 2,000 lines, so the code screenshots were split into eight images.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6858000"/>
          </a:xfrm>
          <a:prstGeom prst="rect">
            <a:avLst/>
          </a:prstGeom>
          <a:solidFill>
            <a:srgbClr val="F6F3EC"/>
          </a:solidFill>
          <a:ln>
            <a:noFill/>
          </a:ln>
        </p:spPr>
        <p:txBody>
          <a:bodyPr rtlCol="0" anchor="ctr"/>
          <a:lstStyle/>
          <a:p>
            <a:pPr algn="ctr"/>
          </a:p>
        </p:txBody>
      </p:sp>
      <p:sp>
        <p:nvSpPr>
          <p:cNvPr id="3" name="Rectangle 2"/>
          <p:cNvSpPr/>
          <p:nvPr/>
        </p:nvSpPr>
        <p:spPr>
          <a:xfrm>
            <a:off x="0" y="0"/>
            <a:ext cx="12198096" cy="73152"/>
          </a:xfrm>
          <a:prstGeom prst="rect">
            <a:avLst/>
          </a:prstGeom>
          <a:solidFill>
            <a:srgbClr val="1A6A64"/>
          </a:solidFill>
          <a:ln>
            <a:noFill/>
          </a:ln>
        </p:spPr>
        <p:txBody>
          <a:bodyPr rtlCol="0" anchor="ctr"/>
          <a:lstStyle/>
          <a:p>
            <a:pPr algn="ctr"/>
          </a:p>
        </p:txBody>
      </p:sp>
      <p:sp>
        <p:nvSpPr>
          <p:cNvPr id="4" name="TextBox 3"/>
          <p:cNvSpPr txBox="1"/>
          <p:nvPr/>
        </p:nvSpPr>
        <p:spPr>
          <a:xfrm>
            <a:off x="420624" y="201168"/>
            <a:ext cx="11155680" cy="256032"/>
          </a:xfrm>
          <a:prstGeom prst="rect">
            <a:avLst/>
          </a:prstGeom>
          <a:noFill/>
        </p:spPr>
        <p:txBody>
          <a:bodyPr wrap="square" anchor="t"/>
          <a:lstStyle/>
          <a:p>
            <a:pPr algn="l">
              <a:spcBef>
                <a:spcPts val="0"/>
              </a:spcBef>
              <a:spcAft>
                <a:spcPts val="0"/>
              </a:spcAft>
            </a:pPr>
            <a:r>
              <a:rPr sz="1200" b="1">
                <a:solidFill>
                  <a:srgbClr val="1A6A64"/>
                </a:solidFill>
                <a:latin typeface="Calibri"/>
              </a:rPr>
              <a:t>APPLICATION 1  ·  PHASE 3</a:t>
            </a:r>
          </a:p>
        </p:txBody>
      </p:sp>
      <p:sp>
        <p:nvSpPr>
          <p:cNvPr id="5" name="TextBox 4"/>
          <p:cNvSpPr txBox="1"/>
          <p:nvPr/>
        </p:nvSpPr>
        <p:spPr>
          <a:xfrm>
            <a:off x="420624" y="438912"/>
            <a:ext cx="11247120" cy="566928"/>
          </a:xfrm>
          <a:prstGeom prst="rect">
            <a:avLst/>
          </a:prstGeom>
          <a:noFill/>
        </p:spPr>
        <p:txBody>
          <a:bodyPr wrap="square" anchor="t"/>
          <a:lstStyle/>
          <a:p>
            <a:pPr algn="l">
              <a:spcBef>
                <a:spcPts val="0"/>
              </a:spcBef>
              <a:spcAft>
                <a:spcPts val="0"/>
              </a:spcAft>
            </a:pPr>
            <a:r>
              <a:rPr sz="2600" b="1">
                <a:solidFill>
                  <a:srgbClr val="142238"/>
                </a:solidFill>
                <a:latin typeface="Calibri"/>
              </a:rPr>
              <a:t>What the StudyCite prototype actually runs</a:t>
            </a:r>
          </a:p>
        </p:txBody>
      </p:sp>
      <p:sp>
        <p:nvSpPr>
          <p:cNvPr id="6" name="Rectangle 5"/>
          <p:cNvSpPr/>
          <p:nvPr/>
        </p:nvSpPr>
        <p:spPr>
          <a:xfrm>
            <a:off x="438912" y="1042415"/>
            <a:ext cx="1234440" cy="32004"/>
          </a:xfrm>
          <a:prstGeom prst="rect">
            <a:avLst/>
          </a:prstGeom>
          <a:solidFill>
            <a:srgbClr val="8C6A32"/>
          </a:solidFill>
          <a:ln>
            <a:noFill/>
          </a:ln>
        </p:spPr>
        <p:txBody>
          <a:bodyPr rtlCol="0" anchor="ctr"/>
          <a:lstStyle/>
          <a:p>
            <a:pPr algn="ctr"/>
          </a:p>
        </p:txBody>
      </p:sp>
      <p:sp>
        <p:nvSpPr>
          <p:cNvPr id="7" name="Rectangle 6"/>
          <p:cNvSpPr/>
          <p:nvPr/>
        </p:nvSpPr>
        <p:spPr>
          <a:xfrm>
            <a:off x="0" y="6565392"/>
            <a:ext cx="12198096" cy="13716"/>
          </a:xfrm>
          <a:prstGeom prst="rect">
            <a:avLst/>
          </a:prstGeom>
          <a:solidFill>
            <a:srgbClr val="E4DBCE"/>
          </a:solidFill>
          <a:ln>
            <a:noFill/>
          </a:ln>
        </p:spPr>
        <p:txBody>
          <a:bodyPr rtlCol="0" anchor="ctr"/>
          <a:lstStyle/>
          <a:p>
            <a:pPr algn="ctr"/>
          </a:p>
        </p:txBody>
      </p:sp>
      <p:sp>
        <p:nvSpPr>
          <p:cNvPr id="8" name="TextBox 7"/>
          <p:cNvSpPr txBox="1"/>
          <p:nvPr/>
        </p:nvSpPr>
        <p:spPr>
          <a:xfrm>
            <a:off x="420624" y="6601968"/>
            <a:ext cx="8412480" cy="237744"/>
          </a:xfrm>
          <a:prstGeom prst="rect">
            <a:avLst/>
          </a:prstGeom>
          <a:noFill/>
        </p:spPr>
        <p:txBody>
          <a:bodyPr wrap="square" anchor="ctr"/>
          <a:lstStyle/>
          <a:p>
            <a:pPr algn="l">
              <a:spcBef>
                <a:spcPts val="0"/>
              </a:spcBef>
              <a:spcAft>
                <a:spcPts val="0"/>
              </a:spcAft>
            </a:pPr>
            <a:r>
              <a:rPr sz="1100" b="0">
                <a:solidFill>
                  <a:srgbClr val="5C6570"/>
                </a:solidFill>
                <a:latin typeface="Calibri"/>
              </a:rPr>
              <a:t>Pu Zeng  ·  StudyCite and BiteWise</a:t>
            </a:r>
          </a:p>
        </p:txBody>
      </p:sp>
      <p:sp>
        <p:nvSpPr>
          <p:cNvPr id="9" name="TextBox 8"/>
          <p:cNvSpPr txBox="1"/>
          <p:nvPr/>
        </p:nvSpPr>
        <p:spPr>
          <a:xfrm>
            <a:off x="9509760" y="6601968"/>
            <a:ext cx="2267712" cy="237744"/>
          </a:xfrm>
          <a:prstGeom prst="rect">
            <a:avLst/>
          </a:prstGeom>
          <a:noFill/>
        </p:spPr>
        <p:txBody>
          <a:bodyPr wrap="square" anchor="ctr"/>
          <a:lstStyle/>
          <a:p>
            <a:pPr algn="r">
              <a:spcBef>
                <a:spcPts val="0"/>
              </a:spcBef>
              <a:spcAft>
                <a:spcPts val="0"/>
              </a:spcAft>
            </a:pPr>
            <a:r>
              <a:rPr sz="1100" b="0">
                <a:solidFill>
                  <a:srgbClr val="5C6570"/>
                </a:solidFill>
                <a:latin typeface="Calibri"/>
              </a:rPr>
              <a:t>8   /   24</a:t>
            </a:r>
          </a:p>
        </p:txBody>
      </p:sp>
      <p:sp>
        <p:nvSpPr>
          <p:cNvPr id="10" name="Rounded Rectangle 9"/>
          <p:cNvSpPr/>
          <p:nvPr/>
        </p:nvSpPr>
        <p:spPr>
          <a:xfrm>
            <a:off x="365760" y="1325880"/>
            <a:ext cx="2638044" cy="1783080"/>
          </a:xfrm>
          <a:prstGeom prst="roundRect">
            <a:avLst>
              <a:gd name="adj" fmla="val 10000"/>
            </a:avLst>
          </a:prstGeom>
          <a:solidFill>
            <a:srgbClr val="FFFFFF"/>
          </a:solidFill>
          <a:ln>
            <a:noFill/>
          </a:ln>
        </p:spPr>
        <p:txBody>
          <a:bodyPr rtlCol="0" anchor="ctr"/>
          <a:lstStyle/>
          <a:p>
            <a:pPr algn="ctr"/>
          </a:p>
        </p:txBody>
      </p:sp>
      <p:sp>
        <p:nvSpPr>
          <p:cNvPr id="11" name="TextBox 10"/>
          <p:cNvSpPr txBox="1"/>
          <p:nvPr/>
        </p:nvSpPr>
        <p:spPr>
          <a:xfrm>
            <a:off x="457200" y="1435607"/>
            <a:ext cx="2455163" cy="502920"/>
          </a:xfrm>
          <a:prstGeom prst="rect">
            <a:avLst/>
          </a:prstGeom>
          <a:noFill/>
        </p:spPr>
        <p:txBody>
          <a:bodyPr wrap="square" anchor="t"/>
          <a:lstStyle/>
          <a:p>
            <a:pPr algn="ctr">
              <a:spcBef>
                <a:spcPts val="0"/>
              </a:spcBef>
              <a:spcAft>
                <a:spcPts val="0"/>
              </a:spcAft>
            </a:pPr>
            <a:r>
              <a:rPr sz="1300" b="1">
                <a:solidFill>
                  <a:srgbClr val="142238"/>
                </a:solidFill>
                <a:latin typeface="Calibri"/>
              </a:rPr>
              <a:t>Role and study</a:t>
            </a:r>
          </a:p>
        </p:txBody>
      </p:sp>
      <p:sp>
        <p:nvSpPr>
          <p:cNvPr id="12" name="TextBox 11"/>
          <p:cNvSpPr txBox="1"/>
          <p:nvPr/>
        </p:nvSpPr>
        <p:spPr>
          <a:xfrm>
            <a:off x="457200" y="1947672"/>
            <a:ext cx="2455163" cy="1051560"/>
          </a:xfrm>
          <a:prstGeom prst="rect">
            <a:avLst/>
          </a:prstGeom>
          <a:noFill/>
        </p:spPr>
        <p:txBody>
          <a:bodyPr wrap="square" anchor="t"/>
          <a:lstStyle/>
          <a:p>
            <a:pPr algn="ctr">
              <a:spcBef>
                <a:spcPts val="0"/>
              </a:spcBef>
              <a:spcAft>
                <a:spcPts val="0"/>
              </a:spcAft>
            </a:pPr>
            <a:r>
              <a:rPr sz="1200" b="0">
                <a:solidFill>
                  <a:srgbClr val="5C6570"/>
                </a:solidFill>
                <a:latin typeface="Calibri"/>
              </a:rPr>
              <a:t>ClinOps, CRA, scientist, coordinator, or programmer. TL-301 or TL-204.</a:t>
            </a:r>
          </a:p>
        </p:txBody>
      </p:sp>
      <p:sp>
        <p:nvSpPr>
          <p:cNvPr id="13" name="Right Arrow 12"/>
          <p:cNvSpPr/>
          <p:nvPr/>
        </p:nvSpPr>
        <p:spPr>
          <a:xfrm>
            <a:off x="3049523" y="2153412"/>
            <a:ext cx="201168" cy="128016"/>
          </a:xfrm>
          <a:prstGeom prst="rightArrow">
            <a:avLst/>
          </a:prstGeom>
          <a:solidFill>
            <a:srgbClr val="8C6A32"/>
          </a:solidFill>
          <a:ln>
            <a:noFill/>
          </a:ln>
        </p:spPr>
        <p:txBody>
          <a:bodyPr rtlCol="0" anchor="ctr"/>
          <a:lstStyle/>
          <a:p>
            <a:pPr algn="ctr"/>
          </a:p>
        </p:txBody>
      </p:sp>
      <p:sp>
        <p:nvSpPr>
          <p:cNvPr id="14" name="Rounded Rectangle 13"/>
          <p:cNvSpPr/>
          <p:nvPr/>
        </p:nvSpPr>
        <p:spPr>
          <a:xfrm>
            <a:off x="3296411" y="1325880"/>
            <a:ext cx="2638044" cy="1783080"/>
          </a:xfrm>
          <a:prstGeom prst="roundRect">
            <a:avLst>
              <a:gd name="adj" fmla="val 10000"/>
            </a:avLst>
          </a:prstGeom>
          <a:solidFill>
            <a:srgbClr val="FFFFFF"/>
          </a:solidFill>
          <a:ln>
            <a:noFill/>
          </a:ln>
        </p:spPr>
        <p:txBody>
          <a:bodyPr rtlCol="0" anchor="ctr"/>
          <a:lstStyle/>
          <a:p>
            <a:pPr algn="ctr"/>
          </a:p>
        </p:txBody>
      </p:sp>
      <p:sp>
        <p:nvSpPr>
          <p:cNvPr id="15" name="TextBox 14"/>
          <p:cNvSpPr txBox="1"/>
          <p:nvPr/>
        </p:nvSpPr>
        <p:spPr>
          <a:xfrm>
            <a:off x="3387851" y="1435607"/>
            <a:ext cx="2455163" cy="502920"/>
          </a:xfrm>
          <a:prstGeom prst="rect">
            <a:avLst/>
          </a:prstGeom>
          <a:noFill/>
        </p:spPr>
        <p:txBody>
          <a:bodyPr wrap="square" anchor="t"/>
          <a:lstStyle/>
          <a:p>
            <a:pPr algn="ctr">
              <a:spcBef>
                <a:spcPts val="0"/>
              </a:spcBef>
              <a:spcAft>
                <a:spcPts val="0"/>
              </a:spcAft>
            </a:pPr>
            <a:r>
              <a:rPr sz="1300" b="1">
                <a:solidFill>
                  <a:srgbClr val="142238"/>
                </a:solidFill>
                <a:latin typeface="Calibri"/>
              </a:rPr>
              <a:t>Approved chunks</a:t>
            </a:r>
          </a:p>
        </p:txBody>
      </p:sp>
      <p:sp>
        <p:nvSpPr>
          <p:cNvPr id="16" name="TextBox 15"/>
          <p:cNvSpPr txBox="1"/>
          <p:nvPr/>
        </p:nvSpPr>
        <p:spPr>
          <a:xfrm>
            <a:off x="3387851" y="1947672"/>
            <a:ext cx="2455163" cy="1051560"/>
          </a:xfrm>
          <a:prstGeom prst="rect">
            <a:avLst/>
          </a:prstGeom>
          <a:noFill/>
        </p:spPr>
        <p:txBody>
          <a:bodyPr wrap="square" anchor="t"/>
          <a:lstStyle/>
          <a:p>
            <a:pPr algn="ctr">
              <a:spcBef>
                <a:spcPts val="0"/>
              </a:spcBef>
              <a:spcAft>
                <a:spcPts val="0"/>
              </a:spcAft>
            </a:pPr>
            <a:r>
              <a:rPr sz="1200" b="0">
                <a:solidFill>
                  <a:srgbClr val="5C6570"/>
                </a:solidFill>
                <a:latin typeface="Calibri"/>
              </a:rPr>
              <a:t>Seed passages for that study only. Draft uploads stay out.</a:t>
            </a:r>
          </a:p>
        </p:txBody>
      </p:sp>
      <p:sp>
        <p:nvSpPr>
          <p:cNvPr id="17" name="Right Arrow 16"/>
          <p:cNvSpPr/>
          <p:nvPr/>
        </p:nvSpPr>
        <p:spPr>
          <a:xfrm>
            <a:off x="5980175" y="2153412"/>
            <a:ext cx="201168" cy="128016"/>
          </a:xfrm>
          <a:prstGeom prst="rightArrow">
            <a:avLst/>
          </a:prstGeom>
          <a:solidFill>
            <a:srgbClr val="8C6A32"/>
          </a:solidFill>
          <a:ln>
            <a:noFill/>
          </a:ln>
        </p:spPr>
        <p:txBody>
          <a:bodyPr rtlCol="0" anchor="ctr"/>
          <a:lstStyle/>
          <a:p>
            <a:pPr algn="ctr"/>
          </a:p>
        </p:txBody>
      </p:sp>
      <p:sp>
        <p:nvSpPr>
          <p:cNvPr id="18" name="Rounded Rectangle 17"/>
          <p:cNvSpPr/>
          <p:nvPr/>
        </p:nvSpPr>
        <p:spPr>
          <a:xfrm>
            <a:off x="6227064" y="1325880"/>
            <a:ext cx="2638044" cy="1783080"/>
          </a:xfrm>
          <a:prstGeom prst="roundRect">
            <a:avLst>
              <a:gd name="adj" fmla="val 10000"/>
            </a:avLst>
          </a:prstGeom>
          <a:solidFill>
            <a:srgbClr val="FFFFFF"/>
          </a:solidFill>
          <a:ln>
            <a:noFill/>
          </a:ln>
        </p:spPr>
        <p:txBody>
          <a:bodyPr rtlCol="0" anchor="ctr"/>
          <a:lstStyle/>
          <a:p>
            <a:pPr algn="ctr"/>
          </a:p>
        </p:txBody>
      </p:sp>
      <p:sp>
        <p:nvSpPr>
          <p:cNvPr id="19" name="TextBox 18"/>
          <p:cNvSpPr txBox="1"/>
          <p:nvPr/>
        </p:nvSpPr>
        <p:spPr>
          <a:xfrm>
            <a:off x="6318503" y="1435607"/>
            <a:ext cx="2455163" cy="502920"/>
          </a:xfrm>
          <a:prstGeom prst="rect">
            <a:avLst/>
          </a:prstGeom>
          <a:noFill/>
        </p:spPr>
        <p:txBody>
          <a:bodyPr wrap="square" anchor="t"/>
          <a:lstStyle/>
          <a:p>
            <a:pPr algn="ctr">
              <a:spcBef>
                <a:spcPts val="0"/>
              </a:spcBef>
              <a:spcAft>
                <a:spcPts val="0"/>
              </a:spcAft>
            </a:pPr>
            <a:r>
              <a:rPr sz="1300" b="1">
                <a:solidFill>
                  <a:srgbClr val="142238"/>
                </a:solidFill>
                <a:latin typeface="Calibri"/>
              </a:rPr>
              <a:t>Retrieve, then rerank</a:t>
            </a:r>
          </a:p>
        </p:txBody>
      </p:sp>
      <p:sp>
        <p:nvSpPr>
          <p:cNvPr id="20" name="TextBox 19"/>
          <p:cNvSpPr txBox="1"/>
          <p:nvPr/>
        </p:nvSpPr>
        <p:spPr>
          <a:xfrm>
            <a:off x="6318503" y="1947672"/>
            <a:ext cx="2455163" cy="1051560"/>
          </a:xfrm>
          <a:prstGeom prst="rect">
            <a:avLst/>
          </a:prstGeom>
          <a:noFill/>
        </p:spPr>
        <p:txBody>
          <a:bodyPr wrap="square" anchor="t"/>
          <a:lstStyle/>
          <a:p>
            <a:pPr algn="ctr">
              <a:spcBef>
                <a:spcPts val="0"/>
              </a:spcBef>
              <a:spcAft>
                <a:spcPts val="0"/>
              </a:spcAft>
            </a:pPr>
            <a:r>
              <a:rPr sz="1200" b="0">
                <a:solidFill>
                  <a:srgbClr val="5C6570"/>
                </a:solidFill>
                <a:latin typeface="Calibri"/>
              </a:rPr>
              <a:t>ragService.ts in the browser. No separate API.</a:t>
            </a:r>
          </a:p>
        </p:txBody>
      </p:sp>
      <p:sp>
        <p:nvSpPr>
          <p:cNvPr id="21" name="Right Arrow 20"/>
          <p:cNvSpPr/>
          <p:nvPr/>
        </p:nvSpPr>
        <p:spPr>
          <a:xfrm>
            <a:off x="8910828" y="2153412"/>
            <a:ext cx="201168" cy="128016"/>
          </a:xfrm>
          <a:prstGeom prst="rightArrow">
            <a:avLst/>
          </a:prstGeom>
          <a:solidFill>
            <a:srgbClr val="8C6A32"/>
          </a:solidFill>
          <a:ln>
            <a:noFill/>
          </a:ln>
        </p:spPr>
        <p:txBody>
          <a:bodyPr rtlCol="0" anchor="ctr"/>
          <a:lstStyle/>
          <a:p>
            <a:pPr algn="ctr"/>
          </a:p>
        </p:txBody>
      </p:sp>
      <p:sp>
        <p:nvSpPr>
          <p:cNvPr id="22" name="Rounded Rectangle 21"/>
          <p:cNvSpPr/>
          <p:nvPr/>
        </p:nvSpPr>
        <p:spPr>
          <a:xfrm>
            <a:off x="9157715" y="1325880"/>
            <a:ext cx="2638044" cy="1783080"/>
          </a:xfrm>
          <a:prstGeom prst="roundRect">
            <a:avLst>
              <a:gd name="adj" fmla="val 10000"/>
            </a:avLst>
          </a:prstGeom>
          <a:solidFill>
            <a:srgbClr val="FFFFFF"/>
          </a:solidFill>
          <a:ln>
            <a:noFill/>
          </a:ln>
        </p:spPr>
        <p:txBody>
          <a:bodyPr rtlCol="0" anchor="ctr"/>
          <a:lstStyle/>
          <a:p>
            <a:pPr algn="ctr"/>
          </a:p>
        </p:txBody>
      </p:sp>
      <p:sp>
        <p:nvSpPr>
          <p:cNvPr id="23" name="TextBox 22"/>
          <p:cNvSpPr txBox="1"/>
          <p:nvPr/>
        </p:nvSpPr>
        <p:spPr>
          <a:xfrm>
            <a:off x="9249155" y="1435607"/>
            <a:ext cx="2455163" cy="502920"/>
          </a:xfrm>
          <a:prstGeom prst="rect">
            <a:avLst/>
          </a:prstGeom>
          <a:noFill/>
        </p:spPr>
        <p:txBody>
          <a:bodyPr wrap="square" anchor="t"/>
          <a:lstStyle/>
          <a:p>
            <a:pPr algn="ctr">
              <a:spcBef>
                <a:spcPts val="0"/>
              </a:spcBef>
              <a:spcAft>
                <a:spcPts val="0"/>
              </a:spcAft>
            </a:pPr>
            <a:r>
              <a:rPr sz="1300" b="1">
                <a:solidFill>
                  <a:srgbClr val="142238"/>
                </a:solidFill>
                <a:latin typeface="Calibri"/>
              </a:rPr>
              <a:t>Cite or abstain</a:t>
            </a:r>
          </a:p>
        </p:txBody>
      </p:sp>
      <p:sp>
        <p:nvSpPr>
          <p:cNvPr id="24" name="TextBox 23"/>
          <p:cNvSpPr txBox="1"/>
          <p:nvPr/>
        </p:nvSpPr>
        <p:spPr>
          <a:xfrm>
            <a:off x="9249155" y="1947672"/>
            <a:ext cx="2455163" cy="1051560"/>
          </a:xfrm>
          <a:prstGeom prst="rect">
            <a:avLst/>
          </a:prstGeom>
          <a:noFill/>
        </p:spPr>
        <p:txBody>
          <a:bodyPr wrap="square" anchor="t"/>
          <a:lstStyle/>
          <a:p>
            <a:pPr algn="ctr">
              <a:spcBef>
                <a:spcPts val="0"/>
              </a:spcBef>
              <a:spcAft>
                <a:spcPts val="0"/>
              </a:spcAft>
            </a:pPr>
            <a:r>
              <a:rPr sz="1200" b="0">
                <a:solidFill>
                  <a:srgbClr val="5C6570"/>
                </a:solidFill>
                <a:latin typeface="Calibri"/>
              </a:rPr>
              <a:t>Source drawer with version and page, or a refusal.</a:t>
            </a:r>
          </a:p>
        </p:txBody>
      </p:sp>
      <p:sp>
        <p:nvSpPr>
          <p:cNvPr id="25" name="Rounded Rectangle 24"/>
          <p:cNvSpPr/>
          <p:nvPr/>
        </p:nvSpPr>
        <p:spPr>
          <a:xfrm>
            <a:off x="420624" y="3383280"/>
            <a:ext cx="2788920" cy="1965960"/>
          </a:xfrm>
          <a:prstGeom prst="roundRect">
            <a:avLst>
              <a:gd name="adj" fmla="val 8000"/>
            </a:avLst>
          </a:prstGeom>
          <a:solidFill>
            <a:srgbClr val="E7F3F1"/>
          </a:solidFill>
          <a:ln w="12700">
            <a:solidFill>
              <a:srgbClr val="E4DBCE"/>
            </a:solidFill>
          </a:ln>
        </p:spPr>
        <p:txBody>
          <a:bodyPr rtlCol="0" anchor="ctr"/>
          <a:lstStyle/>
          <a:p>
            <a:pPr algn="ctr"/>
          </a:p>
        </p:txBody>
      </p:sp>
      <p:sp>
        <p:nvSpPr>
          <p:cNvPr id="26" name="TextBox 25"/>
          <p:cNvSpPr txBox="1"/>
          <p:nvPr/>
        </p:nvSpPr>
        <p:spPr>
          <a:xfrm>
            <a:off x="566928" y="3511296"/>
            <a:ext cx="2514600" cy="548640"/>
          </a:xfrm>
          <a:prstGeom prst="rect">
            <a:avLst/>
          </a:prstGeom>
          <a:noFill/>
        </p:spPr>
        <p:txBody>
          <a:bodyPr wrap="square" anchor="t"/>
          <a:lstStyle/>
          <a:p>
            <a:pPr algn="l">
              <a:spcBef>
                <a:spcPts val="0"/>
              </a:spcBef>
              <a:spcAft>
                <a:spcPts val="0"/>
              </a:spcAft>
            </a:pPr>
            <a:r>
              <a:rPr sz="1400" b="1">
                <a:solidFill>
                  <a:srgbClr val="142238"/>
                </a:solidFill>
                <a:latin typeface="Calibri"/>
              </a:rPr>
              <a:t>No server in this MVP</a:t>
            </a:r>
          </a:p>
        </p:txBody>
      </p:sp>
      <p:sp>
        <p:nvSpPr>
          <p:cNvPr id="27" name="TextBox 26"/>
          <p:cNvSpPr txBox="1"/>
          <p:nvPr/>
        </p:nvSpPr>
        <p:spPr>
          <a:xfrm>
            <a:off x="566928" y="4114800"/>
            <a:ext cx="2514600" cy="1051560"/>
          </a:xfrm>
          <a:prstGeom prst="rect">
            <a:avLst/>
          </a:prstGeom>
          <a:noFill/>
        </p:spPr>
        <p:txBody>
          <a:bodyPr wrap="square" anchor="t"/>
          <a:lstStyle/>
          <a:p>
            <a:pPr algn="l">
              <a:spcBef>
                <a:spcPts val="0"/>
              </a:spcBef>
              <a:spcAft>
                <a:spcPts val="0"/>
              </a:spcAft>
            </a:pPr>
            <a:r>
              <a:rPr sz="1300" b="0">
                <a:solidFill>
                  <a:srgbClr val="1C222B"/>
                </a:solidFill>
                <a:latin typeface="Calibri"/>
              </a:rPr>
              <a:t>Retrieval is in memory. There is no SQL database and no API key in the repository.</a:t>
            </a:r>
          </a:p>
        </p:txBody>
      </p:sp>
      <p:sp>
        <p:nvSpPr>
          <p:cNvPr id="28" name="Rounded Rectangle 27"/>
          <p:cNvSpPr/>
          <p:nvPr/>
        </p:nvSpPr>
        <p:spPr>
          <a:xfrm>
            <a:off x="3346704" y="3383280"/>
            <a:ext cx="2788920" cy="1965960"/>
          </a:xfrm>
          <a:prstGeom prst="roundRect">
            <a:avLst>
              <a:gd name="adj" fmla="val 8000"/>
            </a:avLst>
          </a:prstGeom>
          <a:solidFill>
            <a:srgbClr val="E7F3F1"/>
          </a:solidFill>
          <a:ln w="12700">
            <a:solidFill>
              <a:srgbClr val="E4DBCE"/>
            </a:solidFill>
          </a:ln>
        </p:spPr>
        <p:txBody>
          <a:bodyPr rtlCol="0" anchor="ctr"/>
          <a:lstStyle/>
          <a:p>
            <a:pPr algn="ctr"/>
          </a:p>
        </p:txBody>
      </p:sp>
      <p:sp>
        <p:nvSpPr>
          <p:cNvPr id="29" name="TextBox 28"/>
          <p:cNvSpPr txBox="1"/>
          <p:nvPr/>
        </p:nvSpPr>
        <p:spPr>
          <a:xfrm>
            <a:off x="3493008" y="3511296"/>
            <a:ext cx="2514600" cy="548640"/>
          </a:xfrm>
          <a:prstGeom prst="rect">
            <a:avLst/>
          </a:prstGeom>
          <a:noFill/>
        </p:spPr>
        <p:txBody>
          <a:bodyPr wrap="square" anchor="t"/>
          <a:lstStyle/>
          <a:p>
            <a:pPr algn="l">
              <a:spcBef>
                <a:spcPts val="0"/>
              </a:spcBef>
              <a:spcAft>
                <a:spcPts val="0"/>
              </a:spcAft>
            </a:pPr>
            <a:r>
              <a:rPr sz="1400" b="1">
                <a:solidFill>
                  <a:srgbClr val="142238"/>
                </a:solidFill>
                <a:latin typeface="Calibri"/>
              </a:rPr>
              <a:t>Authorization first</a:t>
            </a:r>
          </a:p>
        </p:txBody>
      </p:sp>
      <p:sp>
        <p:nvSpPr>
          <p:cNvPr id="30" name="TextBox 29"/>
          <p:cNvSpPr txBox="1"/>
          <p:nvPr/>
        </p:nvSpPr>
        <p:spPr>
          <a:xfrm>
            <a:off x="3493008" y="4114800"/>
            <a:ext cx="2514600" cy="1051560"/>
          </a:xfrm>
          <a:prstGeom prst="rect">
            <a:avLst/>
          </a:prstGeom>
          <a:noFill/>
        </p:spPr>
        <p:txBody>
          <a:bodyPr wrap="square" anchor="t"/>
          <a:lstStyle/>
          <a:p>
            <a:pPr algn="l">
              <a:spcBef>
                <a:spcPts val="0"/>
              </a:spcBef>
              <a:spcAft>
                <a:spcPts val="0"/>
              </a:spcAft>
            </a:pPr>
            <a:r>
              <a:rPr sz="1300" b="0">
                <a:solidFill>
                  <a:srgbClr val="1C222B"/>
                </a:solidFill>
                <a:latin typeface="Calibri"/>
              </a:rPr>
              <a:t>setStudyId returns false unless the role may open that study. Coordinators stay on TL-301.</a:t>
            </a:r>
          </a:p>
        </p:txBody>
      </p:sp>
      <p:sp>
        <p:nvSpPr>
          <p:cNvPr id="31" name="Rounded Rectangle 30"/>
          <p:cNvSpPr/>
          <p:nvPr/>
        </p:nvSpPr>
        <p:spPr>
          <a:xfrm>
            <a:off x="6272784" y="3383280"/>
            <a:ext cx="2788920" cy="1965960"/>
          </a:xfrm>
          <a:prstGeom prst="roundRect">
            <a:avLst>
              <a:gd name="adj" fmla="val 8000"/>
            </a:avLst>
          </a:prstGeom>
          <a:solidFill>
            <a:srgbClr val="E7F3F1"/>
          </a:solidFill>
          <a:ln w="12700">
            <a:solidFill>
              <a:srgbClr val="E4DBCE"/>
            </a:solidFill>
          </a:ln>
        </p:spPr>
        <p:txBody>
          <a:bodyPr rtlCol="0" anchor="ctr"/>
          <a:lstStyle/>
          <a:p>
            <a:pPr algn="ctr"/>
          </a:p>
        </p:txBody>
      </p:sp>
      <p:sp>
        <p:nvSpPr>
          <p:cNvPr id="32" name="TextBox 31"/>
          <p:cNvSpPr txBox="1"/>
          <p:nvPr/>
        </p:nvSpPr>
        <p:spPr>
          <a:xfrm>
            <a:off x="6419088" y="3511296"/>
            <a:ext cx="2514600" cy="548640"/>
          </a:xfrm>
          <a:prstGeom prst="rect">
            <a:avLst/>
          </a:prstGeom>
          <a:noFill/>
        </p:spPr>
        <p:txBody>
          <a:bodyPr wrap="square" anchor="t"/>
          <a:lstStyle/>
          <a:p>
            <a:pPr algn="l">
              <a:spcBef>
                <a:spcPts val="0"/>
              </a:spcBef>
              <a:spcAft>
                <a:spcPts val="0"/>
              </a:spcAft>
            </a:pPr>
            <a:r>
              <a:rPr sz="1400" b="1">
                <a:solidFill>
                  <a:srgbClr val="142238"/>
                </a:solidFill>
                <a:latin typeface="Calibri"/>
              </a:rPr>
              <a:t>Five routes</a:t>
            </a:r>
          </a:p>
        </p:txBody>
      </p:sp>
      <p:sp>
        <p:nvSpPr>
          <p:cNvPr id="33" name="TextBox 32"/>
          <p:cNvSpPr txBox="1"/>
          <p:nvPr/>
        </p:nvSpPr>
        <p:spPr>
          <a:xfrm>
            <a:off x="6419088" y="4114800"/>
            <a:ext cx="2514600" cy="1051560"/>
          </a:xfrm>
          <a:prstGeom prst="rect">
            <a:avLst/>
          </a:prstGeom>
          <a:noFill/>
        </p:spPr>
        <p:txBody>
          <a:bodyPr wrap="square" anchor="t"/>
          <a:lstStyle/>
          <a:p>
            <a:pPr algn="l">
              <a:spcBef>
                <a:spcPts val="0"/>
              </a:spcBef>
              <a:spcAft>
                <a:spcPts val="0"/>
              </a:spcAft>
            </a:pPr>
            <a:r>
              <a:rPr sz="1300" b="0">
                <a:solidFill>
                  <a:srgbClr val="1C222B"/>
                </a:solidFill>
                <a:latin typeface="Calibri"/>
              </a:rPr>
              <a:t>Overview, Assistant, Controlled Documents, Evaluation, and the six-phase Architecture page.</a:t>
            </a:r>
          </a:p>
        </p:txBody>
      </p:sp>
      <p:sp>
        <p:nvSpPr>
          <p:cNvPr id="34" name="Rounded Rectangle 33"/>
          <p:cNvSpPr/>
          <p:nvPr/>
        </p:nvSpPr>
        <p:spPr>
          <a:xfrm>
            <a:off x="9198864" y="3383280"/>
            <a:ext cx="2788920" cy="1965960"/>
          </a:xfrm>
          <a:prstGeom prst="roundRect">
            <a:avLst>
              <a:gd name="adj" fmla="val 8000"/>
            </a:avLst>
          </a:prstGeom>
          <a:solidFill>
            <a:srgbClr val="E7F3F1"/>
          </a:solidFill>
          <a:ln w="12700">
            <a:solidFill>
              <a:srgbClr val="E4DBCE"/>
            </a:solidFill>
          </a:ln>
        </p:spPr>
        <p:txBody>
          <a:bodyPr rtlCol="0" anchor="ctr"/>
          <a:lstStyle/>
          <a:p>
            <a:pPr algn="ctr"/>
          </a:p>
        </p:txBody>
      </p:sp>
      <p:sp>
        <p:nvSpPr>
          <p:cNvPr id="35" name="TextBox 34"/>
          <p:cNvSpPr txBox="1"/>
          <p:nvPr/>
        </p:nvSpPr>
        <p:spPr>
          <a:xfrm>
            <a:off x="9345168" y="3511296"/>
            <a:ext cx="2514600" cy="548640"/>
          </a:xfrm>
          <a:prstGeom prst="rect">
            <a:avLst/>
          </a:prstGeom>
          <a:noFill/>
        </p:spPr>
        <p:txBody>
          <a:bodyPr wrap="square" anchor="t"/>
          <a:lstStyle/>
          <a:p>
            <a:pPr algn="l">
              <a:spcBef>
                <a:spcPts val="0"/>
              </a:spcBef>
              <a:spcAft>
                <a:spcPts val="0"/>
              </a:spcAft>
            </a:pPr>
            <a:r>
              <a:rPr sz="1400" b="1">
                <a:solidFill>
                  <a:srgbClr val="142238"/>
                </a:solidFill>
                <a:latin typeface="Calibri"/>
              </a:rPr>
              <a:t>100-document cap</a:t>
            </a:r>
          </a:p>
        </p:txBody>
      </p:sp>
      <p:sp>
        <p:nvSpPr>
          <p:cNvPr id="36" name="TextBox 35"/>
          <p:cNvSpPr txBox="1"/>
          <p:nvPr/>
        </p:nvSpPr>
        <p:spPr>
          <a:xfrm>
            <a:off x="9345168" y="4114800"/>
            <a:ext cx="2514600" cy="1051560"/>
          </a:xfrm>
          <a:prstGeom prst="rect">
            <a:avLst/>
          </a:prstGeom>
          <a:noFill/>
        </p:spPr>
        <p:txBody>
          <a:bodyPr wrap="square" anchor="t"/>
          <a:lstStyle/>
          <a:p>
            <a:pPr algn="l">
              <a:spcBef>
                <a:spcPts val="0"/>
              </a:spcBef>
              <a:spcAft>
                <a:spcPts val="0"/>
              </a:spcAft>
            </a:pPr>
            <a:r>
              <a:rPr sz="1300" b="0">
                <a:solidFill>
                  <a:srgbClr val="1C222B"/>
                </a:solidFill>
                <a:latin typeface="Calibri"/>
              </a:rPr>
              <a:t>English text. Uploads index as Draft and are not used for answers.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6858000"/>
          </a:xfrm>
          <a:prstGeom prst="rect">
            <a:avLst/>
          </a:prstGeom>
          <a:solidFill>
            <a:srgbClr val="F6F3EC"/>
          </a:solidFill>
          <a:ln>
            <a:noFill/>
          </a:ln>
        </p:spPr>
        <p:txBody>
          <a:bodyPr rtlCol="0" anchor="ctr"/>
          <a:lstStyle/>
          <a:p>
            <a:pPr algn="ctr"/>
          </a:p>
        </p:txBody>
      </p:sp>
      <p:sp>
        <p:nvSpPr>
          <p:cNvPr id="3" name="Rectangle 2"/>
          <p:cNvSpPr/>
          <p:nvPr/>
        </p:nvSpPr>
        <p:spPr>
          <a:xfrm>
            <a:off x="0" y="0"/>
            <a:ext cx="12198096" cy="73152"/>
          </a:xfrm>
          <a:prstGeom prst="rect">
            <a:avLst/>
          </a:prstGeom>
          <a:solidFill>
            <a:srgbClr val="1A6A64"/>
          </a:solidFill>
          <a:ln>
            <a:noFill/>
          </a:ln>
        </p:spPr>
        <p:txBody>
          <a:bodyPr rtlCol="0" anchor="ctr"/>
          <a:lstStyle/>
          <a:p>
            <a:pPr algn="ctr"/>
          </a:p>
        </p:txBody>
      </p:sp>
      <p:sp>
        <p:nvSpPr>
          <p:cNvPr id="4" name="TextBox 3"/>
          <p:cNvSpPr txBox="1"/>
          <p:nvPr/>
        </p:nvSpPr>
        <p:spPr>
          <a:xfrm>
            <a:off x="420624" y="201168"/>
            <a:ext cx="11155680" cy="256032"/>
          </a:xfrm>
          <a:prstGeom prst="rect">
            <a:avLst/>
          </a:prstGeom>
          <a:noFill/>
        </p:spPr>
        <p:txBody>
          <a:bodyPr wrap="square" anchor="t"/>
          <a:lstStyle/>
          <a:p>
            <a:pPr algn="l">
              <a:spcBef>
                <a:spcPts val="0"/>
              </a:spcBef>
              <a:spcAft>
                <a:spcPts val="0"/>
              </a:spcAft>
            </a:pPr>
            <a:r>
              <a:rPr sz="1200" b="1">
                <a:solidFill>
                  <a:srgbClr val="1A6A64"/>
                </a:solidFill>
                <a:latin typeface="Calibri"/>
              </a:rPr>
              <a:t>APPLICATION 1  ·  PHASE 4</a:t>
            </a:r>
          </a:p>
        </p:txBody>
      </p:sp>
      <p:sp>
        <p:nvSpPr>
          <p:cNvPr id="5" name="TextBox 4"/>
          <p:cNvSpPr txBox="1"/>
          <p:nvPr/>
        </p:nvSpPr>
        <p:spPr>
          <a:xfrm>
            <a:off x="420624" y="438912"/>
            <a:ext cx="11247120" cy="566928"/>
          </a:xfrm>
          <a:prstGeom prst="rect">
            <a:avLst/>
          </a:prstGeom>
          <a:noFill/>
        </p:spPr>
        <p:txBody>
          <a:bodyPr wrap="square" anchor="t"/>
          <a:lstStyle/>
          <a:p>
            <a:pPr algn="l">
              <a:spcBef>
                <a:spcPts val="0"/>
              </a:spcBef>
              <a:spcAft>
                <a:spcPts val="0"/>
              </a:spcAft>
            </a:pPr>
            <a:r>
              <a:rPr sz="2800" b="1">
                <a:solidFill>
                  <a:srgbClr val="142238"/>
                </a:solidFill>
                <a:latin typeface="Calibri"/>
              </a:rPr>
              <a:t>Responsible AI and the security pass</a:t>
            </a:r>
          </a:p>
        </p:txBody>
      </p:sp>
      <p:sp>
        <p:nvSpPr>
          <p:cNvPr id="6" name="Rectangle 5"/>
          <p:cNvSpPr/>
          <p:nvPr/>
        </p:nvSpPr>
        <p:spPr>
          <a:xfrm>
            <a:off x="438912" y="1042415"/>
            <a:ext cx="1234440" cy="32004"/>
          </a:xfrm>
          <a:prstGeom prst="rect">
            <a:avLst/>
          </a:prstGeom>
          <a:solidFill>
            <a:srgbClr val="8C6A32"/>
          </a:solidFill>
          <a:ln>
            <a:noFill/>
          </a:ln>
        </p:spPr>
        <p:txBody>
          <a:bodyPr rtlCol="0" anchor="ctr"/>
          <a:lstStyle/>
          <a:p>
            <a:pPr algn="ctr"/>
          </a:p>
        </p:txBody>
      </p:sp>
      <p:sp>
        <p:nvSpPr>
          <p:cNvPr id="7" name="Rectangle 6"/>
          <p:cNvSpPr/>
          <p:nvPr/>
        </p:nvSpPr>
        <p:spPr>
          <a:xfrm>
            <a:off x="0" y="6565392"/>
            <a:ext cx="12198096" cy="13716"/>
          </a:xfrm>
          <a:prstGeom prst="rect">
            <a:avLst/>
          </a:prstGeom>
          <a:solidFill>
            <a:srgbClr val="E4DBCE"/>
          </a:solidFill>
          <a:ln>
            <a:noFill/>
          </a:ln>
        </p:spPr>
        <p:txBody>
          <a:bodyPr rtlCol="0" anchor="ctr"/>
          <a:lstStyle/>
          <a:p>
            <a:pPr algn="ctr"/>
          </a:p>
        </p:txBody>
      </p:sp>
      <p:sp>
        <p:nvSpPr>
          <p:cNvPr id="8" name="TextBox 7"/>
          <p:cNvSpPr txBox="1"/>
          <p:nvPr/>
        </p:nvSpPr>
        <p:spPr>
          <a:xfrm>
            <a:off x="420624" y="6601968"/>
            <a:ext cx="8412480" cy="237744"/>
          </a:xfrm>
          <a:prstGeom prst="rect">
            <a:avLst/>
          </a:prstGeom>
          <a:noFill/>
        </p:spPr>
        <p:txBody>
          <a:bodyPr wrap="square" anchor="ctr"/>
          <a:lstStyle/>
          <a:p>
            <a:pPr algn="l">
              <a:spcBef>
                <a:spcPts val="0"/>
              </a:spcBef>
              <a:spcAft>
                <a:spcPts val="0"/>
              </a:spcAft>
            </a:pPr>
            <a:r>
              <a:rPr sz="1100" b="0">
                <a:solidFill>
                  <a:srgbClr val="5C6570"/>
                </a:solidFill>
                <a:latin typeface="Calibri"/>
              </a:rPr>
              <a:t>Pu Zeng  ·  StudyCite and BiteWise</a:t>
            </a:r>
          </a:p>
        </p:txBody>
      </p:sp>
      <p:sp>
        <p:nvSpPr>
          <p:cNvPr id="9" name="TextBox 8"/>
          <p:cNvSpPr txBox="1"/>
          <p:nvPr/>
        </p:nvSpPr>
        <p:spPr>
          <a:xfrm>
            <a:off x="9509760" y="6601968"/>
            <a:ext cx="2267712" cy="237744"/>
          </a:xfrm>
          <a:prstGeom prst="rect">
            <a:avLst/>
          </a:prstGeom>
          <a:noFill/>
        </p:spPr>
        <p:txBody>
          <a:bodyPr wrap="square" anchor="ctr"/>
          <a:lstStyle/>
          <a:p>
            <a:pPr algn="r">
              <a:spcBef>
                <a:spcPts val="0"/>
              </a:spcBef>
              <a:spcAft>
                <a:spcPts val="0"/>
              </a:spcAft>
            </a:pPr>
            <a:r>
              <a:rPr sz="1100" b="0">
                <a:solidFill>
                  <a:srgbClr val="5C6570"/>
                </a:solidFill>
                <a:latin typeface="Calibri"/>
              </a:rPr>
              <a:t>9   /   24</a:t>
            </a:r>
          </a:p>
        </p:txBody>
      </p:sp>
      <p:sp>
        <p:nvSpPr>
          <p:cNvPr id="10" name="Rounded Rectangle 9"/>
          <p:cNvSpPr/>
          <p:nvPr/>
        </p:nvSpPr>
        <p:spPr>
          <a:xfrm>
            <a:off x="420624" y="1280160"/>
            <a:ext cx="6720840" cy="1143000"/>
          </a:xfrm>
          <a:prstGeom prst="roundRect">
            <a:avLst>
              <a:gd name="adj" fmla="val 8000"/>
            </a:avLst>
          </a:prstGeom>
          <a:solidFill>
            <a:srgbClr val="FFFFFF"/>
          </a:solidFill>
          <a:ln w="12700">
            <a:solidFill>
              <a:srgbClr val="E4DBCE"/>
            </a:solidFill>
          </a:ln>
        </p:spPr>
        <p:txBody>
          <a:bodyPr rtlCol="0" anchor="ctr"/>
          <a:lstStyle/>
          <a:p>
            <a:pPr algn="ctr"/>
          </a:p>
        </p:txBody>
      </p:sp>
      <p:sp>
        <p:nvSpPr>
          <p:cNvPr id="11" name="TextBox 10"/>
          <p:cNvSpPr txBox="1"/>
          <p:nvPr/>
        </p:nvSpPr>
        <p:spPr>
          <a:xfrm>
            <a:off x="621792" y="1389888"/>
            <a:ext cx="6355080" cy="292608"/>
          </a:xfrm>
          <a:prstGeom prst="rect">
            <a:avLst/>
          </a:prstGeom>
          <a:noFill/>
        </p:spPr>
        <p:txBody>
          <a:bodyPr wrap="square" anchor="t"/>
          <a:lstStyle/>
          <a:p>
            <a:pPr algn="l">
              <a:spcBef>
                <a:spcPts val="0"/>
              </a:spcBef>
              <a:spcAft>
                <a:spcPts val="0"/>
              </a:spcAft>
            </a:pPr>
            <a:r>
              <a:rPr sz="1500" b="1">
                <a:solidFill>
                  <a:srgbClr val="1A6A64"/>
                </a:solidFill>
                <a:latin typeface="Calibri"/>
              </a:rPr>
              <a:t>Abstain</a:t>
            </a:r>
          </a:p>
        </p:txBody>
      </p:sp>
      <p:sp>
        <p:nvSpPr>
          <p:cNvPr id="12" name="TextBox 11"/>
          <p:cNvSpPr txBox="1"/>
          <p:nvPr/>
        </p:nvSpPr>
        <p:spPr>
          <a:xfrm>
            <a:off x="621792" y="1719072"/>
            <a:ext cx="6355080" cy="594360"/>
          </a:xfrm>
          <a:prstGeom prst="rect">
            <a:avLst/>
          </a:prstGeom>
          <a:noFill/>
        </p:spPr>
        <p:txBody>
          <a:bodyPr wrap="square" anchor="t"/>
          <a:lstStyle/>
          <a:p>
            <a:pPr algn="l">
              <a:spcBef>
                <a:spcPts val="0"/>
              </a:spcBef>
              <a:spcAft>
                <a:spcPts val="0"/>
              </a:spcAft>
            </a:pPr>
            <a:r>
              <a:rPr sz="1300" b="0">
                <a:solidFill>
                  <a:srgbClr val="1C222B"/>
                </a:solidFill>
                <a:latin typeface="Calibri"/>
              </a:rPr>
              <a:t>Out-of-scope medical questions return no clinical advice. The surgical-bypass case is the gold example.</a:t>
            </a:r>
          </a:p>
        </p:txBody>
      </p:sp>
      <p:sp>
        <p:nvSpPr>
          <p:cNvPr id="13" name="Rounded Rectangle 12"/>
          <p:cNvSpPr/>
          <p:nvPr/>
        </p:nvSpPr>
        <p:spPr>
          <a:xfrm>
            <a:off x="420624" y="2514600"/>
            <a:ext cx="6720840" cy="1143000"/>
          </a:xfrm>
          <a:prstGeom prst="roundRect">
            <a:avLst>
              <a:gd name="adj" fmla="val 8000"/>
            </a:avLst>
          </a:prstGeom>
          <a:solidFill>
            <a:srgbClr val="FFFFFF"/>
          </a:solidFill>
          <a:ln w="12700">
            <a:solidFill>
              <a:srgbClr val="E4DBCE"/>
            </a:solidFill>
          </a:ln>
        </p:spPr>
        <p:txBody>
          <a:bodyPr rtlCol="0" anchor="ctr"/>
          <a:lstStyle/>
          <a:p>
            <a:pPr algn="ctr"/>
          </a:p>
        </p:txBody>
      </p:sp>
      <p:sp>
        <p:nvSpPr>
          <p:cNvPr id="14" name="TextBox 13"/>
          <p:cNvSpPr txBox="1"/>
          <p:nvPr/>
        </p:nvSpPr>
        <p:spPr>
          <a:xfrm>
            <a:off x="621792" y="2624328"/>
            <a:ext cx="6355080" cy="292608"/>
          </a:xfrm>
          <a:prstGeom prst="rect">
            <a:avLst/>
          </a:prstGeom>
          <a:noFill/>
        </p:spPr>
        <p:txBody>
          <a:bodyPr wrap="square" anchor="t"/>
          <a:lstStyle/>
          <a:p>
            <a:pPr algn="l">
              <a:spcBef>
                <a:spcPts val="0"/>
              </a:spcBef>
              <a:spcAft>
                <a:spcPts val="0"/>
              </a:spcAft>
            </a:pPr>
            <a:r>
              <a:rPr sz="1500" b="1">
                <a:solidFill>
                  <a:srgbClr val="1A6A64"/>
                </a:solidFill>
                <a:latin typeface="Calibri"/>
              </a:rPr>
              <a:t>Version warning</a:t>
            </a:r>
          </a:p>
        </p:txBody>
      </p:sp>
      <p:sp>
        <p:nvSpPr>
          <p:cNvPr id="15" name="TextBox 14"/>
          <p:cNvSpPr txBox="1"/>
          <p:nvPr/>
        </p:nvSpPr>
        <p:spPr>
          <a:xfrm>
            <a:off x="621792" y="2953512"/>
            <a:ext cx="6355080" cy="594360"/>
          </a:xfrm>
          <a:prstGeom prst="rect">
            <a:avLst/>
          </a:prstGeom>
          <a:noFill/>
        </p:spPr>
        <p:txBody>
          <a:bodyPr wrap="square" anchor="t"/>
          <a:lstStyle/>
          <a:p>
            <a:pPr algn="l">
              <a:spcBef>
                <a:spcPts val="0"/>
              </a:spcBef>
              <a:spcAft>
                <a:spcPts val="0"/>
              </a:spcAft>
            </a:pPr>
            <a:r>
              <a:rPr sz="1300" b="0">
                <a:solidFill>
                  <a:srgbClr val="1C222B"/>
                </a:solidFill>
                <a:latin typeface="Calibri"/>
              </a:rPr>
              <a:t>80,000/mcL is a trap. v2.0 is superseded. v3.0 requires at least 100,000/mcL.</a:t>
            </a:r>
          </a:p>
        </p:txBody>
      </p:sp>
      <p:sp>
        <p:nvSpPr>
          <p:cNvPr id="16" name="Rounded Rectangle 15"/>
          <p:cNvSpPr/>
          <p:nvPr/>
        </p:nvSpPr>
        <p:spPr>
          <a:xfrm>
            <a:off x="420624" y="3749039"/>
            <a:ext cx="6720840" cy="1143000"/>
          </a:xfrm>
          <a:prstGeom prst="roundRect">
            <a:avLst>
              <a:gd name="adj" fmla="val 8000"/>
            </a:avLst>
          </a:prstGeom>
          <a:solidFill>
            <a:srgbClr val="FFFFFF"/>
          </a:solidFill>
          <a:ln w="12700">
            <a:solidFill>
              <a:srgbClr val="E4DBCE"/>
            </a:solidFill>
          </a:ln>
        </p:spPr>
        <p:txBody>
          <a:bodyPr rtlCol="0" anchor="ctr"/>
          <a:lstStyle/>
          <a:p>
            <a:pPr algn="ctr"/>
          </a:p>
        </p:txBody>
      </p:sp>
      <p:sp>
        <p:nvSpPr>
          <p:cNvPr id="17" name="TextBox 16"/>
          <p:cNvSpPr txBox="1"/>
          <p:nvPr/>
        </p:nvSpPr>
        <p:spPr>
          <a:xfrm>
            <a:off x="621792" y="3858768"/>
            <a:ext cx="6355080" cy="292608"/>
          </a:xfrm>
          <a:prstGeom prst="rect">
            <a:avLst/>
          </a:prstGeom>
          <a:noFill/>
        </p:spPr>
        <p:txBody>
          <a:bodyPr wrap="square" anchor="t"/>
          <a:lstStyle/>
          <a:p>
            <a:pPr algn="l">
              <a:spcBef>
                <a:spcPts val="0"/>
              </a:spcBef>
              <a:spcAft>
                <a:spcPts val="0"/>
              </a:spcAft>
            </a:pPr>
            <a:r>
              <a:rPr sz="1500" b="1">
                <a:solidFill>
                  <a:srgbClr val="1A6A64"/>
                </a:solidFill>
                <a:latin typeface="Calibri"/>
              </a:rPr>
              <a:t>No patient text</a:t>
            </a:r>
          </a:p>
        </p:txBody>
      </p:sp>
      <p:sp>
        <p:nvSpPr>
          <p:cNvPr id="18" name="TextBox 17"/>
          <p:cNvSpPr txBox="1"/>
          <p:nvPr/>
        </p:nvSpPr>
        <p:spPr>
          <a:xfrm>
            <a:off x="621792" y="4187952"/>
            <a:ext cx="6355080" cy="594360"/>
          </a:xfrm>
          <a:prstGeom prst="rect">
            <a:avLst/>
          </a:prstGeom>
          <a:noFill/>
        </p:spPr>
        <p:txBody>
          <a:bodyPr wrap="square" anchor="t"/>
          <a:lstStyle/>
          <a:p>
            <a:pPr algn="l">
              <a:spcBef>
                <a:spcPts val="0"/>
              </a:spcBef>
              <a:spcAft>
                <a:spcPts val="0"/>
              </a:spcAft>
            </a:pPr>
            <a:r>
              <a:rPr sz="1300" b="0">
                <a:solidFill>
                  <a:srgbClr val="1C222B"/>
                </a:solidFill>
                <a:latin typeface="Calibri"/>
              </a:rPr>
              <a:t>Questions are checked for PHI-like patterns. The UI warns people not to enter identifiers.</a:t>
            </a:r>
          </a:p>
        </p:txBody>
      </p:sp>
      <p:sp>
        <p:nvSpPr>
          <p:cNvPr id="19" name="Rounded Rectangle 18"/>
          <p:cNvSpPr/>
          <p:nvPr/>
        </p:nvSpPr>
        <p:spPr>
          <a:xfrm>
            <a:off x="420624" y="4983480"/>
            <a:ext cx="6720840" cy="1143000"/>
          </a:xfrm>
          <a:prstGeom prst="roundRect">
            <a:avLst>
              <a:gd name="adj" fmla="val 8000"/>
            </a:avLst>
          </a:prstGeom>
          <a:solidFill>
            <a:srgbClr val="FFFFFF"/>
          </a:solidFill>
          <a:ln w="12700">
            <a:solidFill>
              <a:srgbClr val="E4DBCE"/>
            </a:solidFill>
          </a:ln>
        </p:spPr>
        <p:txBody>
          <a:bodyPr rtlCol="0" anchor="ctr"/>
          <a:lstStyle/>
          <a:p>
            <a:pPr algn="ctr"/>
          </a:p>
        </p:txBody>
      </p:sp>
      <p:sp>
        <p:nvSpPr>
          <p:cNvPr id="20" name="TextBox 19"/>
          <p:cNvSpPr txBox="1"/>
          <p:nvPr/>
        </p:nvSpPr>
        <p:spPr>
          <a:xfrm>
            <a:off x="621792" y="5093208"/>
            <a:ext cx="6355080" cy="292608"/>
          </a:xfrm>
          <a:prstGeom prst="rect">
            <a:avLst/>
          </a:prstGeom>
          <a:noFill/>
        </p:spPr>
        <p:txBody>
          <a:bodyPr wrap="square" anchor="t"/>
          <a:lstStyle/>
          <a:p>
            <a:pPr algn="l">
              <a:spcBef>
                <a:spcPts val="0"/>
              </a:spcBef>
              <a:spcAft>
                <a:spcPts val="0"/>
              </a:spcAft>
            </a:pPr>
            <a:r>
              <a:rPr sz="1500" b="1">
                <a:solidFill>
                  <a:srgbClr val="1A6A64"/>
                </a:solidFill>
                <a:latin typeface="Calibri"/>
              </a:rPr>
              <a:t>Demo identity</a:t>
            </a:r>
          </a:p>
        </p:txBody>
      </p:sp>
      <p:sp>
        <p:nvSpPr>
          <p:cNvPr id="21" name="TextBox 20"/>
          <p:cNvSpPr txBox="1"/>
          <p:nvPr/>
        </p:nvSpPr>
        <p:spPr>
          <a:xfrm>
            <a:off x="621792" y="5422392"/>
            <a:ext cx="6355080" cy="594360"/>
          </a:xfrm>
          <a:prstGeom prst="rect">
            <a:avLst/>
          </a:prstGeom>
          <a:noFill/>
        </p:spPr>
        <p:txBody>
          <a:bodyPr wrap="square" anchor="t"/>
          <a:lstStyle/>
          <a:p>
            <a:pPr algn="l">
              <a:spcBef>
                <a:spcPts val="0"/>
              </a:spcBef>
              <a:spcAft>
                <a:spcPts val="0"/>
              </a:spcAft>
            </a:pPr>
            <a:r>
              <a:rPr sz="1300" b="0">
                <a:solidFill>
                  <a:srgbClr val="1C222B"/>
                </a:solidFill>
                <a:latin typeface="Calibri"/>
              </a:rPr>
              <a:t>The role menu is a stand-in for Cognito. The report says so, instead of calling it authentication.</a:t>
            </a:r>
          </a:p>
        </p:txBody>
      </p:sp>
      <p:sp>
        <p:nvSpPr>
          <p:cNvPr id="22" name="Rounded Rectangle 21"/>
          <p:cNvSpPr/>
          <p:nvPr/>
        </p:nvSpPr>
        <p:spPr>
          <a:xfrm>
            <a:off x="7315200" y="1280160"/>
            <a:ext cx="4434840" cy="4937760"/>
          </a:xfrm>
          <a:prstGeom prst="roundRect">
            <a:avLst>
              <a:gd name="adj" fmla="val 8000"/>
            </a:avLst>
          </a:prstGeom>
          <a:solidFill>
            <a:srgbClr val="142238"/>
          </a:solidFill>
          <a:ln w="12700">
            <a:solidFill>
              <a:srgbClr val="E4DBCE"/>
            </a:solidFill>
          </a:ln>
        </p:spPr>
        <p:txBody>
          <a:bodyPr rtlCol="0" anchor="ctr"/>
          <a:lstStyle/>
          <a:p>
            <a:pPr algn="ctr"/>
          </a:p>
        </p:txBody>
      </p:sp>
      <p:sp>
        <p:nvSpPr>
          <p:cNvPr id="23" name="TextBox 22"/>
          <p:cNvSpPr txBox="1"/>
          <p:nvPr/>
        </p:nvSpPr>
        <p:spPr>
          <a:xfrm>
            <a:off x="7516368" y="1444752"/>
            <a:ext cx="4069080" cy="365760"/>
          </a:xfrm>
          <a:prstGeom prst="rect">
            <a:avLst/>
          </a:prstGeom>
          <a:noFill/>
        </p:spPr>
        <p:txBody>
          <a:bodyPr wrap="square" anchor="t"/>
          <a:lstStyle/>
          <a:p>
            <a:pPr algn="l">
              <a:spcBef>
                <a:spcPts val="0"/>
              </a:spcBef>
              <a:spcAft>
                <a:spcPts val="0"/>
              </a:spcAft>
            </a:pPr>
            <a:r>
              <a:rPr sz="1600" b="1">
                <a:solidFill>
                  <a:srgbClr val="FFFFFF"/>
                </a:solidFill>
                <a:latin typeface="Calibri"/>
              </a:rPr>
              <a:t>Security checklist</a:t>
            </a:r>
          </a:p>
        </p:txBody>
      </p:sp>
      <p:sp>
        <p:nvSpPr>
          <p:cNvPr id="24" name="TextBox 23"/>
          <p:cNvSpPr txBox="1"/>
          <p:nvPr/>
        </p:nvSpPr>
        <p:spPr>
          <a:xfrm>
            <a:off x="7516368" y="1874519"/>
            <a:ext cx="4069080" cy="640080"/>
          </a:xfrm>
          <a:prstGeom prst="rect">
            <a:avLst/>
          </a:prstGeom>
          <a:noFill/>
        </p:spPr>
        <p:txBody>
          <a:bodyPr wrap="square" anchor="t"/>
          <a:lstStyle/>
          <a:p>
            <a:pPr algn="l">
              <a:spcBef>
                <a:spcPts val="0"/>
              </a:spcBef>
              <a:spcAft>
                <a:spcPts val="0"/>
              </a:spcAft>
            </a:pPr>
            <a:r>
              <a:rPr sz="1300" b="0">
                <a:solidFill>
                  <a:srgbClr val="D5DDD6"/>
                </a:solidFill>
                <a:latin typeface="Calibri"/>
              </a:rPr>
              <a:t>Selected from the twelve items marked complete in the September 16 report.</a:t>
            </a:r>
          </a:p>
        </p:txBody>
      </p:sp>
      <p:sp>
        <p:nvSpPr>
          <p:cNvPr id="25" name="TextBox 24"/>
          <p:cNvSpPr txBox="1"/>
          <p:nvPr/>
        </p:nvSpPr>
        <p:spPr>
          <a:xfrm>
            <a:off x="7479792" y="2560320"/>
            <a:ext cx="4114800" cy="3383280"/>
          </a:xfrm>
          <a:prstGeom prst="rect">
            <a:avLst/>
          </a:prstGeom>
          <a:noFill/>
        </p:spPr>
        <p:txBody>
          <a:bodyPr wrap="square" anchor="t"/>
          <a:lstStyle/>
          <a:p>
            <a:pPr algn="l">
              <a:spcBef>
                <a:spcPts val="0"/>
              </a:spcBef>
              <a:spcAft>
                <a:spcPts val="500"/>
              </a:spcAft>
            </a:pPr>
            <a:r>
              <a:rPr sz="1300" b="0">
                <a:solidFill>
                  <a:srgbClr val="FFFFFF"/>
                </a:solidFill>
                <a:latin typeface="Calibri"/>
              </a:rPr>
              <a:t>•  No API keys in source.</a:t>
            </a:r>
          </a:p>
          <a:p>
            <a:pPr algn="l">
              <a:spcBef>
                <a:spcPts val="0"/>
              </a:spcBef>
              <a:spcAft>
                <a:spcPts val="500"/>
              </a:spcAft>
            </a:pPr>
            <a:r>
              <a:rPr sz="1300" b="0">
                <a:solidFill>
                  <a:srgbClr val="FFFFFF"/>
                </a:solidFill>
                <a:latin typeface="Calibri"/>
              </a:rPr>
              <a:t>•  No SQL, so no string-built queries.</a:t>
            </a:r>
          </a:p>
          <a:p>
            <a:pPr algn="l">
              <a:spcBef>
                <a:spcPts val="0"/>
              </a:spcBef>
              <a:spcAft>
                <a:spcPts val="500"/>
              </a:spcAft>
            </a:pPr>
            <a:r>
              <a:rPr sz="1300" b="0">
                <a:solidFill>
                  <a:srgbClr val="FFFFFF"/>
                </a:solidFill>
                <a:latin typeface="Calibri"/>
              </a:rPr>
              <a:t>•  Role filter before retrieval.</a:t>
            </a:r>
          </a:p>
          <a:p>
            <a:pPr algn="l">
              <a:spcBef>
                <a:spcPts val="0"/>
              </a:spcBef>
              <a:spcAft>
                <a:spcPts val="500"/>
              </a:spcAft>
            </a:pPr>
            <a:r>
              <a:rPr sz="1300" b="0">
                <a:solidFill>
                  <a:srgbClr val="FFFFFF"/>
                </a:solidFill>
                <a:latin typeface="Calibri"/>
              </a:rPr>
              <a:t>•  Approved documents only.</a:t>
            </a:r>
          </a:p>
          <a:p>
            <a:pPr algn="l">
              <a:spcBef>
                <a:spcPts val="0"/>
              </a:spcBef>
              <a:spcAft>
                <a:spcPts val="500"/>
              </a:spcAft>
            </a:pPr>
            <a:r>
              <a:rPr sz="1300" b="0">
                <a:solidFill>
                  <a:srgbClr val="FFFFFF"/>
                </a:solidFill>
                <a:latin typeface="Calibri"/>
              </a:rPr>
              <a:t>•  Length limits: 500, 120, and 80.</a:t>
            </a:r>
          </a:p>
          <a:p>
            <a:pPr algn="l">
              <a:spcBef>
                <a:spcPts val="0"/>
              </a:spcBef>
              <a:spcAft>
                <a:spcPts val="500"/>
              </a:spcAft>
            </a:pPr>
            <a:r>
              <a:rPr sz="1300" b="0">
                <a:solidFill>
                  <a:srgbClr val="FFFFFF"/>
                </a:solidFill>
                <a:latin typeface="Calibri"/>
              </a:rPr>
              <a:t>•  PHI and injection patterns blocked.</a:t>
            </a:r>
          </a:p>
          <a:p>
            <a:pPr algn="l">
              <a:spcBef>
                <a:spcPts val="0"/>
              </a:spcBef>
              <a:spcAft>
                <a:spcPts val="500"/>
              </a:spcAft>
            </a:pPr>
            <a:r>
              <a:rPr sz="1300" b="0">
                <a:solidFill>
                  <a:srgbClr val="FFFFFF"/>
                </a:solidFill>
                <a:latin typeface="Calibri"/>
              </a:rPr>
              <a:t>•  React text only. No innerHTML.</a:t>
            </a:r>
          </a:p>
          <a:p>
            <a:pPr algn="l">
              <a:spcBef>
                <a:spcPts val="0"/>
              </a:spcBef>
              <a:spcAft>
                <a:spcPts val="500"/>
              </a:spcAft>
            </a:pPr>
            <a:r>
              <a:rPr sz="1300" b="0">
                <a:solidFill>
                  <a:srgbClr val="FFFFFF"/>
                </a:solidFill>
                <a:latin typeface="Calibri"/>
              </a:rPr>
              <a:t>•  Error boundary and referrer policy.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6858000"/>
          </a:xfrm>
          <a:prstGeom prst="rect">
            <a:avLst/>
          </a:prstGeom>
          <a:solidFill>
            <a:srgbClr val="F6F3EC"/>
          </a:solidFill>
          <a:ln>
            <a:noFill/>
          </a:ln>
        </p:spPr>
        <p:txBody>
          <a:bodyPr rtlCol="0" anchor="ctr"/>
          <a:lstStyle/>
          <a:p>
            <a:pPr algn="ctr"/>
          </a:p>
        </p:txBody>
      </p:sp>
      <p:sp>
        <p:nvSpPr>
          <p:cNvPr id="3" name="Rectangle 2"/>
          <p:cNvSpPr/>
          <p:nvPr/>
        </p:nvSpPr>
        <p:spPr>
          <a:xfrm>
            <a:off x="0" y="0"/>
            <a:ext cx="12198096" cy="73152"/>
          </a:xfrm>
          <a:prstGeom prst="rect">
            <a:avLst/>
          </a:prstGeom>
          <a:solidFill>
            <a:srgbClr val="1A6A64"/>
          </a:solidFill>
          <a:ln>
            <a:noFill/>
          </a:ln>
        </p:spPr>
        <p:txBody>
          <a:bodyPr rtlCol="0" anchor="ctr"/>
          <a:lstStyle/>
          <a:p>
            <a:pPr algn="ctr"/>
          </a:p>
        </p:txBody>
      </p:sp>
      <p:sp>
        <p:nvSpPr>
          <p:cNvPr id="4" name="TextBox 3"/>
          <p:cNvSpPr txBox="1"/>
          <p:nvPr/>
        </p:nvSpPr>
        <p:spPr>
          <a:xfrm>
            <a:off x="420624" y="201168"/>
            <a:ext cx="11155680" cy="256032"/>
          </a:xfrm>
          <a:prstGeom prst="rect">
            <a:avLst/>
          </a:prstGeom>
          <a:noFill/>
        </p:spPr>
        <p:txBody>
          <a:bodyPr wrap="square" anchor="t"/>
          <a:lstStyle/>
          <a:p>
            <a:pPr algn="l">
              <a:spcBef>
                <a:spcPts val="0"/>
              </a:spcBef>
              <a:spcAft>
                <a:spcPts val="0"/>
              </a:spcAft>
            </a:pPr>
            <a:r>
              <a:rPr sz="1200" b="1">
                <a:solidFill>
                  <a:srgbClr val="1A6A64"/>
                </a:solidFill>
                <a:latin typeface="Calibri"/>
              </a:rPr>
              <a:t>APPLICATION 1  ·  PHASE 4</a:t>
            </a:r>
          </a:p>
        </p:txBody>
      </p:sp>
      <p:sp>
        <p:nvSpPr>
          <p:cNvPr id="5" name="TextBox 4"/>
          <p:cNvSpPr txBox="1"/>
          <p:nvPr/>
        </p:nvSpPr>
        <p:spPr>
          <a:xfrm>
            <a:off x="420624" y="438912"/>
            <a:ext cx="11247120" cy="566928"/>
          </a:xfrm>
          <a:prstGeom prst="rect">
            <a:avLst/>
          </a:prstGeom>
          <a:noFill/>
        </p:spPr>
        <p:txBody>
          <a:bodyPr wrap="square" anchor="t"/>
          <a:lstStyle/>
          <a:p>
            <a:pPr algn="l">
              <a:spcBef>
                <a:spcPts val="0"/>
              </a:spcBef>
              <a:spcAft>
                <a:spcPts val="0"/>
              </a:spcAft>
            </a:pPr>
            <a:r>
              <a:rPr sz="2600" b="1">
                <a:solidFill>
                  <a:srgbClr val="142238"/>
                </a:solidFill>
                <a:latin typeface="Calibri"/>
              </a:rPr>
              <a:t>Bugs fixed, and what the tests actually show</a:t>
            </a:r>
          </a:p>
        </p:txBody>
      </p:sp>
      <p:sp>
        <p:nvSpPr>
          <p:cNvPr id="6" name="Rectangle 5"/>
          <p:cNvSpPr/>
          <p:nvPr/>
        </p:nvSpPr>
        <p:spPr>
          <a:xfrm>
            <a:off x="438912" y="1042415"/>
            <a:ext cx="1234440" cy="32004"/>
          </a:xfrm>
          <a:prstGeom prst="rect">
            <a:avLst/>
          </a:prstGeom>
          <a:solidFill>
            <a:srgbClr val="8C6A32"/>
          </a:solidFill>
          <a:ln>
            <a:noFill/>
          </a:ln>
        </p:spPr>
        <p:txBody>
          <a:bodyPr rtlCol="0" anchor="ctr"/>
          <a:lstStyle/>
          <a:p>
            <a:pPr algn="ctr"/>
          </a:p>
        </p:txBody>
      </p:sp>
      <p:sp>
        <p:nvSpPr>
          <p:cNvPr id="7" name="Rectangle 6"/>
          <p:cNvSpPr/>
          <p:nvPr/>
        </p:nvSpPr>
        <p:spPr>
          <a:xfrm>
            <a:off x="0" y="6565392"/>
            <a:ext cx="12198096" cy="13716"/>
          </a:xfrm>
          <a:prstGeom prst="rect">
            <a:avLst/>
          </a:prstGeom>
          <a:solidFill>
            <a:srgbClr val="E4DBCE"/>
          </a:solidFill>
          <a:ln>
            <a:noFill/>
          </a:ln>
        </p:spPr>
        <p:txBody>
          <a:bodyPr rtlCol="0" anchor="ctr"/>
          <a:lstStyle/>
          <a:p>
            <a:pPr algn="ctr"/>
          </a:p>
        </p:txBody>
      </p:sp>
      <p:sp>
        <p:nvSpPr>
          <p:cNvPr id="8" name="TextBox 7"/>
          <p:cNvSpPr txBox="1"/>
          <p:nvPr/>
        </p:nvSpPr>
        <p:spPr>
          <a:xfrm>
            <a:off x="420624" y="6601968"/>
            <a:ext cx="8412480" cy="237744"/>
          </a:xfrm>
          <a:prstGeom prst="rect">
            <a:avLst/>
          </a:prstGeom>
          <a:noFill/>
        </p:spPr>
        <p:txBody>
          <a:bodyPr wrap="square" anchor="ctr"/>
          <a:lstStyle/>
          <a:p>
            <a:pPr algn="l">
              <a:spcBef>
                <a:spcPts val="0"/>
              </a:spcBef>
              <a:spcAft>
                <a:spcPts val="0"/>
              </a:spcAft>
            </a:pPr>
            <a:r>
              <a:rPr sz="1100" b="0">
                <a:solidFill>
                  <a:srgbClr val="5C6570"/>
                </a:solidFill>
                <a:latin typeface="Calibri"/>
              </a:rPr>
              <a:t>Pu Zeng  ·  StudyCite and BiteWise</a:t>
            </a:r>
          </a:p>
        </p:txBody>
      </p:sp>
      <p:sp>
        <p:nvSpPr>
          <p:cNvPr id="9" name="TextBox 8"/>
          <p:cNvSpPr txBox="1"/>
          <p:nvPr/>
        </p:nvSpPr>
        <p:spPr>
          <a:xfrm>
            <a:off x="9509760" y="6601968"/>
            <a:ext cx="2267712" cy="237744"/>
          </a:xfrm>
          <a:prstGeom prst="rect">
            <a:avLst/>
          </a:prstGeom>
          <a:noFill/>
        </p:spPr>
        <p:txBody>
          <a:bodyPr wrap="square" anchor="ctr"/>
          <a:lstStyle/>
          <a:p>
            <a:pPr algn="r">
              <a:spcBef>
                <a:spcPts val="0"/>
              </a:spcBef>
              <a:spcAft>
                <a:spcPts val="0"/>
              </a:spcAft>
            </a:pPr>
            <a:r>
              <a:rPr sz="1100" b="0">
                <a:solidFill>
                  <a:srgbClr val="5C6570"/>
                </a:solidFill>
                <a:latin typeface="Calibri"/>
              </a:rPr>
              <a:t>10   /   24</a:t>
            </a:r>
          </a:p>
        </p:txBody>
      </p:sp>
      <p:sp>
        <p:nvSpPr>
          <p:cNvPr id="10" name="Rounded Rectangle 9"/>
          <p:cNvSpPr/>
          <p:nvPr/>
        </p:nvSpPr>
        <p:spPr>
          <a:xfrm>
            <a:off x="365760" y="1261872"/>
            <a:ext cx="6903720" cy="5029200"/>
          </a:xfrm>
          <a:prstGeom prst="roundRect">
            <a:avLst>
              <a:gd name="adj" fmla="val 8000"/>
            </a:avLst>
          </a:prstGeom>
          <a:solidFill>
            <a:srgbClr val="FFFFFF"/>
          </a:solidFill>
          <a:ln w="12700">
            <a:solidFill>
              <a:srgbClr val="E4DBCE"/>
            </a:solidFill>
          </a:ln>
        </p:spPr>
        <p:txBody>
          <a:bodyPr rtlCol="0" anchor="ctr"/>
          <a:lstStyle/>
          <a:p>
            <a:pPr algn="ctr"/>
          </a:p>
        </p:txBody>
      </p:sp>
      <p:sp>
        <p:nvSpPr>
          <p:cNvPr id="11" name="TextBox 10"/>
          <p:cNvSpPr txBox="1"/>
          <p:nvPr/>
        </p:nvSpPr>
        <p:spPr>
          <a:xfrm>
            <a:off x="548640" y="1389888"/>
            <a:ext cx="6537960" cy="292608"/>
          </a:xfrm>
          <a:prstGeom prst="rect">
            <a:avLst/>
          </a:prstGeom>
          <a:noFill/>
        </p:spPr>
        <p:txBody>
          <a:bodyPr wrap="square" anchor="t"/>
          <a:lstStyle/>
          <a:p>
            <a:pPr algn="l">
              <a:spcBef>
                <a:spcPts val="0"/>
              </a:spcBef>
              <a:spcAft>
                <a:spcPts val="0"/>
              </a:spcAft>
            </a:pPr>
            <a:r>
              <a:rPr sz="1400" b="1">
                <a:solidFill>
                  <a:srgbClr val="1A6A64"/>
                </a:solidFill>
                <a:latin typeface="Calibri"/>
              </a:rPr>
              <a:t>Fixed in the September 16 pass</a:t>
            </a:r>
          </a:p>
        </p:txBody>
      </p:sp>
      <p:sp>
        <p:nvSpPr>
          <p:cNvPr id="12" name="TextBox 11"/>
          <p:cNvSpPr txBox="1"/>
          <p:nvPr/>
        </p:nvSpPr>
        <p:spPr>
          <a:xfrm>
            <a:off x="502920" y="1783080"/>
            <a:ext cx="6537960" cy="4297680"/>
          </a:xfrm>
          <a:prstGeom prst="rect">
            <a:avLst/>
          </a:prstGeom>
          <a:noFill/>
        </p:spPr>
        <p:txBody>
          <a:bodyPr wrap="square" anchor="t"/>
          <a:lstStyle/>
          <a:p>
            <a:pPr algn="l">
              <a:spcBef>
                <a:spcPts val="0"/>
              </a:spcBef>
              <a:spcAft>
                <a:spcPts val="600"/>
              </a:spcAft>
            </a:pPr>
            <a:r>
              <a:rPr sz="1300" b="0">
                <a:solidFill>
                  <a:srgbClr val="1C222B"/>
                </a:solidFill>
                <a:latin typeface="Calibri"/>
              </a:rPr>
              <a:t>•  Empty Overview questions still opened Assistant. Submit now validates first.</a:t>
            </a:r>
          </a:p>
          <a:p>
            <a:pPr algn="l">
              <a:spcBef>
                <a:spcPts val="0"/>
              </a:spcBef>
              <a:spcAft>
                <a:spcPts val="600"/>
              </a:spcAft>
            </a:pPr>
            <a:r>
              <a:rPr sz="1300" b="0">
                <a:solidFill>
                  <a:srgbClr val="1C222B"/>
                </a:solidFill>
                <a:latin typeface="Calibri"/>
              </a:rPr>
              <a:t>•  A failed ask could leave loading stuck. Both paths use try/finally.</a:t>
            </a:r>
          </a:p>
          <a:p>
            <a:pPr algn="l">
              <a:spcBef>
                <a:spcPts val="0"/>
              </a:spcBef>
              <a:spcAft>
                <a:spcPts val="600"/>
              </a:spcAft>
            </a:pPr>
            <a:r>
              <a:rPr sz="1300" b="0">
                <a:solidFill>
                  <a:srgbClr val="1C222B"/>
                </a:solidFill>
                <a:latin typeface="Calibri"/>
              </a:rPr>
              <a:t>•  Uploads were auto-approved. They now stay Draft and cannot be cited.</a:t>
            </a:r>
          </a:p>
          <a:p>
            <a:pPr algn="l">
              <a:spcBef>
                <a:spcPts val="0"/>
              </a:spcBef>
              <a:spcAft>
                <a:spcPts val="600"/>
              </a:spcAft>
            </a:pPr>
            <a:r>
              <a:rPr sz="1300" b="0">
                <a:solidFill>
                  <a:srgbClr val="1C222B"/>
                </a:solidFill>
                <a:latin typeface="Calibri"/>
              </a:rPr>
              <a:t>•  Retrieval used a global catalog. It now uses the active study only.</a:t>
            </a:r>
          </a:p>
          <a:p>
            <a:pPr algn="l">
              <a:spcBef>
                <a:spcPts val="0"/>
              </a:spcBef>
              <a:spcAft>
                <a:spcPts val="600"/>
              </a:spcAft>
            </a:pPr>
            <a:r>
              <a:rPr sz="1300" b="0">
                <a:solidFill>
                  <a:srgbClr val="1C222B"/>
                </a:solidFill>
                <a:latin typeface="Calibri"/>
              </a:rPr>
              <a:t>•  Any study id was accepted. Unauthorized roles are refused.</a:t>
            </a:r>
          </a:p>
          <a:p>
            <a:pPr algn="l">
              <a:spcBef>
                <a:spcPts val="0"/>
              </a:spcBef>
              <a:spcAft>
                <a:spcPts val="600"/>
              </a:spcAft>
            </a:pPr>
            <a:r>
              <a:rPr sz="1300" b="0">
                <a:solidFill>
                  <a:srgbClr val="1C222B"/>
                </a:solidFill>
                <a:latin typeface="Calibri"/>
              </a:rPr>
              <a:t>•  Document cards were mouse-only. They are keyboard buttons.</a:t>
            </a:r>
          </a:p>
          <a:p>
            <a:pPr algn="l">
              <a:spcBef>
                <a:spcPts val="0"/>
              </a:spcBef>
              <a:spcAft>
                <a:spcPts val="600"/>
              </a:spcAft>
            </a:pPr>
            <a:r>
              <a:rPr sz="1300" b="0">
                <a:solidFill>
                  <a:srgbClr val="1C222B"/>
                </a:solidFill>
                <a:latin typeface="Calibri"/>
              </a:rPr>
              <a:t>•  Labels and a main landmark were missing. Both were added.</a:t>
            </a:r>
          </a:p>
        </p:txBody>
      </p:sp>
      <p:sp>
        <p:nvSpPr>
          <p:cNvPr id="13" name="Rounded Rectangle 12"/>
          <p:cNvSpPr/>
          <p:nvPr/>
        </p:nvSpPr>
        <p:spPr>
          <a:xfrm>
            <a:off x="7424927" y="1261872"/>
            <a:ext cx="4343400" cy="5029200"/>
          </a:xfrm>
          <a:prstGeom prst="roundRect">
            <a:avLst>
              <a:gd name="adj" fmla="val 8000"/>
            </a:avLst>
          </a:prstGeom>
          <a:solidFill>
            <a:srgbClr val="FFFFFF"/>
          </a:solidFill>
          <a:ln w="12700">
            <a:solidFill>
              <a:srgbClr val="E4DBCE"/>
            </a:solidFill>
          </a:ln>
        </p:spPr>
        <p:txBody>
          <a:bodyPr rtlCol="0" anchor="ctr"/>
          <a:lstStyle/>
          <a:p>
            <a:pPr algn="ctr"/>
          </a:p>
        </p:txBody>
      </p:sp>
      <p:sp>
        <p:nvSpPr>
          <p:cNvPr id="14" name="TextBox 13"/>
          <p:cNvSpPr txBox="1"/>
          <p:nvPr/>
        </p:nvSpPr>
        <p:spPr>
          <a:xfrm>
            <a:off x="7607808" y="1389888"/>
            <a:ext cx="4023360" cy="292608"/>
          </a:xfrm>
          <a:prstGeom prst="rect">
            <a:avLst/>
          </a:prstGeom>
          <a:noFill/>
        </p:spPr>
        <p:txBody>
          <a:bodyPr wrap="square" anchor="t"/>
          <a:lstStyle/>
          <a:p>
            <a:pPr algn="l">
              <a:spcBef>
                <a:spcPts val="0"/>
              </a:spcBef>
              <a:spcAft>
                <a:spcPts val="0"/>
              </a:spcAft>
            </a:pPr>
            <a:r>
              <a:rPr sz="1400" b="1">
                <a:solidFill>
                  <a:srgbClr val="1A6A64"/>
                </a:solidFill>
                <a:latin typeface="Calibri"/>
              </a:rPr>
              <a:t>Evidence</a:t>
            </a:r>
          </a:p>
        </p:txBody>
      </p:sp>
      <p:sp>
        <p:nvSpPr>
          <p:cNvPr id="15" name="TextBox 14"/>
          <p:cNvSpPr txBox="1"/>
          <p:nvPr/>
        </p:nvSpPr>
        <p:spPr>
          <a:xfrm>
            <a:off x="7607808" y="1874519"/>
            <a:ext cx="3977639" cy="329184"/>
          </a:xfrm>
          <a:prstGeom prst="rect">
            <a:avLst/>
          </a:prstGeom>
          <a:noFill/>
        </p:spPr>
        <p:txBody>
          <a:bodyPr wrap="square" anchor="t"/>
          <a:lstStyle/>
          <a:p>
            <a:pPr algn="l">
              <a:spcBef>
                <a:spcPts val="0"/>
              </a:spcBef>
              <a:spcAft>
                <a:spcPts val="0"/>
              </a:spcAft>
            </a:pPr>
            <a:r>
              <a:rPr sz="1800" b="1">
                <a:solidFill>
                  <a:srgbClr val="142238"/>
                </a:solidFill>
                <a:latin typeface="Calibri"/>
              </a:rPr>
              <a:t>8</a:t>
            </a:r>
          </a:p>
        </p:txBody>
      </p:sp>
      <p:sp>
        <p:nvSpPr>
          <p:cNvPr id="16" name="TextBox 15"/>
          <p:cNvSpPr txBox="1"/>
          <p:nvPr/>
        </p:nvSpPr>
        <p:spPr>
          <a:xfrm>
            <a:off x="7607808" y="2240279"/>
            <a:ext cx="3977639" cy="822960"/>
          </a:xfrm>
          <a:prstGeom prst="rect">
            <a:avLst/>
          </a:prstGeom>
          <a:noFill/>
        </p:spPr>
        <p:txBody>
          <a:bodyPr wrap="square" anchor="t"/>
          <a:lstStyle/>
          <a:p>
            <a:pPr algn="l">
              <a:spcBef>
                <a:spcPts val="0"/>
              </a:spcBef>
              <a:spcAft>
                <a:spcPts val="0"/>
              </a:spcAft>
            </a:pPr>
            <a:r>
              <a:rPr sz="1300" b="0">
                <a:solidFill>
                  <a:srgbClr val="1C222B"/>
                </a:solidFill>
                <a:latin typeface="Calibri"/>
              </a:rPr>
              <a:t>Gold cases: 6 answerable, 1 version trap, 1 abstention.</a:t>
            </a:r>
          </a:p>
        </p:txBody>
      </p:sp>
      <p:sp>
        <p:nvSpPr>
          <p:cNvPr id="17" name="TextBox 16"/>
          <p:cNvSpPr txBox="1"/>
          <p:nvPr/>
        </p:nvSpPr>
        <p:spPr>
          <a:xfrm>
            <a:off x="7607808" y="3200400"/>
            <a:ext cx="3977639" cy="329184"/>
          </a:xfrm>
          <a:prstGeom prst="rect">
            <a:avLst/>
          </a:prstGeom>
          <a:noFill/>
        </p:spPr>
        <p:txBody>
          <a:bodyPr wrap="square" anchor="t"/>
          <a:lstStyle/>
          <a:p>
            <a:pPr algn="l">
              <a:spcBef>
                <a:spcPts val="0"/>
              </a:spcBef>
              <a:spcAft>
                <a:spcPts val="0"/>
              </a:spcAft>
            </a:pPr>
            <a:r>
              <a:rPr sz="1800" b="1">
                <a:solidFill>
                  <a:srgbClr val="142238"/>
                </a:solidFill>
                <a:latin typeface="Calibri"/>
              </a:rPr>
              <a:t>5</a:t>
            </a:r>
          </a:p>
        </p:txBody>
      </p:sp>
      <p:sp>
        <p:nvSpPr>
          <p:cNvPr id="18" name="TextBox 17"/>
          <p:cNvSpPr txBox="1"/>
          <p:nvPr/>
        </p:nvSpPr>
        <p:spPr>
          <a:xfrm>
            <a:off x="7607808" y="3566160"/>
            <a:ext cx="3977639" cy="822960"/>
          </a:xfrm>
          <a:prstGeom prst="rect">
            <a:avLst/>
          </a:prstGeom>
          <a:noFill/>
        </p:spPr>
        <p:txBody>
          <a:bodyPr wrap="square" anchor="t"/>
          <a:lstStyle/>
          <a:p>
            <a:pPr algn="l">
              <a:spcBef>
                <a:spcPts val="0"/>
              </a:spcBef>
              <a:spcAft>
                <a:spcPts val="0"/>
              </a:spcAft>
            </a:pPr>
            <a:r>
              <a:rPr sz="1300" b="0">
                <a:solidFill>
                  <a:srgbClr val="1C222B"/>
                </a:solidFill>
                <a:latin typeface="Calibri"/>
              </a:rPr>
              <a:t>Pages covered by the manual checklist, plus an unknown-URL redirect.</a:t>
            </a:r>
          </a:p>
        </p:txBody>
      </p:sp>
      <p:sp>
        <p:nvSpPr>
          <p:cNvPr id="19" name="TextBox 18"/>
          <p:cNvSpPr txBox="1"/>
          <p:nvPr/>
        </p:nvSpPr>
        <p:spPr>
          <a:xfrm>
            <a:off x="7607808" y="4526279"/>
            <a:ext cx="3977639" cy="329184"/>
          </a:xfrm>
          <a:prstGeom prst="rect">
            <a:avLst/>
          </a:prstGeom>
          <a:noFill/>
        </p:spPr>
        <p:txBody>
          <a:bodyPr wrap="square" anchor="t"/>
          <a:lstStyle/>
          <a:p>
            <a:pPr algn="l">
              <a:spcBef>
                <a:spcPts val="0"/>
              </a:spcBef>
              <a:spcAft>
                <a:spcPts val="0"/>
              </a:spcAft>
            </a:pPr>
            <a:r>
              <a:rPr sz="1800" b="1">
                <a:solidFill>
                  <a:srgbClr val="142238"/>
                </a:solidFill>
                <a:latin typeface="Calibri"/>
              </a:rPr>
              <a:t>Seed</a:t>
            </a:r>
          </a:p>
        </p:txBody>
      </p:sp>
      <p:sp>
        <p:nvSpPr>
          <p:cNvPr id="20" name="TextBox 19"/>
          <p:cNvSpPr txBox="1"/>
          <p:nvPr/>
        </p:nvSpPr>
        <p:spPr>
          <a:xfrm>
            <a:off x="7607808" y="4892040"/>
            <a:ext cx="3977639" cy="822960"/>
          </a:xfrm>
          <a:prstGeom prst="rect">
            <a:avLst/>
          </a:prstGeom>
          <a:noFill/>
        </p:spPr>
        <p:txBody>
          <a:bodyPr wrap="square" anchor="t"/>
          <a:lstStyle/>
          <a:p>
            <a:pPr algn="l">
              <a:spcBef>
                <a:spcPts val="0"/>
              </a:spcBef>
              <a:spcAft>
                <a:spcPts val="0"/>
              </a:spcAft>
            </a:pPr>
            <a:r>
              <a:rPr sz="1300" b="0">
                <a:solidFill>
                  <a:srgbClr val="1C222B"/>
                </a:solidFill>
                <a:latin typeface="Calibri"/>
              </a:rPr>
              <a:t>KPI cards in the UI are demonstration figures, not a field study.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6858000"/>
          </a:xfrm>
          <a:prstGeom prst="rect">
            <a:avLst/>
          </a:prstGeom>
          <a:solidFill>
            <a:srgbClr val="F6F3EC"/>
          </a:solidFill>
          <a:ln>
            <a:noFill/>
          </a:ln>
        </p:spPr>
        <p:txBody>
          <a:bodyPr rtlCol="0" anchor="ctr"/>
          <a:lstStyle/>
          <a:p>
            <a:pPr algn="ctr"/>
          </a:p>
        </p:txBody>
      </p:sp>
      <p:sp>
        <p:nvSpPr>
          <p:cNvPr id="3" name="Rectangle 2"/>
          <p:cNvSpPr/>
          <p:nvPr/>
        </p:nvSpPr>
        <p:spPr>
          <a:xfrm>
            <a:off x="0" y="0"/>
            <a:ext cx="12198096" cy="73152"/>
          </a:xfrm>
          <a:prstGeom prst="rect">
            <a:avLst/>
          </a:prstGeom>
          <a:solidFill>
            <a:srgbClr val="1A6A64"/>
          </a:solidFill>
          <a:ln>
            <a:noFill/>
          </a:ln>
        </p:spPr>
        <p:txBody>
          <a:bodyPr rtlCol="0" anchor="ctr"/>
          <a:lstStyle/>
          <a:p>
            <a:pPr algn="ctr"/>
          </a:p>
        </p:txBody>
      </p:sp>
      <p:sp>
        <p:nvSpPr>
          <p:cNvPr id="4" name="TextBox 3"/>
          <p:cNvSpPr txBox="1"/>
          <p:nvPr/>
        </p:nvSpPr>
        <p:spPr>
          <a:xfrm>
            <a:off x="420624" y="201168"/>
            <a:ext cx="11155680" cy="256032"/>
          </a:xfrm>
          <a:prstGeom prst="rect">
            <a:avLst/>
          </a:prstGeom>
          <a:noFill/>
        </p:spPr>
        <p:txBody>
          <a:bodyPr wrap="square" anchor="t"/>
          <a:lstStyle/>
          <a:p>
            <a:pPr algn="l">
              <a:spcBef>
                <a:spcPts val="0"/>
              </a:spcBef>
              <a:spcAft>
                <a:spcPts val="0"/>
              </a:spcAft>
            </a:pPr>
            <a:r>
              <a:rPr sz="1200" b="1">
                <a:solidFill>
                  <a:srgbClr val="1A6A64"/>
                </a:solidFill>
                <a:latin typeface="Calibri"/>
              </a:rPr>
              <a:t>APPLICATION 1  ·  PHASE 5  ·  WORKSHOP 3</a:t>
            </a:r>
          </a:p>
        </p:txBody>
      </p:sp>
      <p:sp>
        <p:nvSpPr>
          <p:cNvPr id="5" name="TextBox 4"/>
          <p:cNvSpPr txBox="1"/>
          <p:nvPr/>
        </p:nvSpPr>
        <p:spPr>
          <a:xfrm>
            <a:off x="420624" y="438912"/>
            <a:ext cx="11247120" cy="566928"/>
          </a:xfrm>
          <a:prstGeom prst="rect">
            <a:avLst/>
          </a:prstGeom>
          <a:noFill/>
        </p:spPr>
        <p:txBody>
          <a:bodyPr wrap="square" anchor="t"/>
          <a:lstStyle/>
          <a:p>
            <a:pPr algn="l">
              <a:spcBef>
                <a:spcPts val="0"/>
              </a:spcBef>
              <a:spcAft>
                <a:spcPts val="0"/>
              </a:spcAft>
            </a:pPr>
            <a:r>
              <a:rPr sz="2400" b="1">
                <a:solidFill>
                  <a:srgbClr val="142238"/>
                </a:solidFill>
                <a:latin typeface="Calibri"/>
              </a:rPr>
              <a:t>An App Runner file, and the URL that answers</a:t>
            </a:r>
          </a:p>
        </p:txBody>
      </p:sp>
      <p:sp>
        <p:nvSpPr>
          <p:cNvPr id="6" name="Rectangle 5"/>
          <p:cNvSpPr/>
          <p:nvPr/>
        </p:nvSpPr>
        <p:spPr>
          <a:xfrm>
            <a:off x="438912" y="1042415"/>
            <a:ext cx="1234440" cy="32004"/>
          </a:xfrm>
          <a:prstGeom prst="rect">
            <a:avLst/>
          </a:prstGeom>
          <a:solidFill>
            <a:srgbClr val="8C6A32"/>
          </a:solidFill>
          <a:ln>
            <a:noFill/>
          </a:ln>
        </p:spPr>
        <p:txBody>
          <a:bodyPr rtlCol="0" anchor="ctr"/>
          <a:lstStyle/>
          <a:p>
            <a:pPr algn="ctr"/>
          </a:p>
        </p:txBody>
      </p:sp>
      <p:sp>
        <p:nvSpPr>
          <p:cNvPr id="7" name="Rectangle 6"/>
          <p:cNvSpPr/>
          <p:nvPr/>
        </p:nvSpPr>
        <p:spPr>
          <a:xfrm>
            <a:off x="0" y="6565392"/>
            <a:ext cx="12198096" cy="13716"/>
          </a:xfrm>
          <a:prstGeom prst="rect">
            <a:avLst/>
          </a:prstGeom>
          <a:solidFill>
            <a:srgbClr val="E4DBCE"/>
          </a:solidFill>
          <a:ln>
            <a:noFill/>
          </a:ln>
        </p:spPr>
        <p:txBody>
          <a:bodyPr rtlCol="0" anchor="ctr"/>
          <a:lstStyle/>
          <a:p>
            <a:pPr algn="ctr"/>
          </a:p>
        </p:txBody>
      </p:sp>
      <p:sp>
        <p:nvSpPr>
          <p:cNvPr id="8" name="TextBox 7"/>
          <p:cNvSpPr txBox="1"/>
          <p:nvPr/>
        </p:nvSpPr>
        <p:spPr>
          <a:xfrm>
            <a:off x="420624" y="6601968"/>
            <a:ext cx="8412480" cy="237744"/>
          </a:xfrm>
          <a:prstGeom prst="rect">
            <a:avLst/>
          </a:prstGeom>
          <a:noFill/>
        </p:spPr>
        <p:txBody>
          <a:bodyPr wrap="square" anchor="ctr"/>
          <a:lstStyle/>
          <a:p>
            <a:pPr algn="l">
              <a:spcBef>
                <a:spcPts val="0"/>
              </a:spcBef>
              <a:spcAft>
                <a:spcPts val="0"/>
              </a:spcAft>
            </a:pPr>
            <a:r>
              <a:rPr sz="1100" b="0">
                <a:solidFill>
                  <a:srgbClr val="5C6570"/>
                </a:solidFill>
                <a:latin typeface="Calibri"/>
              </a:rPr>
              <a:t>Pu Zeng  ·  StudyCite and BiteWise</a:t>
            </a:r>
          </a:p>
        </p:txBody>
      </p:sp>
      <p:sp>
        <p:nvSpPr>
          <p:cNvPr id="9" name="TextBox 8"/>
          <p:cNvSpPr txBox="1"/>
          <p:nvPr/>
        </p:nvSpPr>
        <p:spPr>
          <a:xfrm>
            <a:off x="9509760" y="6601968"/>
            <a:ext cx="2267712" cy="237744"/>
          </a:xfrm>
          <a:prstGeom prst="rect">
            <a:avLst/>
          </a:prstGeom>
          <a:noFill/>
        </p:spPr>
        <p:txBody>
          <a:bodyPr wrap="square" anchor="ctr"/>
          <a:lstStyle/>
          <a:p>
            <a:pPr algn="r">
              <a:spcBef>
                <a:spcPts val="0"/>
              </a:spcBef>
              <a:spcAft>
                <a:spcPts val="0"/>
              </a:spcAft>
            </a:pPr>
            <a:r>
              <a:rPr sz="1100" b="0">
                <a:solidFill>
                  <a:srgbClr val="5C6570"/>
                </a:solidFill>
                <a:latin typeface="Calibri"/>
              </a:rPr>
              <a:t>11   /   24</a:t>
            </a:r>
          </a:p>
        </p:txBody>
      </p:sp>
      <p:sp>
        <p:nvSpPr>
          <p:cNvPr id="10" name="Rounded Rectangle 9"/>
          <p:cNvSpPr/>
          <p:nvPr/>
        </p:nvSpPr>
        <p:spPr>
          <a:xfrm>
            <a:off x="420624" y="1280160"/>
            <a:ext cx="11338560" cy="1133856"/>
          </a:xfrm>
          <a:prstGeom prst="roundRect">
            <a:avLst>
              <a:gd name="adj" fmla="val 8000"/>
            </a:avLst>
          </a:prstGeom>
          <a:solidFill>
            <a:srgbClr val="FFFFFF"/>
          </a:solidFill>
          <a:ln w="12700">
            <a:solidFill>
              <a:srgbClr val="E4DBCE"/>
            </a:solidFill>
          </a:ln>
        </p:spPr>
        <p:txBody>
          <a:bodyPr rtlCol="0" anchor="ctr"/>
          <a:lstStyle/>
          <a:p>
            <a:pPr algn="ctr"/>
          </a:p>
        </p:txBody>
      </p:sp>
      <p:sp>
        <p:nvSpPr>
          <p:cNvPr id="11" name="Rectangle 10"/>
          <p:cNvSpPr/>
          <p:nvPr/>
        </p:nvSpPr>
        <p:spPr>
          <a:xfrm>
            <a:off x="420624" y="1280160"/>
            <a:ext cx="822960" cy="1133856"/>
          </a:xfrm>
          <a:prstGeom prst="rect">
            <a:avLst/>
          </a:prstGeom>
          <a:solidFill>
            <a:srgbClr val="1A6A64"/>
          </a:solidFill>
          <a:ln>
            <a:noFill/>
          </a:ln>
        </p:spPr>
        <p:txBody>
          <a:bodyPr rtlCol="0" anchor="ctr"/>
          <a:lstStyle/>
          <a:p>
            <a:pPr algn="ctr"/>
          </a:p>
        </p:txBody>
      </p:sp>
      <p:sp>
        <p:nvSpPr>
          <p:cNvPr id="12" name="TextBox 11"/>
          <p:cNvSpPr txBox="1"/>
          <p:nvPr/>
        </p:nvSpPr>
        <p:spPr>
          <a:xfrm>
            <a:off x="420624" y="1627631"/>
            <a:ext cx="822960" cy="411480"/>
          </a:xfrm>
          <a:prstGeom prst="rect">
            <a:avLst/>
          </a:prstGeom>
          <a:noFill/>
        </p:spPr>
        <p:txBody>
          <a:bodyPr wrap="square" anchor="t"/>
          <a:lstStyle/>
          <a:p>
            <a:pPr algn="ctr">
              <a:spcBef>
                <a:spcPts val="0"/>
              </a:spcBef>
              <a:spcAft>
                <a:spcPts val="0"/>
              </a:spcAft>
            </a:pPr>
            <a:r>
              <a:rPr sz="2200" b="1">
                <a:solidFill>
                  <a:srgbClr val="FFFFFF"/>
                </a:solidFill>
                <a:latin typeface="Calibri"/>
              </a:rPr>
              <a:t>1</a:t>
            </a:r>
          </a:p>
        </p:txBody>
      </p:sp>
      <p:sp>
        <p:nvSpPr>
          <p:cNvPr id="13" name="TextBox 12"/>
          <p:cNvSpPr txBox="1"/>
          <p:nvPr/>
        </p:nvSpPr>
        <p:spPr>
          <a:xfrm>
            <a:off x="1463040" y="1426463"/>
            <a:ext cx="9966960" cy="329184"/>
          </a:xfrm>
          <a:prstGeom prst="rect">
            <a:avLst/>
          </a:prstGeom>
          <a:noFill/>
        </p:spPr>
        <p:txBody>
          <a:bodyPr wrap="square" anchor="t"/>
          <a:lstStyle/>
          <a:p>
            <a:pPr algn="l">
              <a:spcBef>
                <a:spcPts val="0"/>
              </a:spcBef>
              <a:spcAft>
                <a:spcPts val="0"/>
              </a:spcAft>
            </a:pPr>
            <a:r>
              <a:rPr sz="1600" b="1">
                <a:solidFill>
                  <a:srgbClr val="142238"/>
                </a:solidFill>
                <a:latin typeface="Calibri"/>
              </a:rPr>
              <a:t>AWS CLI</a:t>
            </a:r>
          </a:p>
        </p:txBody>
      </p:sp>
      <p:sp>
        <p:nvSpPr>
          <p:cNvPr id="14" name="TextBox 13"/>
          <p:cNvSpPr txBox="1"/>
          <p:nvPr/>
        </p:nvSpPr>
        <p:spPr>
          <a:xfrm>
            <a:off x="1463040" y="1810512"/>
            <a:ext cx="9966960" cy="457200"/>
          </a:xfrm>
          <a:prstGeom prst="rect">
            <a:avLst/>
          </a:prstGeom>
          <a:noFill/>
        </p:spPr>
        <p:txBody>
          <a:bodyPr wrap="square" anchor="t"/>
          <a:lstStyle/>
          <a:p>
            <a:pPr algn="l">
              <a:spcBef>
                <a:spcPts val="0"/>
              </a:spcBef>
              <a:spcAft>
                <a:spcPts val="0"/>
              </a:spcAft>
            </a:pPr>
            <a:r>
              <a:rPr sz="1400" b="0">
                <a:solidFill>
                  <a:srgbClr val="1C222B"/>
                </a:solidFill>
                <a:latin typeface="Calibri"/>
              </a:rPr>
              <a:t>Identity check succeeded from Cursor on September 19, 2026. Region us-west-2.</a:t>
            </a:r>
          </a:p>
        </p:txBody>
      </p:sp>
      <p:sp>
        <p:nvSpPr>
          <p:cNvPr id="15" name="Rounded Rectangle 14"/>
          <p:cNvSpPr/>
          <p:nvPr/>
        </p:nvSpPr>
        <p:spPr>
          <a:xfrm>
            <a:off x="420624" y="2514600"/>
            <a:ext cx="11338560" cy="1133856"/>
          </a:xfrm>
          <a:prstGeom prst="roundRect">
            <a:avLst>
              <a:gd name="adj" fmla="val 8000"/>
            </a:avLst>
          </a:prstGeom>
          <a:solidFill>
            <a:srgbClr val="FFFFFF"/>
          </a:solidFill>
          <a:ln w="12700">
            <a:solidFill>
              <a:srgbClr val="E4DBCE"/>
            </a:solidFill>
          </a:ln>
        </p:spPr>
        <p:txBody>
          <a:bodyPr rtlCol="0" anchor="ctr"/>
          <a:lstStyle/>
          <a:p>
            <a:pPr algn="ctr"/>
          </a:p>
        </p:txBody>
      </p:sp>
      <p:sp>
        <p:nvSpPr>
          <p:cNvPr id="16" name="Rectangle 15"/>
          <p:cNvSpPr/>
          <p:nvPr/>
        </p:nvSpPr>
        <p:spPr>
          <a:xfrm>
            <a:off x="420624" y="2514600"/>
            <a:ext cx="822960" cy="1133856"/>
          </a:xfrm>
          <a:prstGeom prst="rect">
            <a:avLst/>
          </a:prstGeom>
          <a:solidFill>
            <a:srgbClr val="1A6A64"/>
          </a:solidFill>
          <a:ln>
            <a:noFill/>
          </a:ln>
        </p:spPr>
        <p:txBody>
          <a:bodyPr rtlCol="0" anchor="ctr"/>
          <a:lstStyle/>
          <a:p>
            <a:pPr algn="ctr"/>
          </a:p>
        </p:txBody>
      </p:sp>
      <p:sp>
        <p:nvSpPr>
          <p:cNvPr id="17" name="TextBox 16"/>
          <p:cNvSpPr txBox="1"/>
          <p:nvPr/>
        </p:nvSpPr>
        <p:spPr>
          <a:xfrm>
            <a:off x="420624" y="2862072"/>
            <a:ext cx="822960" cy="411480"/>
          </a:xfrm>
          <a:prstGeom prst="rect">
            <a:avLst/>
          </a:prstGeom>
          <a:noFill/>
        </p:spPr>
        <p:txBody>
          <a:bodyPr wrap="square" anchor="t"/>
          <a:lstStyle/>
          <a:p>
            <a:pPr algn="ctr">
              <a:spcBef>
                <a:spcPts val="0"/>
              </a:spcBef>
              <a:spcAft>
                <a:spcPts val="0"/>
              </a:spcAft>
            </a:pPr>
            <a:r>
              <a:rPr sz="2200" b="1">
                <a:solidFill>
                  <a:srgbClr val="FFFFFF"/>
                </a:solidFill>
                <a:latin typeface="Calibri"/>
              </a:rPr>
              <a:t>2</a:t>
            </a:r>
          </a:p>
        </p:txBody>
      </p:sp>
      <p:sp>
        <p:nvSpPr>
          <p:cNvPr id="18" name="TextBox 17"/>
          <p:cNvSpPr txBox="1"/>
          <p:nvPr/>
        </p:nvSpPr>
        <p:spPr>
          <a:xfrm>
            <a:off x="1463040" y="2660904"/>
            <a:ext cx="9966960" cy="329184"/>
          </a:xfrm>
          <a:prstGeom prst="rect">
            <a:avLst/>
          </a:prstGeom>
          <a:noFill/>
        </p:spPr>
        <p:txBody>
          <a:bodyPr wrap="square" anchor="t"/>
          <a:lstStyle/>
          <a:p>
            <a:pPr algn="l">
              <a:spcBef>
                <a:spcPts val="0"/>
              </a:spcBef>
              <a:spcAft>
                <a:spcPts val="0"/>
              </a:spcAft>
            </a:pPr>
            <a:r>
              <a:rPr sz="1600" b="1">
                <a:solidFill>
                  <a:srgbClr val="142238"/>
                </a:solidFill>
                <a:latin typeface="Calibri"/>
              </a:rPr>
              <a:t>apprunner.yaml</a:t>
            </a:r>
          </a:p>
        </p:txBody>
      </p:sp>
      <p:sp>
        <p:nvSpPr>
          <p:cNvPr id="19" name="TextBox 18"/>
          <p:cNvSpPr txBox="1"/>
          <p:nvPr/>
        </p:nvSpPr>
        <p:spPr>
          <a:xfrm>
            <a:off x="1463040" y="3044952"/>
            <a:ext cx="9966960" cy="457200"/>
          </a:xfrm>
          <a:prstGeom prst="rect">
            <a:avLst/>
          </a:prstGeom>
          <a:noFill/>
        </p:spPr>
        <p:txBody>
          <a:bodyPr wrap="square" anchor="t"/>
          <a:lstStyle/>
          <a:p>
            <a:pPr algn="l">
              <a:spcBef>
                <a:spcPts val="0"/>
              </a:spcBef>
              <a:spcAft>
                <a:spcPts val="0"/>
              </a:spcAft>
            </a:pPr>
            <a:r>
              <a:rPr sz="1400" b="0">
                <a:solidFill>
                  <a:srgbClr val="1C222B"/>
                </a:solidFill>
                <a:latin typeface="Calibri"/>
              </a:rPr>
              <a:t>Node 22. npm ci and npm run build. Then Vite preview on 0.0.0.0 port 8080.</a:t>
            </a:r>
          </a:p>
        </p:txBody>
      </p:sp>
      <p:sp>
        <p:nvSpPr>
          <p:cNvPr id="20" name="Rounded Rectangle 19"/>
          <p:cNvSpPr/>
          <p:nvPr/>
        </p:nvSpPr>
        <p:spPr>
          <a:xfrm>
            <a:off x="420624" y="3749039"/>
            <a:ext cx="11338560" cy="1133856"/>
          </a:xfrm>
          <a:prstGeom prst="roundRect">
            <a:avLst>
              <a:gd name="adj" fmla="val 8000"/>
            </a:avLst>
          </a:prstGeom>
          <a:solidFill>
            <a:srgbClr val="FFFFFF"/>
          </a:solidFill>
          <a:ln w="12700">
            <a:solidFill>
              <a:srgbClr val="E4DBCE"/>
            </a:solidFill>
          </a:ln>
        </p:spPr>
        <p:txBody>
          <a:bodyPr rtlCol="0" anchor="ctr"/>
          <a:lstStyle/>
          <a:p>
            <a:pPr algn="ctr"/>
          </a:p>
        </p:txBody>
      </p:sp>
      <p:sp>
        <p:nvSpPr>
          <p:cNvPr id="21" name="Rectangle 20"/>
          <p:cNvSpPr/>
          <p:nvPr/>
        </p:nvSpPr>
        <p:spPr>
          <a:xfrm>
            <a:off x="420624" y="3749039"/>
            <a:ext cx="822960" cy="1133856"/>
          </a:xfrm>
          <a:prstGeom prst="rect">
            <a:avLst/>
          </a:prstGeom>
          <a:solidFill>
            <a:srgbClr val="1A6A64"/>
          </a:solidFill>
          <a:ln>
            <a:noFill/>
          </a:ln>
        </p:spPr>
        <p:txBody>
          <a:bodyPr rtlCol="0" anchor="ctr"/>
          <a:lstStyle/>
          <a:p>
            <a:pPr algn="ctr"/>
          </a:p>
        </p:txBody>
      </p:sp>
      <p:sp>
        <p:nvSpPr>
          <p:cNvPr id="22" name="TextBox 21"/>
          <p:cNvSpPr txBox="1"/>
          <p:nvPr/>
        </p:nvSpPr>
        <p:spPr>
          <a:xfrm>
            <a:off x="420624" y="4096511"/>
            <a:ext cx="822960" cy="411480"/>
          </a:xfrm>
          <a:prstGeom prst="rect">
            <a:avLst/>
          </a:prstGeom>
          <a:noFill/>
        </p:spPr>
        <p:txBody>
          <a:bodyPr wrap="square" anchor="t"/>
          <a:lstStyle/>
          <a:p>
            <a:pPr algn="ctr">
              <a:spcBef>
                <a:spcPts val="0"/>
              </a:spcBef>
              <a:spcAft>
                <a:spcPts val="0"/>
              </a:spcAft>
            </a:pPr>
            <a:r>
              <a:rPr sz="2200" b="1">
                <a:solidFill>
                  <a:srgbClr val="FFFFFF"/>
                </a:solidFill>
                <a:latin typeface="Calibri"/>
              </a:rPr>
              <a:t>3</a:t>
            </a:r>
          </a:p>
        </p:txBody>
      </p:sp>
      <p:sp>
        <p:nvSpPr>
          <p:cNvPr id="23" name="TextBox 22"/>
          <p:cNvSpPr txBox="1"/>
          <p:nvPr/>
        </p:nvSpPr>
        <p:spPr>
          <a:xfrm>
            <a:off x="1463040" y="3895344"/>
            <a:ext cx="9966960" cy="329184"/>
          </a:xfrm>
          <a:prstGeom prst="rect">
            <a:avLst/>
          </a:prstGeom>
          <a:noFill/>
        </p:spPr>
        <p:txBody>
          <a:bodyPr wrap="square" anchor="t"/>
          <a:lstStyle/>
          <a:p>
            <a:pPr algn="l">
              <a:spcBef>
                <a:spcPts val="0"/>
              </a:spcBef>
              <a:spcAft>
                <a:spcPts val="0"/>
              </a:spcAft>
            </a:pPr>
            <a:r>
              <a:rPr sz="1600" b="1">
                <a:solidFill>
                  <a:srgbClr val="142238"/>
                </a:solidFill>
                <a:latin typeface="Calibri"/>
              </a:rPr>
              <a:t>What is not recorded</a:t>
            </a:r>
          </a:p>
        </p:txBody>
      </p:sp>
      <p:sp>
        <p:nvSpPr>
          <p:cNvPr id="24" name="TextBox 23"/>
          <p:cNvSpPr txBox="1"/>
          <p:nvPr/>
        </p:nvSpPr>
        <p:spPr>
          <a:xfrm>
            <a:off x="1463040" y="4279392"/>
            <a:ext cx="9966960" cy="457200"/>
          </a:xfrm>
          <a:prstGeom prst="rect">
            <a:avLst/>
          </a:prstGeom>
          <a:noFill/>
        </p:spPr>
        <p:txBody>
          <a:bodyPr wrap="square" anchor="t"/>
          <a:lstStyle/>
          <a:p>
            <a:pPr algn="l">
              <a:spcBef>
                <a:spcPts val="0"/>
              </a:spcBef>
              <a:spcAft>
                <a:spcPts val="0"/>
              </a:spcAft>
            </a:pPr>
            <a:r>
              <a:rPr sz="1400" b="0">
                <a:solidFill>
                  <a:srgbClr val="1C222B"/>
                </a:solidFill>
                <a:latin typeface="Calibri"/>
              </a:rPr>
              <a:t>The README has no public App Runner hostname. I will not invent one.</a:t>
            </a:r>
          </a:p>
        </p:txBody>
      </p:sp>
      <p:sp>
        <p:nvSpPr>
          <p:cNvPr id="25" name="Rounded Rectangle 24"/>
          <p:cNvSpPr/>
          <p:nvPr/>
        </p:nvSpPr>
        <p:spPr>
          <a:xfrm>
            <a:off x="420624" y="4983480"/>
            <a:ext cx="11338560" cy="1133856"/>
          </a:xfrm>
          <a:prstGeom prst="roundRect">
            <a:avLst>
              <a:gd name="adj" fmla="val 8000"/>
            </a:avLst>
          </a:prstGeom>
          <a:solidFill>
            <a:srgbClr val="FFFFFF"/>
          </a:solidFill>
          <a:ln w="12700">
            <a:solidFill>
              <a:srgbClr val="E4DBCE"/>
            </a:solidFill>
          </a:ln>
        </p:spPr>
        <p:txBody>
          <a:bodyPr rtlCol="0" anchor="ctr"/>
          <a:lstStyle/>
          <a:p>
            <a:pPr algn="ctr"/>
          </a:p>
        </p:txBody>
      </p:sp>
      <p:sp>
        <p:nvSpPr>
          <p:cNvPr id="26" name="Rectangle 25"/>
          <p:cNvSpPr/>
          <p:nvPr/>
        </p:nvSpPr>
        <p:spPr>
          <a:xfrm>
            <a:off x="420624" y="4983480"/>
            <a:ext cx="822960" cy="1133856"/>
          </a:xfrm>
          <a:prstGeom prst="rect">
            <a:avLst/>
          </a:prstGeom>
          <a:solidFill>
            <a:srgbClr val="C2562A"/>
          </a:solidFill>
          <a:ln>
            <a:noFill/>
          </a:ln>
        </p:spPr>
        <p:txBody>
          <a:bodyPr rtlCol="0" anchor="ctr"/>
          <a:lstStyle/>
          <a:p>
            <a:pPr algn="ctr"/>
          </a:p>
        </p:txBody>
      </p:sp>
      <p:sp>
        <p:nvSpPr>
          <p:cNvPr id="27" name="TextBox 26"/>
          <p:cNvSpPr txBox="1"/>
          <p:nvPr/>
        </p:nvSpPr>
        <p:spPr>
          <a:xfrm>
            <a:off x="420624" y="5330952"/>
            <a:ext cx="822960" cy="411480"/>
          </a:xfrm>
          <a:prstGeom prst="rect">
            <a:avLst/>
          </a:prstGeom>
          <a:noFill/>
        </p:spPr>
        <p:txBody>
          <a:bodyPr wrap="square" anchor="t"/>
          <a:lstStyle/>
          <a:p>
            <a:pPr algn="ctr">
              <a:spcBef>
                <a:spcPts val="0"/>
              </a:spcBef>
              <a:spcAft>
                <a:spcPts val="0"/>
              </a:spcAft>
            </a:pPr>
            <a:r>
              <a:rPr sz="2200" b="1">
                <a:solidFill>
                  <a:srgbClr val="FFFFFF"/>
                </a:solidFill>
                <a:latin typeface="Calibri"/>
              </a:rPr>
              <a:t>4</a:t>
            </a:r>
          </a:p>
        </p:txBody>
      </p:sp>
      <p:sp>
        <p:nvSpPr>
          <p:cNvPr id="28" name="TextBox 27"/>
          <p:cNvSpPr txBox="1"/>
          <p:nvPr/>
        </p:nvSpPr>
        <p:spPr>
          <a:xfrm>
            <a:off x="1463040" y="5129784"/>
            <a:ext cx="9966960" cy="329184"/>
          </a:xfrm>
          <a:prstGeom prst="rect">
            <a:avLst/>
          </a:prstGeom>
          <a:noFill/>
        </p:spPr>
        <p:txBody>
          <a:bodyPr wrap="square" anchor="t"/>
          <a:lstStyle/>
          <a:p>
            <a:pPr algn="l">
              <a:spcBef>
                <a:spcPts val="0"/>
              </a:spcBef>
              <a:spcAft>
                <a:spcPts val="0"/>
              </a:spcAft>
            </a:pPr>
            <a:r>
              <a:rPr sz="1600" b="1">
                <a:solidFill>
                  <a:srgbClr val="142238"/>
                </a:solidFill>
                <a:latin typeface="Calibri"/>
              </a:rPr>
              <a:t>What answers</a:t>
            </a:r>
          </a:p>
        </p:txBody>
      </p:sp>
      <p:sp>
        <p:nvSpPr>
          <p:cNvPr id="29" name="TextBox 28"/>
          <p:cNvSpPr txBox="1"/>
          <p:nvPr/>
        </p:nvSpPr>
        <p:spPr>
          <a:xfrm>
            <a:off x="1463040" y="5513832"/>
            <a:ext cx="9966960" cy="457200"/>
          </a:xfrm>
          <a:prstGeom prst="rect">
            <a:avLst/>
          </a:prstGeom>
          <a:noFill/>
        </p:spPr>
        <p:txBody>
          <a:bodyPr wrap="square" anchor="t"/>
          <a:lstStyle/>
          <a:p>
            <a:pPr algn="l">
              <a:spcBef>
                <a:spcPts val="0"/>
              </a:spcBef>
              <a:spcAft>
                <a:spcPts val="0"/>
              </a:spcAft>
            </a:pPr>
            <a:r>
              <a:rPr sz="1400" b="0">
                <a:solidFill>
                  <a:srgbClr val="1C222B"/>
                </a:solidFill>
                <a:latin typeface="Calibri"/>
              </a:rPr>
              <a:t>The Workshop 1 prototype at triallens-ai.ai.studio still returns the app.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6858000"/>
          </a:xfrm>
          <a:prstGeom prst="rect">
            <a:avLst/>
          </a:prstGeom>
          <a:solidFill>
            <a:srgbClr val="F6F3EC"/>
          </a:solidFill>
          <a:ln>
            <a:noFill/>
          </a:ln>
        </p:spPr>
        <p:txBody>
          <a:bodyPr rtlCol="0" anchor="ctr"/>
          <a:lstStyle/>
          <a:p>
            <a:pPr algn="ctr"/>
          </a:p>
        </p:txBody>
      </p:sp>
      <p:sp>
        <p:nvSpPr>
          <p:cNvPr id="3" name="Rectangle 2"/>
          <p:cNvSpPr/>
          <p:nvPr/>
        </p:nvSpPr>
        <p:spPr>
          <a:xfrm>
            <a:off x="0" y="0"/>
            <a:ext cx="12198096" cy="73152"/>
          </a:xfrm>
          <a:prstGeom prst="rect">
            <a:avLst/>
          </a:prstGeom>
          <a:solidFill>
            <a:srgbClr val="1A6A64"/>
          </a:solidFill>
          <a:ln>
            <a:noFill/>
          </a:ln>
        </p:spPr>
        <p:txBody>
          <a:bodyPr rtlCol="0" anchor="ctr"/>
          <a:lstStyle/>
          <a:p>
            <a:pPr algn="ctr"/>
          </a:p>
        </p:txBody>
      </p:sp>
      <p:sp>
        <p:nvSpPr>
          <p:cNvPr id="4" name="TextBox 3"/>
          <p:cNvSpPr txBox="1"/>
          <p:nvPr/>
        </p:nvSpPr>
        <p:spPr>
          <a:xfrm>
            <a:off x="420624" y="201168"/>
            <a:ext cx="11155680" cy="256032"/>
          </a:xfrm>
          <a:prstGeom prst="rect">
            <a:avLst/>
          </a:prstGeom>
          <a:noFill/>
        </p:spPr>
        <p:txBody>
          <a:bodyPr wrap="square" anchor="t"/>
          <a:lstStyle/>
          <a:p>
            <a:pPr algn="l">
              <a:spcBef>
                <a:spcPts val="0"/>
              </a:spcBef>
              <a:spcAft>
                <a:spcPts val="0"/>
              </a:spcAft>
            </a:pPr>
            <a:r>
              <a:rPr sz="1200" b="1">
                <a:solidFill>
                  <a:srgbClr val="1A6A64"/>
                </a:solidFill>
                <a:latin typeface="Calibri"/>
              </a:rPr>
              <a:t>APPLICATION 1  ·  PHASE 5</a:t>
            </a:r>
          </a:p>
        </p:txBody>
      </p:sp>
      <p:sp>
        <p:nvSpPr>
          <p:cNvPr id="5" name="TextBox 4"/>
          <p:cNvSpPr txBox="1"/>
          <p:nvPr/>
        </p:nvSpPr>
        <p:spPr>
          <a:xfrm>
            <a:off x="420624" y="438912"/>
            <a:ext cx="11247120" cy="566928"/>
          </a:xfrm>
          <a:prstGeom prst="rect">
            <a:avLst/>
          </a:prstGeom>
          <a:noFill/>
        </p:spPr>
        <p:txBody>
          <a:bodyPr wrap="square" anchor="t"/>
          <a:lstStyle/>
          <a:p>
            <a:pPr algn="l">
              <a:spcBef>
                <a:spcPts val="0"/>
              </a:spcBef>
              <a:spcAft>
                <a:spcPts val="0"/>
              </a:spcAft>
            </a:pPr>
            <a:r>
              <a:rPr sz="2800" b="1">
                <a:solidFill>
                  <a:srgbClr val="142238"/>
                </a:solidFill>
                <a:latin typeface="Calibri"/>
              </a:rPr>
              <a:t>Deployment challenges</a:t>
            </a:r>
          </a:p>
        </p:txBody>
      </p:sp>
      <p:sp>
        <p:nvSpPr>
          <p:cNvPr id="6" name="Rectangle 5"/>
          <p:cNvSpPr/>
          <p:nvPr/>
        </p:nvSpPr>
        <p:spPr>
          <a:xfrm>
            <a:off x="438912" y="1042415"/>
            <a:ext cx="1234440" cy="32004"/>
          </a:xfrm>
          <a:prstGeom prst="rect">
            <a:avLst/>
          </a:prstGeom>
          <a:solidFill>
            <a:srgbClr val="8C6A32"/>
          </a:solidFill>
          <a:ln>
            <a:noFill/>
          </a:ln>
        </p:spPr>
        <p:txBody>
          <a:bodyPr rtlCol="0" anchor="ctr"/>
          <a:lstStyle/>
          <a:p>
            <a:pPr algn="ctr"/>
          </a:p>
        </p:txBody>
      </p:sp>
      <p:sp>
        <p:nvSpPr>
          <p:cNvPr id="7" name="Rectangle 6"/>
          <p:cNvSpPr/>
          <p:nvPr/>
        </p:nvSpPr>
        <p:spPr>
          <a:xfrm>
            <a:off x="0" y="6565392"/>
            <a:ext cx="12198096" cy="13716"/>
          </a:xfrm>
          <a:prstGeom prst="rect">
            <a:avLst/>
          </a:prstGeom>
          <a:solidFill>
            <a:srgbClr val="E4DBCE"/>
          </a:solidFill>
          <a:ln>
            <a:noFill/>
          </a:ln>
        </p:spPr>
        <p:txBody>
          <a:bodyPr rtlCol="0" anchor="ctr"/>
          <a:lstStyle/>
          <a:p>
            <a:pPr algn="ctr"/>
          </a:p>
        </p:txBody>
      </p:sp>
      <p:sp>
        <p:nvSpPr>
          <p:cNvPr id="8" name="TextBox 7"/>
          <p:cNvSpPr txBox="1"/>
          <p:nvPr/>
        </p:nvSpPr>
        <p:spPr>
          <a:xfrm>
            <a:off x="420624" y="6601968"/>
            <a:ext cx="8412480" cy="237744"/>
          </a:xfrm>
          <a:prstGeom prst="rect">
            <a:avLst/>
          </a:prstGeom>
          <a:noFill/>
        </p:spPr>
        <p:txBody>
          <a:bodyPr wrap="square" anchor="ctr"/>
          <a:lstStyle/>
          <a:p>
            <a:pPr algn="l">
              <a:spcBef>
                <a:spcPts val="0"/>
              </a:spcBef>
              <a:spcAft>
                <a:spcPts val="0"/>
              </a:spcAft>
            </a:pPr>
            <a:r>
              <a:rPr sz="1100" b="0">
                <a:solidFill>
                  <a:srgbClr val="5C6570"/>
                </a:solidFill>
                <a:latin typeface="Calibri"/>
              </a:rPr>
              <a:t>Pu Zeng  ·  StudyCite and BiteWise</a:t>
            </a:r>
          </a:p>
        </p:txBody>
      </p:sp>
      <p:sp>
        <p:nvSpPr>
          <p:cNvPr id="9" name="TextBox 8"/>
          <p:cNvSpPr txBox="1"/>
          <p:nvPr/>
        </p:nvSpPr>
        <p:spPr>
          <a:xfrm>
            <a:off x="9509760" y="6601968"/>
            <a:ext cx="2267712" cy="237744"/>
          </a:xfrm>
          <a:prstGeom prst="rect">
            <a:avLst/>
          </a:prstGeom>
          <a:noFill/>
        </p:spPr>
        <p:txBody>
          <a:bodyPr wrap="square" anchor="ctr"/>
          <a:lstStyle/>
          <a:p>
            <a:pPr algn="r">
              <a:spcBef>
                <a:spcPts val="0"/>
              </a:spcBef>
              <a:spcAft>
                <a:spcPts val="0"/>
              </a:spcAft>
            </a:pPr>
            <a:r>
              <a:rPr sz="1100" b="0">
                <a:solidFill>
                  <a:srgbClr val="5C6570"/>
                </a:solidFill>
                <a:latin typeface="Calibri"/>
              </a:rPr>
              <a:t>12   /   24</a:t>
            </a:r>
          </a:p>
        </p:txBody>
      </p:sp>
      <p:sp>
        <p:nvSpPr>
          <p:cNvPr id="10" name="Rounded Rectangle 9"/>
          <p:cNvSpPr/>
          <p:nvPr/>
        </p:nvSpPr>
        <p:spPr>
          <a:xfrm>
            <a:off x="420624" y="1298448"/>
            <a:ext cx="5623560" cy="1828800"/>
          </a:xfrm>
          <a:prstGeom prst="roundRect">
            <a:avLst>
              <a:gd name="adj" fmla="val 8000"/>
            </a:avLst>
          </a:prstGeom>
          <a:solidFill>
            <a:srgbClr val="FFFFFF"/>
          </a:solidFill>
          <a:ln w="12700">
            <a:solidFill>
              <a:srgbClr val="E4DBCE"/>
            </a:solidFill>
          </a:ln>
        </p:spPr>
        <p:txBody>
          <a:bodyPr rtlCol="0" anchor="ctr"/>
          <a:lstStyle/>
          <a:p>
            <a:pPr algn="ctr"/>
          </a:p>
        </p:txBody>
      </p:sp>
      <p:sp>
        <p:nvSpPr>
          <p:cNvPr id="11" name="TextBox 10"/>
          <p:cNvSpPr txBox="1"/>
          <p:nvPr/>
        </p:nvSpPr>
        <p:spPr>
          <a:xfrm>
            <a:off x="640080" y="1481328"/>
            <a:ext cx="5212080" cy="502920"/>
          </a:xfrm>
          <a:prstGeom prst="rect">
            <a:avLst/>
          </a:prstGeom>
          <a:noFill/>
        </p:spPr>
        <p:txBody>
          <a:bodyPr wrap="square" anchor="t"/>
          <a:lstStyle/>
          <a:p>
            <a:pPr algn="l">
              <a:spcBef>
                <a:spcPts val="0"/>
              </a:spcBef>
              <a:spcAft>
                <a:spcPts val="0"/>
              </a:spcAft>
            </a:pPr>
            <a:r>
              <a:rPr sz="1600" b="1">
                <a:solidFill>
                  <a:srgbClr val="142238"/>
                </a:solidFill>
                <a:latin typeface="Calibri"/>
              </a:rPr>
              <a:t>A config file is not a service</a:t>
            </a:r>
          </a:p>
        </p:txBody>
      </p:sp>
      <p:sp>
        <p:nvSpPr>
          <p:cNvPr id="12" name="TextBox 11"/>
          <p:cNvSpPr txBox="1"/>
          <p:nvPr/>
        </p:nvSpPr>
        <p:spPr>
          <a:xfrm>
            <a:off x="640080" y="2075688"/>
            <a:ext cx="5212080" cy="822960"/>
          </a:xfrm>
          <a:prstGeom prst="rect">
            <a:avLst/>
          </a:prstGeom>
          <a:noFill/>
        </p:spPr>
        <p:txBody>
          <a:bodyPr wrap="square" anchor="t"/>
          <a:lstStyle/>
          <a:p>
            <a:pPr algn="l">
              <a:spcBef>
                <a:spcPts val="0"/>
              </a:spcBef>
              <a:spcAft>
                <a:spcPts val="0"/>
              </a:spcAft>
            </a:pPr>
            <a:r>
              <a:rPr sz="1400" b="0">
                <a:solidFill>
                  <a:srgbClr val="1C222B"/>
                </a:solidFill>
                <a:latin typeface="Calibri"/>
              </a:rPr>
              <a:t>App Runner settings are checked in. No public service URL was recorded, so the live demo remains the prototype host.</a:t>
            </a:r>
          </a:p>
        </p:txBody>
      </p:sp>
      <p:sp>
        <p:nvSpPr>
          <p:cNvPr id="13" name="Rounded Rectangle 12"/>
          <p:cNvSpPr/>
          <p:nvPr/>
        </p:nvSpPr>
        <p:spPr>
          <a:xfrm>
            <a:off x="6272784" y="1298448"/>
            <a:ext cx="5623560" cy="1828800"/>
          </a:xfrm>
          <a:prstGeom prst="roundRect">
            <a:avLst>
              <a:gd name="adj" fmla="val 8000"/>
            </a:avLst>
          </a:prstGeom>
          <a:solidFill>
            <a:srgbClr val="FFFFFF"/>
          </a:solidFill>
          <a:ln w="12700">
            <a:solidFill>
              <a:srgbClr val="E4DBCE"/>
            </a:solidFill>
          </a:ln>
        </p:spPr>
        <p:txBody>
          <a:bodyPr rtlCol="0" anchor="ctr"/>
          <a:lstStyle/>
          <a:p>
            <a:pPr algn="ctr"/>
          </a:p>
        </p:txBody>
      </p:sp>
      <p:sp>
        <p:nvSpPr>
          <p:cNvPr id="14" name="TextBox 13"/>
          <p:cNvSpPr txBox="1"/>
          <p:nvPr/>
        </p:nvSpPr>
        <p:spPr>
          <a:xfrm>
            <a:off x="6492240" y="1481328"/>
            <a:ext cx="5212080" cy="502920"/>
          </a:xfrm>
          <a:prstGeom prst="rect">
            <a:avLst/>
          </a:prstGeom>
          <a:noFill/>
        </p:spPr>
        <p:txBody>
          <a:bodyPr wrap="square" anchor="t"/>
          <a:lstStyle/>
          <a:p>
            <a:pPr algn="l">
              <a:spcBef>
                <a:spcPts val="0"/>
              </a:spcBef>
              <a:spcAft>
                <a:spcPts val="0"/>
              </a:spcAft>
            </a:pPr>
            <a:r>
              <a:rPr sz="1600" b="1">
                <a:solidFill>
                  <a:srgbClr val="142238"/>
                </a:solidFill>
                <a:latin typeface="Calibri"/>
              </a:rPr>
              <a:t>The prototype was sometimes unreachable</a:t>
            </a:r>
          </a:p>
        </p:txBody>
      </p:sp>
      <p:sp>
        <p:nvSpPr>
          <p:cNvPr id="15" name="TextBox 14"/>
          <p:cNvSpPr txBox="1"/>
          <p:nvPr/>
        </p:nvSpPr>
        <p:spPr>
          <a:xfrm>
            <a:off x="6492240" y="2075688"/>
            <a:ext cx="5212080" cy="822960"/>
          </a:xfrm>
          <a:prstGeom prst="rect">
            <a:avLst/>
          </a:prstGeom>
          <a:noFill/>
        </p:spPr>
        <p:txBody>
          <a:bodyPr wrap="square" anchor="t"/>
          <a:lstStyle/>
          <a:p>
            <a:pPr algn="l">
              <a:spcBef>
                <a:spcPts val="0"/>
              </a:spcBef>
              <a:spcAft>
                <a:spcPts val="0"/>
              </a:spcAft>
            </a:pPr>
            <a:r>
              <a:rPr sz="1400" b="0">
                <a:solidFill>
                  <a:srgbClr val="1C222B"/>
                </a:solidFill>
                <a:latin typeface="Calibri"/>
              </a:rPr>
              <a:t>During the IDE conversion the agent could not copy the original file. The Word specification and later screenshots filled the gap.</a:t>
            </a:r>
          </a:p>
        </p:txBody>
      </p:sp>
      <p:sp>
        <p:nvSpPr>
          <p:cNvPr id="16" name="Rounded Rectangle 15"/>
          <p:cNvSpPr/>
          <p:nvPr/>
        </p:nvSpPr>
        <p:spPr>
          <a:xfrm>
            <a:off x="420624" y="3264408"/>
            <a:ext cx="5623560" cy="1828800"/>
          </a:xfrm>
          <a:prstGeom prst="roundRect">
            <a:avLst>
              <a:gd name="adj" fmla="val 8000"/>
            </a:avLst>
          </a:prstGeom>
          <a:solidFill>
            <a:srgbClr val="FFFFFF"/>
          </a:solidFill>
          <a:ln w="12700">
            <a:solidFill>
              <a:srgbClr val="E4DBCE"/>
            </a:solidFill>
          </a:ln>
        </p:spPr>
        <p:txBody>
          <a:bodyPr rtlCol="0" anchor="ctr"/>
          <a:lstStyle/>
          <a:p>
            <a:pPr algn="ctr"/>
          </a:p>
        </p:txBody>
      </p:sp>
      <p:sp>
        <p:nvSpPr>
          <p:cNvPr id="17" name="TextBox 16"/>
          <p:cNvSpPr txBox="1"/>
          <p:nvPr/>
        </p:nvSpPr>
        <p:spPr>
          <a:xfrm>
            <a:off x="640080" y="3447288"/>
            <a:ext cx="5212080" cy="502920"/>
          </a:xfrm>
          <a:prstGeom prst="rect">
            <a:avLst/>
          </a:prstGeom>
          <a:noFill/>
        </p:spPr>
        <p:txBody>
          <a:bodyPr wrap="square" anchor="t"/>
          <a:lstStyle/>
          <a:p>
            <a:pPr algn="l">
              <a:spcBef>
                <a:spcPts val="0"/>
              </a:spcBef>
              <a:spcAft>
                <a:spcPts val="0"/>
              </a:spcAft>
            </a:pPr>
            <a:r>
              <a:rPr sz="1600" b="1">
                <a:solidFill>
                  <a:srgbClr val="142238"/>
                </a:solidFill>
                <a:latin typeface="Calibri"/>
              </a:rPr>
              <a:t>A static preview cannot hold the target stack</a:t>
            </a:r>
          </a:p>
        </p:txBody>
      </p:sp>
      <p:sp>
        <p:nvSpPr>
          <p:cNvPr id="18" name="TextBox 17"/>
          <p:cNvSpPr txBox="1"/>
          <p:nvPr/>
        </p:nvSpPr>
        <p:spPr>
          <a:xfrm>
            <a:off x="640080" y="4041648"/>
            <a:ext cx="5212080" cy="822960"/>
          </a:xfrm>
          <a:prstGeom prst="rect">
            <a:avLst/>
          </a:prstGeom>
          <a:noFill/>
        </p:spPr>
        <p:txBody>
          <a:bodyPr wrap="square" anchor="t"/>
          <a:lstStyle/>
          <a:p>
            <a:pPr algn="l">
              <a:spcBef>
                <a:spcPts val="0"/>
              </a:spcBef>
              <a:spcAft>
                <a:spcPts val="0"/>
              </a:spcAft>
            </a:pPr>
            <a:r>
              <a:rPr sz="1400" b="0">
                <a:solidFill>
                  <a:srgbClr val="1C222B"/>
                </a:solidFill>
                <a:latin typeface="Calibri"/>
              </a:rPr>
              <a:t>Vite preview has no FastAPI, no pgvector, and no Cognito. Shipping the preview would not have made Phase 2 true.</a:t>
            </a:r>
          </a:p>
        </p:txBody>
      </p:sp>
      <p:sp>
        <p:nvSpPr>
          <p:cNvPr id="19" name="Rounded Rectangle 18"/>
          <p:cNvSpPr/>
          <p:nvPr/>
        </p:nvSpPr>
        <p:spPr>
          <a:xfrm>
            <a:off x="6272784" y="3264408"/>
            <a:ext cx="5623560" cy="1828800"/>
          </a:xfrm>
          <a:prstGeom prst="roundRect">
            <a:avLst>
              <a:gd name="adj" fmla="val 8000"/>
            </a:avLst>
          </a:prstGeom>
          <a:solidFill>
            <a:srgbClr val="FFFFFF"/>
          </a:solidFill>
          <a:ln w="12700">
            <a:solidFill>
              <a:srgbClr val="E4DBCE"/>
            </a:solidFill>
          </a:ln>
        </p:spPr>
        <p:txBody>
          <a:bodyPr rtlCol="0" anchor="ctr"/>
          <a:lstStyle/>
          <a:p>
            <a:pPr algn="ctr"/>
          </a:p>
        </p:txBody>
      </p:sp>
      <p:sp>
        <p:nvSpPr>
          <p:cNvPr id="20" name="TextBox 19"/>
          <p:cNvSpPr txBox="1"/>
          <p:nvPr/>
        </p:nvSpPr>
        <p:spPr>
          <a:xfrm>
            <a:off x="6492240" y="3447288"/>
            <a:ext cx="5212080" cy="502920"/>
          </a:xfrm>
          <a:prstGeom prst="rect">
            <a:avLst/>
          </a:prstGeom>
          <a:noFill/>
        </p:spPr>
        <p:txBody>
          <a:bodyPr wrap="square" anchor="t"/>
          <a:lstStyle/>
          <a:p>
            <a:pPr algn="l">
              <a:spcBef>
                <a:spcPts val="0"/>
              </a:spcBef>
              <a:spcAft>
                <a:spcPts val="0"/>
              </a:spcAft>
            </a:pPr>
            <a:r>
              <a:rPr sz="1600" b="1">
                <a:solidFill>
                  <a:srgbClr val="142238"/>
                </a:solidFill>
                <a:latin typeface="Calibri"/>
              </a:rPr>
              <a:t>Naming collided</a:t>
            </a:r>
          </a:p>
        </p:txBody>
      </p:sp>
      <p:sp>
        <p:nvSpPr>
          <p:cNvPr id="21" name="TextBox 20"/>
          <p:cNvSpPr txBox="1"/>
          <p:nvPr/>
        </p:nvSpPr>
        <p:spPr>
          <a:xfrm>
            <a:off x="6492240" y="4041648"/>
            <a:ext cx="5212080" cy="822960"/>
          </a:xfrm>
          <a:prstGeom prst="rect">
            <a:avLst/>
          </a:prstGeom>
          <a:noFill/>
        </p:spPr>
        <p:txBody>
          <a:bodyPr wrap="square" anchor="t"/>
          <a:lstStyle/>
          <a:p>
            <a:pPr algn="l">
              <a:spcBef>
                <a:spcPts val="0"/>
              </a:spcBef>
              <a:spcAft>
                <a:spcPts val="0"/>
              </a:spcAft>
            </a:pPr>
            <a:r>
              <a:rPr sz="1400" b="0">
                <a:solidFill>
                  <a:srgbClr val="1C222B"/>
                </a:solidFill>
                <a:latin typeface="Calibri"/>
              </a:rPr>
              <a:t>TrialLens is already used by Clinical ink. The repository name StudyCite matches the citation rule. The old host still shows the old name.</a:t>
            </a:r>
          </a:p>
        </p:txBody>
      </p:sp>
      <p:sp>
        <p:nvSpPr>
          <p:cNvPr id="22" name="TextBox 21"/>
          <p:cNvSpPr txBox="1"/>
          <p:nvPr/>
        </p:nvSpPr>
        <p:spPr>
          <a:xfrm>
            <a:off x="438912" y="5349240"/>
            <a:ext cx="11247120" cy="960120"/>
          </a:xfrm>
          <a:prstGeom prst="rect">
            <a:avLst/>
          </a:prstGeom>
          <a:noFill/>
        </p:spPr>
        <p:txBody>
          <a:bodyPr wrap="square" anchor="t"/>
          <a:lstStyle/>
          <a:p>
            <a:pPr algn="l">
              <a:spcBef>
                <a:spcPts val="0"/>
              </a:spcBef>
              <a:spcAft>
                <a:spcPts val="0"/>
              </a:spcAft>
            </a:pPr>
            <a:r>
              <a:rPr sz="1800" b="1">
                <a:solidFill>
                  <a:srgbClr val="1A6A64"/>
                </a:solidFill>
                <a:latin typeface="Calibri"/>
              </a:rPr>
              <a:t>Live demo for Application 1:  https://triallens-ai.ai.studio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6858000"/>
          </a:xfrm>
          <a:prstGeom prst="rect">
            <a:avLst/>
          </a:prstGeom>
          <a:solidFill>
            <a:srgbClr val="F6F3EC"/>
          </a:solidFill>
          <a:ln>
            <a:noFill/>
          </a:ln>
        </p:spPr>
        <p:txBody>
          <a:bodyPr rtlCol="0" anchor="ctr"/>
          <a:lstStyle/>
          <a:p>
            <a:pPr algn="ctr"/>
          </a:p>
        </p:txBody>
      </p:sp>
      <p:sp>
        <p:nvSpPr>
          <p:cNvPr id="3" name="Rectangle 2"/>
          <p:cNvSpPr/>
          <p:nvPr/>
        </p:nvSpPr>
        <p:spPr>
          <a:xfrm>
            <a:off x="0" y="0"/>
            <a:ext cx="12198096" cy="73152"/>
          </a:xfrm>
          <a:prstGeom prst="rect">
            <a:avLst/>
          </a:prstGeom>
          <a:solidFill>
            <a:srgbClr val="1A6A64"/>
          </a:solidFill>
          <a:ln>
            <a:noFill/>
          </a:ln>
        </p:spPr>
        <p:txBody>
          <a:bodyPr rtlCol="0" anchor="ctr"/>
          <a:lstStyle/>
          <a:p>
            <a:pPr algn="ctr"/>
          </a:p>
        </p:txBody>
      </p:sp>
      <p:sp>
        <p:nvSpPr>
          <p:cNvPr id="4" name="TextBox 3"/>
          <p:cNvSpPr txBox="1"/>
          <p:nvPr/>
        </p:nvSpPr>
        <p:spPr>
          <a:xfrm>
            <a:off x="420624" y="201168"/>
            <a:ext cx="11155680" cy="256032"/>
          </a:xfrm>
          <a:prstGeom prst="rect">
            <a:avLst/>
          </a:prstGeom>
          <a:noFill/>
        </p:spPr>
        <p:txBody>
          <a:bodyPr wrap="square" anchor="t"/>
          <a:lstStyle/>
          <a:p>
            <a:pPr algn="l">
              <a:spcBef>
                <a:spcPts val="0"/>
              </a:spcBef>
              <a:spcAft>
                <a:spcPts val="0"/>
              </a:spcAft>
            </a:pPr>
            <a:r>
              <a:rPr sz="1200" b="1">
                <a:solidFill>
                  <a:srgbClr val="1A6A64"/>
                </a:solidFill>
                <a:latin typeface="Calibri"/>
              </a:rPr>
              <a:t>APPLICATION 1  ·  PHASE 6  ·  WORKSHOP 4</a:t>
            </a:r>
          </a:p>
        </p:txBody>
      </p:sp>
      <p:sp>
        <p:nvSpPr>
          <p:cNvPr id="5" name="TextBox 4"/>
          <p:cNvSpPr txBox="1"/>
          <p:nvPr/>
        </p:nvSpPr>
        <p:spPr>
          <a:xfrm>
            <a:off x="420624" y="438912"/>
            <a:ext cx="11247120" cy="566928"/>
          </a:xfrm>
          <a:prstGeom prst="rect">
            <a:avLst/>
          </a:prstGeom>
          <a:noFill/>
        </p:spPr>
        <p:txBody>
          <a:bodyPr wrap="square" anchor="t"/>
          <a:lstStyle/>
          <a:p>
            <a:pPr algn="l">
              <a:spcBef>
                <a:spcPts val="0"/>
              </a:spcBef>
              <a:spcAft>
                <a:spcPts val="0"/>
              </a:spcAft>
            </a:pPr>
            <a:r>
              <a:rPr sz="2800" b="1">
                <a:solidFill>
                  <a:srgbClr val="142238"/>
                </a:solidFill>
                <a:latin typeface="Calibri"/>
              </a:rPr>
              <a:t>Feedback the product can collect</a:t>
            </a:r>
          </a:p>
        </p:txBody>
      </p:sp>
      <p:sp>
        <p:nvSpPr>
          <p:cNvPr id="6" name="Rectangle 5"/>
          <p:cNvSpPr/>
          <p:nvPr/>
        </p:nvSpPr>
        <p:spPr>
          <a:xfrm>
            <a:off x="438912" y="1042415"/>
            <a:ext cx="1234440" cy="32004"/>
          </a:xfrm>
          <a:prstGeom prst="rect">
            <a:avLst/>
          </a:prstGeom>
          <a:solidFill>
            <a:srgbClr val="8C6A32"/>
          </a:solidFill>
          <a:ln>
            <a:noFill/>
          </a:ln>
        </p:spPr>
        <p:txBody>
          <a:bodyPr rtlCol="0" anchor="ctr"/>
          <a:lstStyle/>
          <a:p>
            <a:pPr algn="ctr"/>
          </a:p>
        </p:txBody>
      </p:sp>
      <p:sp>
        <p:nvSpPr>
          <p:cNvPr id="7" name="Rectangle 6"/>
          <p:cNvSpPr/>
          <p:nvPr/>
        </p:nvSpPr>
        <p:spPr>
          <a:xfrm>
            <a:off x="0" y="6565392"/>
            <a:ext cx="12198096" cy="13716"/>
          </a:xfrm>
          <a:prstGeom prst="rect">
            <a:avLst/>
          </a:prstGeom>
          <a:solidFill>
            <a:srgbClr val="E4DBCE"/>
          </a:solidFill>
          <a:ln>
            <a:noFill/>
          </a:ln>
        </p:spPr>
        <p:txBody>
          <a:bodyPr rtlCol="0" anchor="ctr"/>
          <a:lstStyle/>
          <a:p>
            <a:pPr algn="ctr"/>
          </a:p>
        </p:txBody>
      </p:sp>
      <p:sp>
        <p:nvSpPr>
          <p:cNvPr id="8" name="TextBox 7"/>
          <p:cNvSpPr txBox="1"/>
          <p:nvPr/>
        </p:nvSpPr>
        <p:spPr>
          <a:xfrm>
            <a:off x="420624" y="6601968"/>
            <a:ext cx="8412480" cy="237744"/>
          </a:xfrm>
          <a:prstGeom prst="rect">
            <a:avLst/>
          </a:prstGeom>
          <a:noFill/>
        </p:spPr>
        <p:txBody>
          <a:bodyPr wrap="square" anchor="ctr"/>
          <a:lstStyle/>
          <a:p>
            <a:pPr algn="l">
              <a:spcBef>
                <a:spcPts val="0"/>
              </a:spcBef>
              <a:spcAft>
                <a:spcPts val="0"/>
              </a:spcAft>
            </a:pPr>
            <a:r>
              <a:rPr sz="1100" b="0">
                <a:solidFill>
                  <a:srgbClr val="5C6570"/>
                </a:solidFill>
                <a:latin typeface="Calibri"/>
              </a:rPr>
              <a:t>Pu Zeng  ·  StudyCite and BiteWise</a:t>
            </a:r>
          </a:p>
        </p:txBody>
      </p:sp>
      <p:sp>
        <p:nvSpPr>
          <p:cNvPr id="9" name="TextBox 8"/>
          <p:cNvSpPr txBox="1"/>
          <p:nvPr/>
        </p:nvSpPr>
        <p:spPr>
          <a:xfrm>
            <a:off x="9509760" y="6601968"/>
            <a:ext cx="2267712" cy="237744"/>
          </a:xfrm>
          <a:prstGeom prst="rect">
            <a:avLst/>
          </a:prstGeom>
          <a:noFill/>
        </p:spPr>
        <p:txBody>
          <a:bodyPr wrap="square" anchor="ctr"/>
          <a:lstStyle/>
          <a:p>
            <a:pPr algn="r">
              <a:spcBef>
                <a:spcPts val="0"/>
              </a:spcBef>
              <a:spcAft>
                <a:spcPts val="0"/>
              </a:spcAft>
            </a:pPr>
            <a:r>
              <a:rPr sz="1100" b="0">
                <a:solidFill>
                  <a:srgbClr val="5C6570"/>
                </a:solidFill>
                <a:latin typeface="Calibri"/>
              </a:rPr>
              <a:t>13   /   24</a:t>
            </a:r>
          </a:p>
        </p:txBody>
      </p:sp>
      <p:sp>
        <p:nvSpPr>
          <p:cNvPr id="10" name="TextBox 9"/>
          <p:cNvSpPr txBox="1"/>
          <p:nvPr/>
        </p:nvSpPr>
        <p:spPr>
          <a:xfrm>
            <a:off x="438912" y="1243584"/>
            <a:ext cx="11247120" cy="594360"/>
          </a:xfrm>
          <a:prstGeom prst="rect">
            <a:avLst/>
          </a:prstGeom>
          <a:noFill/>
        </p:spPr>
        <p:txBody>
          <a:bodyPr wrap="square" anchor="t"/>
          <a:lstStyle/>
          <a:p>
            <a:pPr algn="l">
              <a:spcBef>
                <a:spcPts val="0"/>
              </a:spcBef>
              <a:spcAft>
                <a:spcPts val="0"/>
              </a:spcAft>
            </a:pPr>
            <a:r>
              <a:rPr sz="1600" b="0">
                <a:solidFill>
                  <a:srgbClr val="1C222B"/>
                </a:solidFill>
                <a:latin typeface="Calibri"/>
              </a:rPr>
              <a:t>Every answer can be marked helpful or not helpful. A negative reason has to name the failure, not just the mood.</a:t>
            </a:r>
          </a:p>
        </p:txBody>
      </p:sp>
      <p:sp>
        <p:nvSpPr>
          <p:cNvPr id="11" name="Rounded Rectangle 10"/>
          <p:cNvSpPr/>
          <p:nvPr/>
        </p:nvSpPr>
        <p:spPr>
          <a:xfrm>
            <a:off x="420624" y="1965960"/>
            <a:ext cx="2212848" cy="1051560"/>
          </a:xfrm>
          <a:prstGeom prst="roundRect">
            <a:avLst>
              <a:gd name="adj" fmla="val 8000"/>
            </a:avLst>
          </a:prstGeom>
          <a:solidFill>
            <a:srgbClr val="E7F3F1"/>
          </a:solidFill>
          <a:ln w="12700">
            <a:solidFill>
              <a:srgbClr val="E4DBCE"/>
            </a:solidFill>
          </a:ln>
        </p:spPr>
        <p:txBody>
          <a:bodyPr rtlCol="0" anchor="ctr"/>
          <a:lstStyle/>
          <a:p>
            <a:pPr algn="ctr"/>
          </a:p>
        </p:txBody>
      </p:sp>
      <p:sp>
        <p:nvSpPr>
          <p:cNvPr id="12" name="TextBox 11"/>
          <p:cNvSpPr txBox="1"/>
          <p:nvPr/>
        </p:nvSpPr>
        <p:spPr>
          <a:xfrm>
            <a:off x="512064" y="2240280"/>
            <a:ext cx="2029968" cy="548640"/>
          </a:xfrm>
          <a:prstGeom prst="rect">
            <a:avLst/>
          </a:prstGeom>
          <a:noFill/>
        </p:spPr>
        <p:txBody>
          <a:bodyPr wrap="square" anchor="ctr"/>
          <a:lstStyle/>
          <a:p>
            <a:pPr algn="ctr">
              <a:spcBef>
                <a:spcPts val="0"/>
              </a:spcBef>
              <a:spcAft>
                <a:spcPts val="0"/>
              </a:spcAft>
            </a:pPr>
            <a:r>
              <a:rPr sz="1400" b="1">
                <a:solidFill>
                  <a:srgbClr val="142238"/>
                </a:solidFill>
                <a:latin typeface="Calibri"/>
              </a:rPr>
              <a:t>Incorrect answer</a:t>
            </a:r>
          </a:p>
        </p:txBody>
      </p:sp>
      <p:sp>
        <p:nvSpPr>
          <p:cNvPr id="13" name="Rounded Rectangle 12"/>
          <p:cNvSpPr/>
          <p:nvPr/>
        </p:nvSpPr>
        <p:spPr>
          <a:xfrm>
            <a:off x="2752344" y="1965960"/>
            <a:ext cx="2212848" cy="1051560"/>
          </a:xfrm>
          <a:prstGeom prst="roundRect">
            <a:avLst>
              <a:gd name="adj" fmla="val 8000"/>
            </a:avLst>
          </a:prstGeom>
          <a:solidFill>
            <a:srgbClr val="E7F3F1"/>
          </a:solidFill>
          <a:ln w="12700">
            <a:solidFill>
              <a:srgbClr val="E4DBCE"/>
            </a:solidFill>
          </a:ln>
        </p:spPr>
        <p:txBody>
          <a:bodyPr rtlCol="0" anchor="ctr"/>
          <a:lstStyle/>
          <a:p>
            <a:pPr algn="ctr"/>
          </a:p>
        </p:txBody>
      </p:sp>
      <p:sp>
        <p:nvSpPr>
          <p:cNvPr id="14" name="TextBox 13"/>
          <p:cNvSpPr txBox="1"/>
          <p:nvPr/>
        </p:nvSpPr>
        <p:spPr>
          <a:xfrm>
            <a:off x="2843784" y="2240280"/>
            <a:ext cx="2029968" cy="548640"/>
          </a:xfrm>
          <a:prstGeom prst="rect">
            <a:avLst/>
          </a:prstGeom>
          <a:noFill/>
        </p:spPr>
        <p:txBody>
          <a:bodyPr wrap="square" anchor="ctr"/>
          <a:lstStyle/>
          <a:p>
            <a:pPr algn="ctr">
              <a:spcBef>
                <a:spcPts val="0"/>
              </a:spcBef>
              <a:spcAft>
                <a:spcPts val="0"/>
              </a:spcAft>
            </a:pPr>
            <a:r>
              <a:rPr sz="1400" b="1">
                <a:solidFill>
                  <a:srgbClr val="142238"/>
                </a:solidFill>
                <a:latin typeface="Calibri"/>
              </a:rPr>
              <a:t>Wrong source</a:t>
            </a:r>
          </a:p>
        </p:txBody>
      </p:sp>
      <p:sp>
        <p:nvSpPr>
          <p:cNvPr id="15" name="Rounded Rectangle 14"/>
          <p:cNvSpPr/>
          <p:nvPr/>
        </p:nvSpPr>
        <p:spPr>
          <a:xfrm>
            <a:off x="5084064" y="1965960"/>
            <a:ext cx="2212848" cy="1051560"/>
          </a:xfrm>
          <a:prstGeom prst="roundRect">
            <a:avLst>
              <a:gd name="adj" fmla="val 8000"/>
            </a:avLst>
          </a:prstGeom>
          <a:solidFill>
            <a:srgbClr val="E7F3F1"/>
          </a:solidFill>
          <a:ln w="12700">
            <a:solidFill>
              <a:srgbClr val="E4DBCE"/>
            </a:solidFill>
          </a:ln>
        </p:spPr>
        <p:txBody>
          <a:bodyPr rtlCol="0" anchor="ctr"/>
          <a:lstStyle/>
          <a:p>
            <a:pPr algn="ctr"/>
          </a:p>
        </p:txBody>
      </p:sp>
      <p:sp>
        <p:nvSpPr>
          <p:cNvPr id="16" name="TextBox 15"/>
          <p:cNvSpPr txBox="1"/>
          <p:nvPr/>
        </p:nvSpPr>
        <p:spPr>
          <a:xfrm>
            <a:off x="5175503" y="2240280"/>
            <a:ext cx="2029968" cy="548640"/>
          </a:xfrm>
          <a:prstGeom prst="rect">
            <a:avLst/>
          </a:prstGeom>
          <a:noFill/>
        </p:spPr>
        <p:txBody>
          <a:bodyPr wrap="square" anchor="ctr"/>
          <a:lstStyle/>
          <a:p>
            <a:pPr algn="ctr">
              <a:spcBef>
                <a:spcPts val="0"/>
              </a:spcBef>
              <a:spcAft>
                <a:spcPts val="0"/>
              </a:spcAft>
            </a:pPr>
            <a:r>
              <a:rPr sz="1400" b="1">
                <a:solidFill>
                  <a:srgbClr val="142238"/>
                </a:solidFill>
                <a:latin typeface="Calibri"/>
              </a:rPr>
              <a:t>Incomplete answer</a:t>
            </a:r>
          </a:p>
        </p:txBody>
      </p:sp>
      <p:sp>
        <p:nvSpPr>
          <p:cNvPr id="17" name="Rounded Rectangle 16"/>
          <p:cNvSpPr/>
          <p:nvPr/>
        </p:nvSpPr>
        <p:spPr>
          <a:xfrm>
            <a:off x="7415783" y="1965960"/>
            <a:ext cx="2212848" cy="1051560"/>
          </a:xfrm>
          <a:prstGeom prst="roundRect">
            <a:avLst>
              <a:gd name="adj" fmla="val 8000"/>
            </a:avLst>
          </a:prstGeom>
          <a:solidFill>
            <a:srgbClr val="E7F3F1"/>
          </a:solidFill>
          <a:ln w="12700">
            <a:solidFill>
              <a:srgbClr val="E4DBCE"/>
            </a:solidFill>
          </a:ln>
        </p:spPr>
        <p:txBody>
          <a:bodyPr rtlCol="0" anchor="ctr"/>
          <a:lstStyle/>
          <a:p>
            <a:pPr algn="ctr"/>
          </a:p>
        </p:txBody>
      </p:sp>
      <p:sp>
        <p:nvSpPr>
          <p:cNvPr id="18" name="TextBox 17"/>
          <p:cNvSpPr txBox="1"/>
          <p:nvPr/>
        </p:nvSpPr>
        <p:spPr>
          <a:xfrm>
            <a:off x="7507223" y="2240280"/>
            <a:ext cx="2029968" cy="548640"/>
          </a:xfrm>
          <a:prstGeom prst="rect">
            <a:avLst/>
          </a:prstGeom>
          <a:noFill/>
        </p:spPr>
        <p:txBody>
          <a:bodyPr wrap="square" anchor="ctr"/>
          <a:lstStyle/>
          <a:p>
            <a:pPr algn="ctr">
              <a:spcBef>
                <a:spcPts val="0"/>
              </a:spcBef>
              <a:spcAft>
                <a:spcPts val="0"/>
              </a:spcAft>
            </a:pPr>
            <a:r>
              <a:rPr sz="1400" b="1">
                <a:solidFill>
                  <a:srgbClr val="142238"/>
                </a:solidFill>
                <a:latin typeface="Calibri"/>
              </a:rPr>
              <a:t>Outdated document</a:t>
            </a:r>
          </a:p>
        </p:txBody>
      </p:sp>
      <p:sp>
        <p:nvSpPr>
          <p:cNvPr id="19" name="Rounded Rectangle 18"/>
          <p:cNvSpPr/>
          <p:nvPr/>
        </p:nvSpPr>
        <p:spPr>
          <a:xfrm>
            <a:off x="9747504" y="1965960"/>
            <a:ext cx="2212848" cy="1051560"/>
          </a:xfrm>
          <a:prstGeom prst="roundRect">
            <a:avLst>
              <a:gd name="adj" fmla="val 8000"/>
            </a:avLst>
          </a:prstGeom>
          <a:solidFill>
            <a:srgbClr val="E7F3F1"/>
          </a:solidFill>
          <a:ln w="12700">
            <a:solidFill>
              <a:srgbClr val="E4DBCE"/>
            </a:solidFill>
          </a:ln>
        </p:spPr>
        <p:txBody>
          <a:bodyPr rtlCol="0" anchor="ctr"/>
          <a:lstStyle/>
          <a:p>
            <a:pPr algn="ctr"/>
          </a:p>
        </p:txBody>
      </p:sp>
      <p:sp>
        <p:nvSpPr>
          <p:cNvPr id="20" name="TextBox 19"/>
          <p:cNvSpPr txBox="1"/>
          <p:nvPr/>
        </p:nvSpPr>
        <p:spPr>
          <a:xfrm>
            <a:off x="9838944" y="2240280"/>
            <a:ext cx="2029968" cy="548640"/>
          </a:xfrm>
          <a:prstGeom prst="rect">
            <a:avLst/>
          </a:prstGeom>
          <a:noFill/>
        </p:spPr>
        <p:txBody>
          <a:bodyPr wrap="square" anchor="ctr"/>
          <a:lstStyle/>
          <a:p>
            <a:pPr algn="ctr">
              <a:spcBef>
                <a:spcPts val="0"/>
              </a:spcBef>
              <a:spcAft>
                <a:spcPts val="0"/>
              </a:spcAft>
            </a:pPr>
            <a:r>
              <a:rPr sz="1400" b="1">
                <a:solidFill>
                  <a:srgbClr val="142238"/>
                </a:solidFill>
                <a:latin typeface="Calibri"/>
              </a:rPr>
              <a:t>Unclear wording</a:t>
            </a:r>
          </a:p>
        </p:txBody>
      </p:sp>
      <p:sp>
        <p:nvSpPr>
          <p:cNvPr id="21" name="TextBox 20"/>
          <p:cNvSpPr txBox="1"/>
          <p:nvPr/>
        </p:nvSpPr>
        <p:spPr>
          <a:xfrm>
            <a:off x="457200" y="3200400"/>
            <a:ext cx="2834640" cy="822960"/>
          </a:xfrm>
          <a:prstGeom prst="rect">
            <a:avLst/>
          </a:prstGeom>
          <a:noFill/>
        </p:spPr>
        <p:txBody>
          <a:bodyPr wrap="square" anchor="ctr"/>
          <a:lstStyle/>
          <a:p>
            <a:pPr algn="l">
              <a:spcBef>
                <a:spcPts val="0"/>
              </a:spcBef>
              <a:spcAft>
                <a:spcPts val="0"/>
              </a:spcAft>
            </a:pPr>
            <a:r>
              <a:rPr sz="1400" b="1">
                <a:solidFill>
                  <a:srgbClr val="1A6A64"/>
                </a:solidFill>
                <a:latin typeface="Calibri"/>
              </a:rPr>
              <a:t>Also watched</a:t>
            </a:r>
          </a:p>
        </p:txBody>
      </p:sp>
      <p:sp>
        <p:nvSpPr>
          <p:cNvPr id="22" name="TextBox 21"/>
          <p:cNvSpPr txBox="1"/>
          <p:nvPr/>
        </p:nvSpPr>
        <p:spPr>
          <a:xfrm>
            <a:off x="3383280" y="3200400"/>
            <a:ext cx="8321040" cy="868680"/>
          </a:xfrm>
          <a:prstGeom prst="rect">
            <a:avLst/>
          </a:prstGeom>
          <a:noFill/>
        </p:spPr>
        <p:txBody>
          <a:bodyPr wrap="square" anchor="ctr"/>
          <a:lstStyle/>
          <a:p>
            <a:pPr algn="l">
              <a:spcBef>
                <a:spcPts val="0"/>
              </a:spcBef>
              <a:spcAft>
                <a:spcPts val="0"/>
              </a:spcAft>
            </a:pPr>
            <a:r>
              <a:rPr sz="1400" b="0">
                <a:solidFill>
                  <a:srgbClr val="1C222B"/>
                </a:solidFill>
                <a:latin typeface="Calibri"/>
              </a:rPr>
              <a:t>Citation opens, repeated reformulations, abandoned sessions, latency, and which documents are used.</a:t>
            </a:r>
          </a:p>
        </p:txBody>
      </p:sp>
      <p:sp>
        <p:nvSpPr>
          <p:cNvPr id="23" name="TextBox 22"/>
          <p:cNvSpPr txBox="1"/>
          <p:nvPr/>
        </p:nvSpPr>
        <p:spPr>
          <a:xfrm>
            <a:off x="457200" y="4251960"/>
            <a:ext cx="2834640" cy="822960"/>
          </a:xfrm>
          <a:prstGeom prst="rect">
            <a:avLst/>
          </a:prstGeom>
          <a:noFill/>
        </p:spPr>
        <p:txBody>
          <a:bodyPr wrap="square" anchor="ctr"/>
          <a:lstStyle/>
          <a:p>
            <a:pPr algn="l">
              <a:spcBef>
                <a:spcPts val="0"/>
              </a:spcBef>
              <a:spcAft>
                <a:spcPts val="0"/>
              </a:spcAft>
            </a:pPr>
            <a:r>
              <a:rPr sz="1400" b="1">
                <a:solidFill>
                  <a:srgbClr val="1A6A64"/>
                </a:solidFill>
                <a:latin typeface="Calibri"/>
              </a:rPr>
              <a:t>Blueprint, month by month</a:t>
            </a:r>
          </a:p>
        </p:txBody>
      </p:sp>
      <p:sp>
        <p:nvSpPr>
          <p:cNvPr id="24" name="TextBox 23"/>
          <p:cNvSpPr txBox="1"/>
          <p:nvPr/>
        </p:nvSpPr>
        <p:spPr>
          <a:xfrm>
            <a:off x="3383280" y="4251960"/>
            <a:ext cx="8321040" cy="868680"/>
          </a:xfrm>
          <a:prstGeom prst="rect">
            <a:avLst/>
          </a:prstGeom>
          <a:noFill/>
        </p:spPr>
        <p:txBody>
          <a:bodyPr wrap="square" anchor="ctr"/>
          <a:lstStyle/>
          <a:p>
            <a:pPr algn="l">
              <a:spcBef>
                <a:spcPts val="0"/>
              </a:spcBef>
              <a:spcAft>
                <a:spcPts val="0"/>
              </a:spcAft>
            </a:pPr>
            <a:r>
              <a:rPr sz="1400" b="0">
                <a:solidFill>
                  <a:srgbClr val="1C222B"/>
                </a:solidFill>
                <a:latin typeface="Calibri"/>
              </a:rPr>
              <a:t>Month 1: retrieval, citations, versioning, abstention. Month 2: source viewer and documents. Month 3: reranking, tables, multi-document questions.</a:t>
            </a:r>
          </a:p>
        </p:txBody>
      </p:sp>
      <p:sp>
        <p:nvSpPr>
          <p:cNvPr id="25" name="TextBox 24"/>
          <p:cNvSpPr txBox="1"/>
          <p:nvPr/>
        </p:nvSpPr>
        <p:spPr>
          <a:xfrm>
            <a:off x="457200" y="5303520"/>
            <a:ext cx="2834640" cy="822960"/>
          </a:xfrm>
          <a:prstGeom prst="rect">
            <a:avLst/>
          </a:prstGeom>
          <a:noFill/>
        </p:spPr>
        <p:txBody>
          <a:bodyPr wrap="square" anchor="ctr"/>
          <a:lstStyle/>
          <a:p>
            <a:pPr algn="l">
              <a:spcBef>
                <a:spcPts val="0"/>
              </a:spcBef>
              <a:spcAft>
                <a:spcPts val="0"/>
              </a:spcAft>
            </a:pPr>
            <a:r>
              <a:rPr sz="1400" b="1">
                <a:solidFill>
                  <a:srgbClr val="1A6A64"/>
                </a:solidFill>
                <a:latin typeface="Calibri"/>
              </a:rPr>
              <a:t>Still out of scope at one year</a:t>
            </a:r>
          </a:p>
        </p:txBody>
      </p:sp>
      <p:sp>
        <p:nvSpPr>
          <p:cNvPr id="26" name="TextBox 25"/>
          <p:cNvSpPr txBox="1"/>
          <p:nvPr/>
        </p:nvSpPr>
        <p:spPr>
          <a:xfrm>
            <a:off x="3383280" y="5303520"/>
            <a:ext cx="8321040" cy="868680"/>
          </a:xfrm>
          <a:prstGeom prst="rect">
            <a:avLst/>
          </a:prstGeom>
          <a:noFill/>
        </p:spPr>
        <p:txBody>
          <a:bodyPr wrap="square" anchor="ctr"/>
          <a:lstStyle/>
          <a:p>
            <a:pPr algn="l">
              <a:spcBef>
                <a:spcPts val="0"/>
              </a:spcBef>
              <a:spcAft>
                <a:spcPts val="0"/>
              </a:spcAft>
            </a:pPr>
            <a:r>
              <a:rPr sz="1400" b="0">
                <a:solidFill>
                  <a:srgbClr val="1C222B"/>
                </a:solidFill>
                <a:latin typeface="Calibri"/>
              </a:rPr>
              <a:t>Amendment comparison and enterprise identity are in the plan. Autonomous clinical decisions are not.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6858000"/>
          </a:xfrm>
          <a:prstGeom prst="rect">
            <a:avLst/>
          </a:prstGeom>
          <a:solidFill>
            <a:srgbClr val="F6F3EC"/>
          </a:solidFill>
          <a:ln>
            <a:noFill/>
          </a:ln>
        </p:spPr>
        <p:txBody>
          <a:bodyPr rtlCol="0" anchor="ctr"/>
          <a:lstStyle/>
          <a:p>
            <a:pPr algn="ctr"/>
          </a:p>
        </p:txBody>
      </p:sp>
      <p:sp>
        <p:nvSpPr>
          <p:cNvPr id="3" name="Rectangle 2"/>
          <p:cNvSpPr/>
          <p:nvPr/>
        </p:nvSpPr>
        <p:spPr>
          <a:xfrm>
            <a:off x="0" y="0"/>
            <a:ext cx="12198096" cy="73152"/>
          </a:xfrm>
          <a:prstGeom prst="rect">
            <a:avLst/>
          </a:prstGeom>
          <a:solidFill>
            <a:srgbClr val="1A6A64"/>
          </a:solidFill>
          <a:ln>
            <a:noFill/>
          </a:ln>
        </p:spPr>
        <p:txBody>
          <a:bodyPr rtlCol="0" anchor="ctr"/>
          <a:lstStyle/>
          <a:p>
            <a:pPr algn="ctr"/>
          </a:p>
        </p:txBody>
      </p:sp>
      <p:sp>
        <p:nvSpPr>
          <p:cNvPr id="4" name="TextBox 3"/>
          <p:cNvSpPr txBox="1"/>
          <p:nvPr/>
        </p:nvSpPr>
        <p:spPr>
          <a:xfrm>
            <a:off x="420624" y="201168"/>
            <a:ext cx="11155680" cy="256032"/>
          </a:xfrm>
          <a:prstGeom prst="rect">
            <a:avLst/>
          </a:prstGeom>
          <a:noFill/>
        </p:spPr>
        <p:txBody>
          <a:bodyPr wrap="square" anchor="t"/>
          <a:lstStyle/>
          <a:p>
            <a:pPr algn="l">
              <a:spcBef>
                <a:spcPts val="0"/>
              </a:spcBef>
              <a:spcAft>
                <a:spcPts val="0"/>
              </a:spcAft>
            </a:pPr>
            <a:r>
              <a:rPr sz="1200" b="1">
                <a:solidFill>
                  <a:srgbClr val="1A6A64"/>
                </a:solidFill>
                <a:latin typeface="Calibri"/>
              </a:rPr>
              <a:t>APPLICATION 1  ·  PHASE 6</a:t>
            </a:r>
          </a:p>
        </p:txBody>
      </p:sp>
      <p:sp>
        <p:nvSpPr>
          <p:cNvPr id="5" name="TextBox 4"/>
          <p:cNvSpPr txBox="1"/>
          <p:nvPr/>
        </p:nvSpPr>
        <p:spPr>
          <a:xfrm>
            <a:off x="420624" y="438912"/>
            <a:ext cx="11247120" cy="566928"/>
          </a:xfrm>
          <a:prstGeom prst="rect">
            <a:avLst/>
          </a:prstGeom>
          <a:noFill/>
        </p:spPr>
        <p:txBody>
          <a:bodyPr wrap="square" anchor="t"/>
          <a:lstStyle/>
          <a:p>
            <a:pPr algn="l">
              <a:spcBef>
                <a:spcPts val="0"/>
              </a:spcBef>
              <a:spcAft>
                <a:spcPts val="0"/>
              </a:spcAft>
            </a:pPr>
            <a:r>
              <a:rPr sz="2800" b="1">
                <a:solidFill>
                  <a:srgbClr val="142238"/>
                </a:solidFill>
                <a:latin typeface="Calibri"/>
              </a:rPr>
              <a:t>What the test pass changed</a:t>
            </a:r>
          </a:p>
        </p:txBody>
      </p:sp>
      <p:sp>
        <p:nvSpPr>
          <p:cNvPr id="6" name="Rectangle 5"/>
          <p:cNvSpPr/>
          <p:nvPr/>
        </p:nvSpPr>
        <p:spPr>
          <a:xfrm>
            <a:off x="438912" y="1042415"/>
            <a:ext cx="1234440" cy="32004"/>
          </a:xfrm>
          <a:prstGeom prst="rect">
            <a:avLst/>
          </a:prstGeom>
          <a:solidFill>
            <a:srgbClr val="8C6A32"/>
          </a:solidFill>
          <a:ln>
            <a:noFill/>
          </a:ln>
        </p:spPr>
        <p:txBody>
          <a:bodyPr rtlCol="0" anchor="ctr"/>
          <a:lstStyle/>
          <a:p>
            <a:pPr algn="ctr"/>
          </a:p>
        </p:txBody>
      </p:sp>
      <p:sp>
        <p:nvSpPr>
          <p:cNvPr id="7" name="Rectangle 6"/>
          <p:cNvSpPr/>
          <p:nvPr/>
        </p:nvSpPr>
        <p:spPr>
          <a:xfrm>
            <a:off x="0" y="6565392"/>
            <a:ext cx="12198096" cy="13716"/>
          </a:xfrm>
          <a:prstGeom prst="rect">
            <a:avLst/>
          </a:prstGeom>
          <a:solidFill>
            <a:srgbClr val="E4DBCE"/>
          </a:solidFill>
          <a:ln>
            <a:noFill/>
          </a:ln>
        </p:spPr>
        <p:txBody>
          <a:bodyPr rtlCol="0" anchor="ctr"/>
          <a:lstStyle/>
          <a:p>
            <a:pPr algn="ctr"/>
          </a:p>
        </p:txBody>
      </p:sp>
      <p:sp>
        <p:nvSpPr>
          <p:cNvPr id="8" name="TextBox 7"/>
          <p:cNvSpPr txBox="1"/>
          <p:nvPr/>
        </p:nvSpPr>
        <p:spPr>
          <a:xfrm>
            <a:off x="420624" y="6601968"/>
            <a:ext cx="8412480" cy="237744"/>
          </a:xfrm>
          <a:prstGeom prst="rect">
            <a:avLst/>
          </a:prstGeom>
          <a:noFill/>
        </p:spPr>
        <p:txBody>
          <a:bodyPr wrap="square" anchor="ctr"/>
          <a:lstStyle/>
          <a:p>
            <a:pPr algn="l">
              <a:spcBef>
                <a:spcPts val="0"/>
              </a:spcBef>
              <a:spcAft>
                <a:spcPts val="0"/>
              </a:spcAft>
            </a:pPr>
            <a:r>
              <a:rPr sz="1100" b="0">
                <a:solidFill>
                  <a:srgbClr val="5C6570"/>
                </a:solidFill>
                <a:latin typeface="Calibri"/>
              </a:rPr>
              <a:t>Pu Zeng  ·  StudyCite and BiteWise</a:t>
            </a:r>
          </a:p>
        </p:txBody>
      </p:sp>
      <p:sp>
        <p:nvSpPr>
          <p:cNvPr id="9" name="TextBox 8"/>
          <p:cNvSpPr txBox="1"/>
          <p:nvPr/>
        </p:nvSpPr>
        <p:spPr>
          <a:xfrm>
            <a:off x="9509760" y="6601968"/>
            <a:ext cx="2267712" cy="237744"/>
          </a:xfrm>
          <a:prstGeom prst="rect">
            <a:avLst/>
          </a:prstGeom>
          <a:noFill/>
        </p:spPr>
        <p:txBody>
          <a:bodyPr wrap="square" anchor="ctr"/>
          <a:lstStyle/>
          <a:p>
            <a:pPr algn="r">
              <a:spcBef>
                <a:spcPts val="0"/>
              </a:spcBef>
              <a:spcAft>
                <a:spcPts val="0"/>
              </a:spcAft>
            </a:pPr>
            <a:r>
              <a:rPr sz="1100" b="0">
                <a:solidFill>
                  <a:srgbClr val="5C6570"/>
                </a:solidFill>
                <a:latin typeface="Calibri"/>
              </a:rPr>
              <a:t>14   /   24</a:t>
            </a:r>
          </a:p>
        </p:txBody>
      </p:sp>
      <p:sp>
        <p:nvSpPr>
          <p:cNvPr id="10" name="TextBox 9"/>
          <p:cNvSpPr txBox="1"/>
          <p:nvPr/>
        </p:nvSpPr>
        <p:spPr>
          <a:xfrm>
            <a:off x="502920" y="1261872"/>
            <a:ext cx="3017520" cy="320040"/>
          </a:xfrm>
          <a:prstGeom prst="rect">
            <a:avLst/>
          </a:prstGeom>
          <a:noFill/>
        </p:spPr>
        <p:txBody>
          <a:bodyPr wrap="square" anchor="t"/>
          <a:lstStyle/>
          <a:p>
            <a:pPr algn="l">
              <a:spcBef>
                <a:spcPts val="0"/>
              </a:spcBef>
              <a:spcAft>
                <a:spcPts val="0"/>
              </a:spcAft>
            </a:pPr>
            <a:r>
              <a:rPr sz="1200" b="1">
                <a:solidFill>
                  <a:srgbClr val="5C6570"/>
                </a:solidFill>
                <a:latin typeface="Calibri"/>
              </a:rPr>
              <a:t>Defect</a:t>
            </a:r>
          </a:p>
        </p:txBody>
      </p:sp>
      <p:sp>
        <p:nvSpPr>
          <p:cNvPr id="11" name="TextBox 10"/>
          <p:cNvSpPr txBox="1"/>
          <p:nvPr/>
        </p:nvSpPr>
        <p:spPr>
          <a:xfrm>
            <a:off x="3657600" y="1261872"/>
            <a:ext cx="3840480" cy="320040"/>
          </a:xfrm>
          <a:prstGeom prst="rect">
            <a:avLst/>
          </a:prstGeom>
          <a:noFill/>
        </p:spPr>
        <p:txBody>
          <a:bodyPr wrap="square" anchor="t"/>
          <a:lstStyle/>
          <a:p>
            <a:pPr algn="l">
              <a:spcBef>
                <a:spcPts val="0"/>
              </a:spcBef>
              <a:spcAft>
                <a:spcPts val="0"/>
              </a:spcAft>
            </a:pPr>
            <a:r>
              <a:rPr sz="1200" b="1">
                <a:solidFill>
                  <a:srgbClr val="5C6570"/>
                </a:solidFill>
                <a:latin typeface="Calibri"/>
              </a:rPr>
              <a:t>Before</a:t>
            </a:r>
          </a:p>
        </p:txBody>
      </p:sp>
      <p:sp>
        <p:nvSpPr>
          <p:cNvPr id="12" name="TextBox 11"/>
          <p:cNvSpPr txBox="1"/>
          <p:nvPr/>
        </p:nvSpPr>
        <p:spPr>
          <a:xfrm>
            <a:off x="7680960" y="1261872"/>
            <a:ext cx="4023360" cy="320040"/>
          </a:xfrm>
          <a:prstGeom prst="rect">
            <a:avLst/>
          </a:prstGeom>
          <a:noFill/>
        </p:spPr>
        <p:txBody>
          <a:bodyPr wrap="square" anchor="t"/>
          <a:lstStyle/>
          <a:p>
            <a:pPr algn="l">
              <a:spcBef>
                <a:spcPts val="0"/>
              </a:spcBef>
              <a:spcAft>
                <a:spcPts val="0"/>
              </a:spcAft>
            </a:pPr>
            <a:r>
              <a:rPr sz="1200" b="1">
                <a:solidFill>
                  <a:srgbClr val="5C6570"/>
                </a:solidFill>
                <a:latin typeface="Calibri"/>
              </a:rPr>
              <a:t>After</a:t>
            </a:r>
          </a:p>
        </p:txBody>
      </p:sp>
      <p:sp>
        <p:nvSpPr>
          <p:cNvPr id="13" name="Rounded Rectangle 12"/>
          <p:cNvSpPr/>
          <p:nvPr/>
        </p:nvSpPr>
        <p:spPr>
          <a:xfrm>
            <a:off x="420624" y="1645920"/>
            <a:ext cx="11338560" cy="676656"/>
          </a:xfrm>
          <a:prstGeom prst="roundRect">
            <a:avLst>
              <a:gd name="adj" fmla="val 6000"/>
            </a:avLst>
          </a:prstGeom>
          <a:solidFill>
            <a:srgbClr val="FFFFFF"/>
          </a:solidFill>
          <a:ln>
            <a:noFill/>
          </a:ln>
        </p:spPr>
        <p:txBody>
          <a:bodyPr rtlCol="0" anchor="ctr"/>
          <a:lstStyle/>
          <a:p>
            <a:pPr algn="ctr"/>
          </a:p>
        </p:txBody>
      </p:sp>
      <p:sp>
        <p:nvSpPr>
          <p:cNvPr id="14" name="TextBox 13"/>
          <p:cNvSpPr txBox="1"/>
          <p:nvPr/>
        </p:nvSpPr>
        <p:spPr>
          <a:xfrm>
            <a:off x="566928" y="1645920"/>
            <a:ext cx="2926080" cy="676656"/>
          </a:xfrm>
          <a:prstGeom prst="rect">
            <a:avLst/>
          </a:prstGeom>
          <a:noFill/>
        </p:spPr>
        <p:txBody>
          <a:bodyPr wrap="square" anchor="ctr"/>
          <a:lstStyle/>
          <a:p>
            <a:pPr algn="l">
              <a:spcBef>
                <a:spcPts val="0"/>
              </a:spcBef>
              <a:spcAft>
                <a:spcPts val="0"/>
              </a:spcAft>
            </a:pPr>
            <a:r>
              <a:rPr sz="1400" b="1">
                <a:solidFill>
                  <a:srgbClr val="142238"/>
                </a:solidFill>
                <a:latin typeface="Calibri"/>
              </a:rPr>
              <a:t>Empty question</a:t>
            </a:r>
          </a:p>
        </p:txBody>
      </p:sp>
      <p:sp>
        <p:nvSpPr>
          <p:cNvPr id="15" name="TextBox 14"/>
          <p:cNvSpPr txBox="1"/>
          <p:nvPr/>
        </p:nvSpPr>
        <p:spPr>
          <a:xfrm>
            <a:off x="3657600" y="1645920"/>
            <a:ext cx="3794760" cy="676656"/>
          </a:xfrm>
          <a:prstGeom prst="rect">
            <a:avLst/>
          </a:prstGeom>
          <a:noFill/>
        </p:spPr>
        <p:txBody>
          <a:bodyPr wrap="square" anchor="ctr"/>
          <a:lstStyle/>
          <a:p>
            <a:pPr algn="l">
              <a:spcBef>
                <a:spcPts val="0"/>
              </a:spcBef>
              <a:spcAft>
                <a:spcPts val="0"/>
              </a:spcAft>
            </a:pPr>
            <a:r>
              <a:rPr sz="1400" b="0">
                <a:solidFill>
                  <a:srgbClr val="1C222B"/>
                </a:solidFill>
                <a:latin typeface="Calibri"/>
              </a:rPr>
              <a:t>Navigated anyway</a:t>
            </a:r>
          </a:p>
        </p:txBody>
      </p:sp>
      <p:sp>
        <p:nvSpPr>
          <p:cNvPr id="16" name="TextBox 15"/>
          <p:cNvSpPr txBox="1"/>
          <p:nvPr/>
        </p:nvSpPr>
        <p:spPr>
          <a:xfrm>
            <a:off x="7589520" y="1645920"/>
            <a:ext cx="3977639" cy="676656"/>
          </a:xfrm>
          <a:prstGeom prst="rect">
            <a:avLst/>
          </a:prstGeom>
          <a:noFill/>
        </p:spPr>
        <p:txBody>
          <a:bodyPr wrap="square" anchor="ctr"/>
          <a:lstStyle/>
          <a:p>
            <a:pPr algn="l">
              <a:spcBef>
                <a:spcPts val="0"/>
              </a:spcBef>
              <a:spcAft>
                <a:spcPts val="0"/>
              </a:spcAft>
            </a:pPr>
            <a:r>
              <a:rPr sz="1400" b="0">
                <a:solidFill>
                  <a:srgbClr val="1C222B"/>
                </a:solidFill>
                <a:latin typeface="Calibri"/>
              </a:rPr>
              <a:t>Validated before leaving Overview</a:t>
            </a:r>
          </a:p>
        </p:txBody>
      </p:sp>
      <p:sp>
        <p:nvSpPr>
          <p:cNvPr id="17" name="Rounded Rectangle 16"/>
          <p:cNvSpPr/>
          <p:nvPr/>
        </p:nvSpPr>
        <p:spPr>
          <a:xfrm>
            <a:off x="420624" y="2395728"/>
            <a:ext cx="11338560" cy="676656"/>
          </a:xfrm>
          <a:prstGeom prst="roundRect">
            <a:avLst>
              <a:gd name="adj" fmla="val 6000"/>
            </a:avLst>
          </a:prstGeom>
          <a:solidFill>
            <a:srgbClr val="E7F3F1"/>
          </a:solidFill>
          <a:ln>
            <a:noFill/>
          </a:ln>
        </p:spPr>
        <p:txBody>
          <a:bodyPr rtlCol="0" anchor="ctr"/>
          <a:lstStyle/>
          <a:p>
            <a:pPr algn="ctr"/>
          </a:p>
        </p:txBody>
      </p:sp>
      <p:sp>
        <p:nvSpPr>
          <p:cNvPr id="18" name="TextBox 17"/>
          <p:cNvSpPr txBox="1"/>
          <p:nvPr/>
        </p:nvSpPr>
        <p:spPr>
          <a:xfrm>
            <a:off x="566928" y="2395728"/>
            <a:ext cx="2926080" cy="676656"/>
          </a:xfrm>
          <a:prstGeom prst="rect">
            <a:avLst/>
          </a:prstGeom>
          <a:noFill/>
        </p:spPr>
        <p:txBody>
          <a:bodyPr wrap="square" anchor="ctr"/>
          <a:lstStyle/>
          <a:p>
            <a:pPr algn="l">
              <a:spcBef>
                <a:spcPts val="0"/>
              </a:spcBef>
              <a:spcAft>
                <a:spcPts val="0"/>
              </a:spcAft>
            </a:pPr>
            <a:r>
              <a:rPr sz="1400" b="1">
                <a:solidFill>
                  <a:srgbClr val="142238"/>
                </a:solidFill>
                <a:latin typeface="Calibri"/>
              </a:rPr>
              <a:t>Failed retrieval</a:t>
            </a:r>
          </a:p>
        </p:txBody>
      </p:sp>
      <p:sp>
        <p:nvSpPr>
          <p:cNvPr id="19" name="TextBox 18"/>
          <p:cNvSpPr txBox="1"/>
          <p:nvPr/>
        </p:nvSpPr>
        <p:spPr>
          <a:xfrm>
            <a:off x="3657600" y="2395728"/>
            <a:ext cx="3794760" cy="676656"/>
          </a:xfrm>
          <a:prstGeom prst="rect">
            <a:avLst/>
          </a:prstGeom>
          <a:noFill/>
        </p:spPr>
        <p:txBody>
          <a:bodyPr wrap="square" anchor="ctr"/>
          <a:lstStyle/>
          <a:p>
            <a:pPr algn="l">
              <a:spcBef>
                <a:spcPts val="0"/>
              </a:spcBef>
              <a:spcAft>
                <a:spcPts val="0"/>
              </a:spcAft>
            </a:pPr>
            <a:r>
              <a:rPr sz="1400" b="0">
                <a:solidFill>
                  <a:srgbClr val="1C222B"/>
                </a:solidFill>
                <a:latin typeface="Calibri"/>
              </a:rPr>
              <a:t>Buttons stayed disabled</a:t>
            </a:r>
          </a:p>
        </p:txBody>
      </p:sp>
      <p:sp>
        <p:nvSpPr>
          <p:cNvPr id="20" name="TextBox 19"/>
          <p:cNvSpPr txBox="1"/>
          <p:nvPr/>
        </p:nvSpPr>
        <p:spPr>
          <a:xfrm>
            <a:off x="7589520" y="2395728"/>
            <a:ext cx="3977639" cy="676656"/>
          </a:xfrm>
          <a:prstGeom prst="rect">
            <a:avLst/>
          </a:prstGeom>
          <a:noFill/>
        </p:spPr>
        <p:txBody>
          <a:bodyPr wrap="square" anchor="ctr"/>
          <a:lstStyle/>
          <a:p>
            <a:pPr algn="l">
              <a:spcBef>
                <a:spcPts val="0"/>
              </a:spcBef>
              <a:spcAft>
                <a:spcPts val="0"/>
              </a:spcAft>
            </a:pPr>
            <a:r>
              <a:rPr sz="1400" b="0">
                <a:solidFill>
                  <a:srgbClr val="1C222B"/>
                </a:solidFill>
                <a:latin typeface="Calibri"/>
              </a:rPr>
              <a:t>try/finally clears loading</a:t>
            </a:r>
          </a:p>
        </p:txBody>
      </p:sp>
      <p:sp>
        <p:nvSpPr>
          <p:cNvPr id="21" name="Rounded Rectangle 20"/>
          <p:cNvSpPr/>
          <p:nvPr/>
        </p:nvSpPr>
        <p:spPr>
          <a:xfrm>
            <a:off x="420624" y="3145536"/>
            <a:ext cx="11338560" cy="676656"/>
          </a:xfrm>
          <a:prstGeom prst="roundRect">
            <a:avLst>
              <a:gd name="adj" fmla="val 6000"/>
            </a:avLst>
          </a:prstGeom>
          <a:solidFill>
            <a:srgbClr val="FFFFFF"/>
          </a:solidFill>
          <a:ln>
            <a:noFill/>
          </a:ln>
        </p:spPr>
        <p:txBody>
          <a:bodyPr rtlCol="0" anchor="ctr"/>
          <a:lstStyle/>
          <a:p>
            <a:pPr algn="ctr"/>
          </a:p>
        </p:txBody>
      </p:sp>
      <p:sp>
        <p:nvSpPr>
          <p:cNvPr id="22" name="TextBox 21"/>
          <p:cNvSpPr txBox="1"/>
          <p:nvPr/>
        </p:nvSpPr>
        <p:spPr>
          <a:xfrm>
            <a:off x="566928" y="3145536"/>
            <a:ext cx="2926080" cy="676656"/>
          </a:xfrm>
          <a:prstGeom prst="rect">
            <a:avLst/>
          </a:prstGeom>
          <a:noFill/>
        </p:spPr>
        <p:txBody>
          <a:bodyPr wrap="square" anchor="ctr"/>
          <a:lstStyle/>
          <a:p>
            <a:pPr algn="l">
              <a:spcBef>
                <a:spcPts val="0"/>
              </a:spcBef>
              <a:spcAft>
                <a:spcPts val="0"/>
              </a:spcAft>
            </a:pPr>
            <a:r>
              <a:rPr sz="1400" b="1">
                <a:solidFill>
                  <a:srgbClr val="142238"/>
                </a:solidFill>
                <a:latin typeface="Calibri"/>
              </a:rPr>
              <a:t>New upload</a:t>
            </a:r>
          </a:p>
        </p:txBody>
      </p:sp>
      <p:sp>
        <p:nvSpPr>
          <p:cNvPr id="23" name="TextBox 22"/>
          <p:cNvSpPr txBox="1"/>
          <p:nvPr/>
        </p:nvSpPr>
        <p:spPr>
          <a:xfrm>
            <a:off x="3657600" y="3145536"/>
            <a:ext cx="3794760" cy="676656"/>
          </a:xfrm>
          <a:prstGeom prst="rect">
            <a:avLst/>
          </a:prstGeom>
          <a:noFill/>
        </p:spPr>
        <p:txBody>
          <a:bodyPr wrap="square" anchor="ctr"/>
          <a:lstStyle/>
          <a:p>
            <a:pPr algn="l">
              <a:spcBef>
                <a:spcPts val="0"/>
              </a:spcBef>
              <a:spcAft>
                <a:spcPts val="0"/>
              </a:spcAft>
            </a:pPr>
            <a:r>
              <a:rPr sz="1400" b="0">
                <a:solidFill>
                  <a:srgbClr val="1C222B"/>
                </a:solidFill>
                <a:latin typeface="Calibri"/>
              </a:rPr>
              <a:t>Marked Approved</a:t>
            </a:r>
          </a:p>
        </p:txBody>
      </p:sp>
      <p:sp>
        <p:nvSpPr>
          <p:cNvPr id="24" name="TextBox 23"/>
          <p:cNvSpPr txBox="1"/>
          <p:nvPr/>
        </p:nvSpPr>
        <p:spPr>
          <a:xfrm>
            <a:off x="7589520" y="3145536"/>
            <a:ext cx="3977639" cy="676656"/>
          </a:xfrm>
          <a:prstGeom prst="rect">
            <a:avLst/>
          </a:prstGeom>
          <a:noFill/>
        </p:spPr>
        <p:txBody>
          <a:bodyPr wrap="square" anchor="ctr"/>
          <a:lstStyle/>
          <a:p>
            <a:pPr algn="l">
              <a:spcBef>
                <a:spcPts val="0"/>
              </a:spcBef>
              <a:spcAft>
                <a:spcPts val="0"/>
              </a:spcAft>
            </a:pPr>
            <a:r>
              <a:rPr sz="1400" b="0">
                <a:solidFill>
                  <a:srgbClr val="1C222B"/>
                </a:solidFill>
                <a:latin typeface="Calibri"/>
              </a:rPr>
              <a:t>Stays Draft, never cited</a:t>
            </a:r>
          </a:p>
        </p:txBody>
      </p:sp>
      <p:sp>
        <p:nvSpPr>
          <p:cNvPr id="25" name="Rounded Rectangle 24"/>
          <p:cNvSpPr/>
          <p:nvPr/>
        </p:nvSpPr>
        <p:spPr>
          <a:xfrm>
            <a:off x="420624" y="3895344"/>
            <a:ext cx="11338560" cy="676656"/>
          </a:xfrm>
          <a:prstGeom prst="roundRect">
            <a:avLst>
              <a:gd name="adj" fmla="val 6000"/>
            </a:avLst>
          </a:prstGeom>
          <a:solidFill>
            <a:srgbClr val="E7F3F1"/>
          </a:solidFill>
          <a:ln>
            <a:noFill/>
          </a:ln>
        </p:spPr>
        <p:txBody>
          <a:bodyPr rtlCol="0" anchor="ctr"/>
          <a:lstStyle/>
          <a:p>
            <a:pPr algn="ctr"/>
          </a:p>
        </p:txBody>
      </p:sp>
      <p:sp>
        <p:nvSpPr>
          <p:cNvPr id="26" name="TextBox 25"/>
          <p:cNvSpPr txBox="1"/>
          <p:nvPr/>
        </p:nvSpPr>
        <p:spPr>
          <a:xfrm>
            <a:off x="566928" y="3895344"/>
            <a:ext cx="2926080" cy="676656"/>
          </a:xfrm>
          <a:prstGeom prst="rect">
            <a:avLst/>
          </a:prstGeom>
          <a:noFill/>
        </p:spPr>
        <p:txBody>
          <a:bodyPr wrap="square" anchor="ctr"/>
          <a:lstStyle/>
          <a:p>
            <a:pPr algn="l">
              <a:spcBef>
                <a:spcPts val="0"/>
              </a:spcBef>
              <a:spcAft>
                <a:spcPts val="0"/>
              </a:spcAft>
            </a:pPr>
            <a:r>
              <a:rPr sz="1400" b="1">
                <a:solidFill>
                  <a:srgbClr val="142238"/>
                </a:solidFill>
                <a:latin typeface="Calibri"/>
              </a:rPr>
              <a:t>Corpus</a:t>
            </a:r>
          </a:p>
        </p:txBody>
      </p:sp>
      <p:sp>
        <p:nvSpPr>
          <p:cNvPr id="27" name="TextBox 26"/>
          <p:cNvSpPr txBox="1"/>
          <p:nvPr/>
        </p:nvSpPr>
        <p:spPr>
          <a:xfrm>
            <a:off x="3657600" y="3895344"/>
            <a:ext cx="3794760" cy="676656"/>
          </a:xfrm>
          <a:prstGeom prst="rect">
            <a:avLst/>
          </a:prstGeom>
          <a:noFill/>
        </p:spPr>
        <p:txBody>
          <a:bodyPr wrap="square" anchor="ctr"/>
          <a:lstStyle/>
          <a:p>
            <a:pPr algn="l">
              <a:spcBef>
                <a:spcPts val="0"/>
              </a:spcBef>
              <a:spcAft>
                <a:spcPts val="0"/>
              </a:spcAft>
            </a:pPr>
            <a:r>
              <a:rPr sz="1400" b="0">
                <a:solidFill>
                  <a:srgbClr val="1C222B"/>
                </a:solidFill>
                <a:latin typeface="Calibri"/>
              </a:rPr>
              <a:t>Global catalog</a:t>
            </a:r>
          </a:p>
        </p:txBody>
      </p:sp>
      <p:sp>
        <p:nvSpPr>
          <p:cNvPr id="28" name="TextBox 27"/>
          <p:cNvSpPr txBox="1"/>
          <p:nvPr/>
        </p:nvSpPr>
        <p:spPr>
          <a:xfrm>
            <a:off x="7589520" y="3895344"/>
            <a:ext cx="3977639" cy="676656"/>
          </a:xfrm>
          <a:prstGeom prst="rect">
            <a:avLst/>
          </a:prstGeom>
          <a:noFill/>
        </p:spPr>
        <p:txBody>
          <a:bodyPr wrap="square" anchor="ctr"/>
          <a:lstStyle/>
          <a:p>
            <a:pPr algn="l">
              <a:spcBef>
                <a:spcPts val="0"/>
              </a:spcBef>
              <a:spcAft>
                <a:spcPts val="0"/>
              </a:spcAft>
            </a:pPr>
            <a:r>
              <a:rPr sz="1400" b="0">
                <a:solidFill>
                  <a:srgbClr val="1C222B"/>
                </a:solidFill>
                <a:latin typeface="Calibri"/>
              </a:rPr>
              <a:t>Active study, approved only</a:t>
            </a:r>
          </a:p>
        </p:txBody>
      </p:sp>
      <p:sp>
        <p:nvSpPr>
          <p:cNvPr id="29" name="Rounded Rectangle 28"/>
          <p:cNvSpPr/>
          <p:nvPr/>
        </p:nvSpPr>
        <p:spPr>
          <a:xfrm>
            <a:off x="420624" y="4645152"/>
            <a:ext cx="11338560" cy="676656"/>
          </a:xfrm>
          <a:prstGeom prst="roundRect">
            <a:avLst>
              <a:gd name="adj" fmla="val 6000"/>
            </a:avLst>
          </a:prstGeom>
          <a:solidFill>
            <a:srgbClr val="FFFFFF"/>
          </a:solidFill>
          <a:ln>
            <a:noFill/>
          </a:ln>
        </p:spPr>
        <p:txBody>
          <a:bodyPr rtlCol="0" anchor="ctr"/>
          <a:lstStyle/>
          <a:p>
            <a:pPr algn="ctr"/>
          </a:p>
        </p:txBody>
      </p:sp>
      <p:sp>
        <p:nvSpPr>
          <p:cNvPr id="30" name="TextBox 29"/>
          <p:cNvSpPr txBox="1"/>
          <p:nvPr/>
        </p:nvSpPr>
        <p:spPr>
          <a:xfrm>
            <a:off x="566928" y="4645152"/>
            <a:ext cx="2926080" cy="676656"/>
          </a:xfrm>
          <a:prstGeom prst="rect">
            <a:avLst/>
          </a:prstGeom>
          <a:noFill/>
        </p:spPr>
        <p:txBody>
          <a:bodyPr wrap="square" anchor="ctr"/>
          <a:lstStyle/>
          <a:p>
            <a:pPr algn="l">
              <a:spcBef>
                <a:spcPts val="0"/>
              </a:spcBef>
              <a:spcAft>
                <a:spcPts val="0"/>
              </a:spcAft>
            </a:pPr>
            <a:r>
              <a:rPr sz="1400" b="1">
                <a:solidFill>
                  <a:srgbClr val="142238"/>
                </a:solidFill>
                <a:latin typeface="Calibri"/>
              </a:rPr>
              <a:t>Study switch</a:t>
            </a:r>
          </a:p>
        </p:txBody>
      </p:sp>
      <p:sp>
        <p:nvSpPr>
          <p:cNvPr id="31" name="TextBox 30"/>
          <p:cNvSpPr txBox="1"/>
          <p:nvPr/>
        </p:nvSpPr>
        <p:spPr>
          <a:xfrm>
            <a:off x="3657600" y="4645152"/>
            <a:ext cx="3794760" cy="676656"/>
          </a:xfrm>
          <a:prstGeom prst="rect">
            <a:avLst/>
          </a:prstGeom>
          <a:noFill/>
        </p:spPr>
        <p:txBody>
          <a:bodyPr wrap="square" anchor="ctr"/>
          <a:lstStyle/>
          <a:p>
            <a:pPr algn="l">
              <a:spcBef>
                <a:spcPts val="0"/>
              </a:spcBef>
              <a:spcAft>
                <a:spcPts val="0"/>
              </a:spcAft>
            </a:pPr>
            <a:r>
              <a:rPr sz="1400" b="0">
                <a:solidFill>
                  <a:srgbClr val="1C222B"/>
                </a:solidFill>
                <a:latin typeface="Calibri"/>
              </a:rPr>
              <a:t>Any id accepted</a:t>
            </a:r>
          </a:p>
        </p:txBody>
      </p:sp>
      <p:sp>
        <p:nvSpPr>
          <p:cNvPr id="32" name="TextBox 31"/>
          <p:cNvSpPr txBox="1"/>
          <p:nvPr/>
        </p:nvSpPr>
        <p:spPr>
          <a:xfrm>
            <a:off x="7589520" y="4645152"/>
            <a:ext cx="3977639" cy="676656"/>
          </a:xfrm>
          <a:prstGeom prst="rect">
            <a:avLst/>
          </a:prstGeom>
          <a:noFill/>
        </p:spPr>
        <p:txBody>
          <a:bodyPr wrap="square" anchor="ctr"/>
          <a:lstStyle/>
          <a:p>
            <a:pPr algn="l">
              <a:spcBef>
                <a:spcPts val="0"/>
              </a:spcBef>
              <a:spcAft>
                <a:spcPts val="0"/>
              </a:spcAft>
            </a:pPr>
            <a:r>
              <a:rPr sz="1400" b="0">
                <a:solidFill>
                  <a:srgbClr val="1C222B"/>
                </a:solidFill>
                <a:latin typeface="Calibri"/>
              </a:rPr>
              <a:t>Role must be authorized</a:t>
            </a:r>
          </a:p>
        </p:txBody>
      </p:sp>
      <p:sp>
        <p:nvSpPr>
          <p:cNvPr id="33" name="Rounded Rectangle 32"/>
          <p:cNvSpPr/>
          <p:nvPr/>
        </p:nvSpPr>
        <p:spPr>
          <a:xfrm>
            <a:off x="420624" y="5394959"/>
            <a:ext cx="11338560" cy="676656"/>
          </a:xfrm>
          <a:prstGeom prst="roundRect">
            <a:avLst>
              <a:gd name="adj" fmla="val 6000"/>
            </a:avLst>
          </a:prstGeom>
          <a:solidFill>
            <a:srgbClr val="E7F3F1"/>
          </a:solidFill>
          <a:ln>
            <a:noFill/>
          </a:ln>
        </p:spPr>
        <p:txBody>
          <a:bodyPr rtlCol="0" anchor="ctr"/>
          <a:lstStyle/>
          <a:p>
            <a:pPr algn="ctr"/>
          </a:p>
        </p:txBody>
      </p:sp>
      <p:sp>
        <p:nvSpPr>
          <p:cNvPr id="34" name="TextBox 33"/>
          <p:cNvSpPr txBox="1"/>
          <p:nvPr/>
        </p:nvSpPr>
        <p:spPr>
          <a:xfrm>
            <a:off x="566928" y="5394959"/>
            <a:ext cx="2926080" cy="676656"/>
          </a:xfrm>
          <a:prstGeom prst="rect">
            <a:avLst/>
          </a:prstGeom>
          <a:noFill/>
        </p:spPr>
        <p:txBody>
          <a:bodyPr wrap="square" anchor="ctr"/>
          <a:lstStyle/>
          <a:p>
            <a:pPr algn="l">
              <a:spcBef>
                <a:spcPts val="0"/>
              </a:spcBef>
              <a:spcAft>
                <a:spcPts val="0"/>
              </a:spcAft>
            </a:pPr>
            <a:r>
              <a:rPr sz="1400" b="1">
                <a:solidFill>
                  <a:srgbClr val="142238"/>
                </a:solidFill>
                <a:latin typeface="Calibri"/>
              </a:rPr>
              <a:t>Accessibility</a:t>
            </a:r>
          </a:p>
        </p:txBody>
      </p:sp>
      <p:sp>
        <p:nvSpPr>
          <p:cNvPr id="35" name="TextBox 34"/>
          <p:cNvSpPr txBox="1"/>
          <p:nvPr/>
        </p:nvSpPr>
        <p:spPr>
          <a:xfrm>
            <a:off x="3657600" y="5394959"/>
            <a:ext cx="3794760" cy="676656"/>
          </a:xfrm>
          <a:prstGeom prst="rect">
            <a:avLst/>
          </a:prstGeom>
          <a:noFill/>
        </p:spPr>
        <p:txBody>
          <a:bodyPr wrap="square" anchor="ctr"/>
          <a:lstStyle/>
          <a:p>
            <a:pPr algn="l">
              <a:spcBef>
                <a:spcPts val="0"/>
              </a:spcBef>
              <a:spcAft>
                <a:spcPts val="0"/>
              </a:spcAft>
            </a:pPr>
            <a:r>
              <a:rPr sz="1400" b="0">
                <a:solidFill>
                  <a:srgbClr val="1C222B"/>
                </a:solidFill>
                <a:latin typeface="Calibri"/>
              </a:rPr>
              <a:t>Mouse cards, missing labels</a:t>
            </a:r>
          </a:p>
        </p:txBody>
      </p:sp>
      <p:sp>
        <p:nvSpPr>
          <p:cNvPr id="36" name="TextBox 35"/>
          <p:cNvSpPr txBox="1"/>
          <p:nvPr/>
        </p:nvSpPr>
        <p:spPr>
          <a:xfrm>
            <a:off x="7589520" y="5394959"/>
            <a:ext cx="3977639" cy="676656"/>
          </a:xfrm>
          <a:prstGeom prst="rect">
            <a:avLst/>
          </a:prstGeom>
          <a:noFill/>
        </p:spPr>
        <p:txBody>
          <a:bodyPr wrap="square" anchor="ctr"/>
          <a:lstStyle/>
          <a:p>
            <a:pPr algn="l">
              <a:spcBef>
                <a:spcPts val="0"/>
              </a:spcBef>
              <a:spcAft>
                <a:spcPts val="0"/>
              </a:spcAft>
            </a:pPr>
            <a:r>
              <a:rPr sz="1400" b="0">
                <a:solidFill>
                  <a:srgbClr val="1C222B"/>
                </a:solidFill>
                <a:latin typeface="Calibri"/>
              </a:rPr>
              <a:t>Keyboard cards, labels, main landmark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6858000"/>
          </a:xfrm>
          <a:prstGeom prst="rect">
            <a:avLst/>
          </a:prstGeom>
          <a:solidFill>
            <a:srgbClr val="F6F3EC"/>
          </a:solidFill>
          <a:ln>
            <a:noFill/>
          </a:ln>
        </p:spPr>
        <p:txBody>
          <a:bodyPr rtlCol="0" anchor="ctr"/>
          <a:lstStyle/>
          <a:p>
            <a:pPr algn="ctr"/>
          </a:p>
        </p:txBody>
      </p:sp>
      <p:sp>
        <p:nvSpPr>
          <p:cNvPr id="3" name="Rectangle 2"/>
          <p:cNvSpPr/>
          <p:nvPr/>
        </p:nvSpPr>
        <p:spPr>
          <a:xfrm>
            <a:off x="0" y="0"/>
            <a:ext cx="12198096" cy="73152"/>
          </a:xfrm>
          <a:prstGeom prst="rect">
            <a:avLst/>
          </a:prstGeom>
          <a:solidFill>
            <a:srgbClr val="C2562A"/>
          </a:solidFill>
          <a:ln>
            <a:noFill/>
          </a:ln>
        </p:spPr>
        <p:txBody>
          <a:bodyPr rtlCol="0" anchor="ctr"/>
          <a:lstStyle/>
          <a:p>
            <a:pPr algn="ctr"/>
          </a:p>
        </p:txBody>
      </p:sp>
      <p:sp>
        <p:nvSpPr>
          <p:cNvPr id="4" name="TextBox 3"/>
          <p:cNvSpPr txBox="1"/>
          <p:nvPr/>
        </p:nvSpPr>
        <p:spPr>
          <a:xfrm>
            <a:off x="420624" y="201168"/>
            <a:ext cx="11155680" cy="256032"/>
          </a:xfrm>
          <a:prstGeom prst="rect">
            <a:avLst/>
          </a:prstGeom>
          <a:noFill/>
        </p:spPr>
        <p:txBody>
          <a:bodyPr wrap="square" anchor="t"/>
          <a:lstStyle/>
          <a:p>
            <a:pPr algn="l">
              <a:spcBef>
                <a:spcPts val="0"/>
              </a:spcBef>
              <a:spcAft>
                <a:spcPts val="0"/>
              </a:spcAft>
            </a:pPr>
            <a:r>
              <a:rPr sz="1200" b="1">
                <a:solidFill>
                  <a:srgbClr val="C2562A"/>
                </a:solidFill>
                <a:latin typeface="Calibri"/>
              </a:rPr>
              <a:t>APPLICATION 2  ·  WORKSHOP 5</a:t>
            </a:r>
          </a:p>
        </p:txBody>
      </p:sp>
      <p:sp>
        <p:nvSpPr>
          <p:cNvPr id="5" name="TextBox 4"/>
          <p:cNvSpPr txBox="1"/>
          <p:nvPr/>
        </p:nvSpPr>
        <p:spPr>
          <a:xfrm>
            <a:off x="420624" y="438912"/>
            <a:ext cx="11247120" cy="566928"/>
          </a:xfrm>
          <a:prstGeom prst="rect">
            <a:avLst/>
          </a:prstGeom>
          <a:noFill/>
        </p:spPr>
        <p:txBody>
          <a:bodyPr wrap="square" anchor="t"/>
          <a:lstStyle/>
          <a:p>
            <a:pPr algn="l">
              <a:spcBef>
                <a:spcPts val="0"/>
              </a:spcBef>
              <a:spcAft>
                <a:spcPts val="0"/>
              </a:spcAft>
            </a:pPr>
            <a:r>
              <a:rPr sz="2600" b="1">
                <a:solidFill>
                  <a:srgbClr val="142238"/>
                </a:solidFill>
                <a:latin typeface="Calibri"/>
              </a:rPr>
              <a:t>A second problem: deciding what to eat</a:t>
            </a:r>
          </a:p>
        </p:txBody>
      </p:sp>
      <p:sp>
        <p:nvSpPr>
          <p:cNvPr id="6" name="Rectangle 5"/>
          <p:cNvSpPr/>
          <p:nvPr/>
        </p:nvSpPr>
        <p:spPr>
          <a:xfrm>
            <a:off x="438912" y="1042415"/>
            <a:ext cx="1234440" cy="32004"/>
          </a:xfrm>
          <a:prstGeom prst="rect">
            <a:avLst/>
          </a:prstGeom>
          <a:solidFill>
            <a:srgbClr val="8C6A32"/>
          </a:solidFill>
          <a:ln>
            <a:noFill/>
          </a:ln>
        </p:spPr>
        <p:txBody>
          <a:bodyPr rtlCol="0" anchor="ctr"/>
          <a:lstStyle/>
          <a:p>
            <a:pPr algn="ctr"/>
          </a:p>
        </p:txBody>
      </p:sp>
      <p:sp>
        <p:nvSpPr>
          <p:cNvPr id="7" name="Rectangle 6"/>
          <p:cNvSpPr/>
          <p:nvPr/>
        </p:nvSpPr>
        <p:spPr>
          <a:xfrm>
            <a:off x="0" y="6565392"/>
            <a:ext cx="12198096" cy="13716"/>
          </a:xfrm>
          <a:prstGeom prst="rect">
            <a:avLst/>
          </a:prstGeom>
          <a:solidFill>
            <a:srgbClr val="E4DBCE"/>
          </a:solidFill>
          <a:ln>
            <a:noFill/>
          </a:ln>
        </p:spPr>
        <p:txBody>
          <a:bodyPr rtlCol="0" anchor="ctr"/>
          <a:lstStyle/>
          <a:p>
            <a:pPr algn="ctr"/>
          </a:p>
        </p:txBody>
      </p:sp>
      <p:sp>
        <p:nvSpPr>
          <p:cNvPr id="8" name="TextBox 7"/>
          <p:cNvSpPr txBox="1"/>
          <p:nvPr/>
        </p:nvSpPr>
        <p:spPr>
          <a:xfrm>
            <a:off x="420624" y="6601968"/>
            <a:ext cx="8412480" cy="237744"/>
          </a:xfrm>
          <a:prstGeom prst="rect">
            <a:avLst/>
          </a:prstGeom>
          <a:noFill/>
        </p:spPr>
        <p:txBody>
          <a:bodyPr wrap="square" anchor="ctr"/>
          <a:lstStyle/>
          <a:p>
            <a:pPr algn="l">
              <a:spcBef>
                <a:spcPts val="0"/>
              </a:spcBef>
              <a:spcAft>
                <a:spcPts val="0"/>
              </a:spcAft>
            </a:pPr>
            <a:r>
              <a:rPr sz="1100" b="0">
                <a:solidFill>
                  <a:srgbClr val="5C6570"/>
                </a:solidFill>
                <a:latin typeface="Calibri"/>
              </a:rPr>
              <a:t>Pu Zeng  ·  StudyCite and BiteWise</a:t>
            </a:r>
          </a:p>
        </p:txBody>
      </p:sp>
      <p:sp>
        <p:nvSpPr>
          <p:cNvPr id="9" name="TextBox 8"/>
          <p:cNvSpPr txBox="1"/>
          <p:nvPr/>
        </p:nvSpPr>
        <p:spPr>
          <a:xfrm>
            <a:off x="9509760" y="6601968"/>
            <a:ext cx="2267712" cy="237744"/>
          </a:xfrm>
          <a:prstGeom prst="rect">
            <a:avLst/>
          </a:prstGeom>
          <a:noFill/>
        </p:spPr>
        <p:txBody>
          <a:bodyPr wrap="square" anchor="ctr"/>
          <a:lstStyle/>
          <a:p>
            <a:pPr algn="r">
              <a:spcBef>
                <a:spcPts val="0"/>
              </a:spcBef>
              <a:spcAft>
                <a:spcPts val="0"/>
              </a:spcAft>
            </a:pPr>
            <a:r>
              <a:rPr sz="1100" b="0">
                <a:solidFill>
                  <a:srgbClr val="5C6570"/>
                </a:solidFill>
                <a:latin typeface="Calibri"/>
              </a:rPr>
              <a:t>15   /   24</a:t>
            </a:r>
          </a:p>
        </p:txBody>
      </p:sp>
      <p:sp>
        <p:nvSpPr>
          <p:cNvPr id="10" name="TextBox 9"/>
          <p:cNvSpPr txBox="1"/>
          <p:nvPr/>
        </p:nvSpPr>
        <p:spPr>
          <a:xfrm>
            <a:off x="420624" y="1243584"/>
            <a:ext cx="5623560" cy="822960"/>
          </a:xfrm>
          <a:prstGeom prst="rect">
            <a:avLst/>
          </a:prstGeom>
          <a:noFill/>
        </p:spPr>
        <p:txBody>
          <a:bodyPr wrap="square" anchor="t"/>
          <a:lstStyle/>
          <a:p>
            <a:pPr algn="l">
              <a:spcBef>
                <a:spcPts val="0"/>
              </a:spcBef>
              <a:spcAft>
                <a:spcPts val="0"/>
              </a:spcAft>
            </a:pPr>
            <a:r>
              <a:rPr sz="1800" b="1">
                <a:solidFill>
                  <a:srgbClr val="142238"/>
                </a:solidFill>
                <a:latin typeface="Calibri"/>
              </a:rPr>
              <a:t>Decision fatigue on a menu that is already longer than the craving.</a:t>
            </a:r>
          </a:p>
        </p:txBody>
      </p:sp>
      <p:sp>
        <p:nvSpPr>
          <p:cNvPr id="11" name="TextBox 10"/>
          <p:cNvSpPr txBox="1"/>
          <p:nvPr/>
        </p:nvSpPr>
        <p:spPr>
          <a:xfrm>
            <a:off x="420624" y="2148840"/>
            <a:ext cx="5623560" cy="3200400"/>
          </a:xfrm>
          <a:prstGeom prst="rect">
            <a:avLst/>
          </a:prstGeom>
          <a:noFill/>
        </p:spPr>
        <p:txBody>
          <a:bodyPr wrap="square" anchor="t"/>
          <a:lstStyle/>
          <a:p>
            <a:pPr algn="l">
              <a:spcBef>
                <a:spcPts val="0"/>
              </a:spcBef>
              <a:spcAft>
                <a:spcPts val="800"/>
              </a:spcAft>
            </a:pPr>
            <a:r>
              <a:rPr sz="1500" b="0">
                <a:solidFill>
                  <a:srgbClr val="1C222B"/>
                </a:solidFill>
                <a:latin typeface="Calibri"/>
              </a:rPr>
              <a:t>•  A person says “spicy, high protein, under $20, not too heavy.”</a:t>
            </a:r>
          </a:p>
          <a:p>
            <a:pPr algn="l">
              <a:spcBef>
                <a:spcPts val="0"/>
              </a:spcBef>
              <a:spcAft>
                <a:spcPts val="800"/>
              </a:spcAft>
            </a:pPr>
            <a:r>
              <a:rPr sz="1500" b="0">
                <a:solidFill>
                  <a:srgbClr val="1C222B"/>
                </a:solidFill>
                <a:latin typeface="Calibri"/>
              </a:rPr>
              <a:t>•  Most of a 40-item sample menu is already ineligible.</a:t>
            </a:r>
          </a:p>
          <a:p>
            <a:pPr algn="l">
              <a:spcBef>
                <a:spcPts val="0"/>
              </a:spcBef>
              <a:spcAft>
                <a:spcPts val="800"/>
              </a:spcAft>
            </a:pPr>
            <a:r>
              <a:rPr sz="1500" b="0">
                <a:solidFill>
                  <a:srgbClr val="1C222B"/>
                </a:solidFill>
                <a:latin typeface="Calibri"/>
              </a:rPr>
              <a:t>•  The assistant may suggest only meals that exist, at most three.</a:t>
            </a:r>
          </a:p>
          <a:p>
            <a:pPr algn="l">
              <a:spcBef>
                <a:spcPts val="0"/>
              </a:spcBef>
              <a:spcAft>
                <a:spcPts val="800"/>
              </a:spcAft>
            </a:pPr>
            <a:r>
              <a:rPr sz="1500" b="0">
                <a:solidFill>
                  <a:srgbClr val="1C222B"/>
                </a:solidFill>
                <a:latin typeface="Calibri"/>
              </a:rPr>
              <a:t>•  Fictional restaurants. No orders, cards, or drivers.</a:t>
            </a:r>
          </a:p>
        </p:txBody>
      </p:sp>
      <p:sp>
        <p:nvSpPr>
          <p:cNvPr id="12" name="TextBox 11"/>
          <p:cNvSpPr txBox="1"/>
          <p:nvPr/>
        </p:nvSpPr>
        <p:spPr>
          <a:xfrm>
            <a:off x="420624" y="5440680"/>
            <a:ext cx="5623560" cy="822960"/>
          </a:xfrm>
          <a:prstGeom prst="rect">
            <a:avLst/>
          </a:prstGeom>
          <a:noFill/>
        </p:spPr>
        <p:txBody>
          <a:bodyPr wrap="square" anchor="t"/>
          <a:lstStyle/>
          <a:p>
            <a:pPr algn="l">
              <a:spcBef>
                <a:spcPts val="0"/>
              </a:spcBef>
              <a:spcAft>
                <a:spcPts val="0"/>
              </a:spcAft>
            </a:pPr>
            <a:r>
              <a:rPr sz="1400" b="0">
                <a:solidFill>
                  <a:srgbClr val="5C6570"/>
                </a:solidFill>
                <a:latin typeface="Calibri"/>
              </a:rPr>
              <a:t>Dietary tags are labels on sample rows, not a verified allergen analysis.</a:t>
            </a:r>
          </a:p>
        </p:txBody>
      </p:sp>
      <p:pic>
        <p:nvPicPr>
          <p:cNvPr id="13" name="Picture 12" descr="bitewise.png"/>
          <p:cNvPicPr>
            <a:picLocks noChangeAspect="1"/>
          </p:cNvPicPr>
          <p:nvPr/>
        </p:nvPicPr>
        <p:blipFill>
          <a:blip r:embed="rId2"/>
          <a:stretch>
            <a:fillRect/>
          </a:stretch>
        </p:blipFill>
        <p:spPr>
          <a:xfrm>
            <a:off x="6263640" y="1280160"/>
            <a:ext cx="5486400" cy="3429000"/>
          </a:xfrm>
          <a:prstGeom prst="rect">
            <a:avLst/>
          </a:prstGeom>
        </p:spPr>
      </p:pic>
      <p:sp>
        <p:nvSpPr>
          <p:cNvPr id="14" name="TextBox 13"/>
          <p:cNvSpPr txBox="1"/>
          <p:nvPr/>
        </p:nvSpPr>
        <p:spPr>
          <a:xfrm>
            <a:off x="6263640" y="4800600"/>
            <a:ext cx="5486400" cy="640080"/>
          </a:xfrm>
          <a:prstGeom prst="rect">
            <a:avLst/>
          </a:prstGeom>
          <a:noFill/>
        </p:spPr>
        <p:txBody>
          <a:bodyPr wrap="square" anchor="t"/>
          <a:lstStyle/>
          <a:p>
            <a:pPr algn="l">
              <a:spcBef>
                <a:spcPts val="0"/>
              </a:spcBef>
              <a:spcAft>
                <a:spcPts val="0"/>
              </a:spcAft>
            </a:pPr>
            <a:r>
              <a:rPr sz="1200" b="0">
                <a:solidFill>
                  <a:srgbClr val="5C6570"/>
                </a:solidFill>
                <a:latin typeface="Calibri"/>
              </a:rPr>
              <a:t>https://bitewise-ai.ai.studio  ·  captured October 18, 2026</a:t>
            </a:r>
          </a:p>
        </p:txBody>
      </p:sp>
      <p:sp>
        <p:nvSpPr>
          <p:cNvPr id="15" name="TextBox 14"/>
          <p:cNvSpPr txBox="1"/>
          <p:nvPr/>
        </p:nvSpPr>
        <p:spPr>
          <a:xfrm>
            <a:off x="6263640" y="5349240"/>
            <a:ext cx="5486400" cy="868680"/>
          </a:xfrm>
          <a:prstGeom prst="rect">
            <a:avLst/>
          </a:prstGeom>
          <a:noFill/>
        </p:spPr>
        <p:txBody>
          <a:bodyPr wrap="square" anchor="t"/>
          <a:lstStyle/>
          <a:p>
            <a:pPr algn="l">
              <a:spcBef>
                <a:spcPts val="0"/>
              </a:spcBef>
              <a:spcAft>
                <a:spcPts val="0"/>
              </a:spcAft>
            </a:pPr>
            <a:r>
              <a:rPr sz="1400" b="0">
                <a:solidFill>
                  <a:srgbClr val="1C222B"/>
                </a:solidFill>
                <a:latin typeface="Calibri"/>
              </a:rPr>
              <a:t>The page states the rule in order: say it plainly, filters run first, then a short list.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6858000"/>
          </a:xfrm>
          <a:prstGeom prst="rect">
            <a:avLst/>
          </a:prstGeom>
          <a:solidFill>
            <a:srgbClr val="F6F3EC"/>
          </a:solidFill>
          <a:ln>
            <a:noFill/>
          </a:ln>
        </p:spPr>
        <p:txBody>
          <a:bodyPr rtlCol="0" anchor="ctr"/>
          <a:lstStyle/>
          <a:p>
            <a:pPr algn="ctr"/>
          </a:p>
        </p:txBody>
      </p:sp>
      <p:sp>
        <p:nvSpPr>
          <p:cNvPr id="3" name="Rectangle 2"/>
          <p:cNvSpPr/>
          <p:nvPr/>
        </p:nvSpPr>
        <p:spPr>
          <a:xfrm>
            <a:off x="0" y="0"/>
            <a:ext cx="12198096" cy="73152"/>
          </a:xfrm>
          <a:prstGeom prst="rect">
            <a:avLst/>
          </a:prstGeom>
          <a:solidFill>
            <a:srgbClr val="C2562A"/>
          </a:solidFill>
          <a:ln>
            <a:noFill/>
          </a:ln>
        </p:spPr>
        <p:txBody>
          <a:bodyPr rtlCol="0" anchor="ctr"/>
          <a:lstStyle/>
          <a:p>
            <a:pPr algn="ctr"/>
          </a:p>
        </p:txBody>
      </p:sp>
      <p:sp>
        <p:nvSpPr>
          <p:cNvPr id="4" name="TextBox 3"/>
          <p:cNvSpPr txBox="1"/>
          <p:nvPr/>
        </p:nvSpPr>
        <p:spPr>
          <a:xfrm>
            <a:off x="420624" y="201168"/>
            <a:ext cx="11155680" cy="256032"/>
          </a:xfrm>
          <a:prstGeom prst="rect">
            <a:avLst/>
          </a:prstGeom>
          <a:noFill/>
        </p:spPr>
        <p:txBody>
          <a:bodyPr wrap="square" anchor="t"/>
          <a:lstStyle/>
          <a:p>
            <a:pPr algn="l">
              <a:spcBef>
                <a:spcPts val="0"/>
              </a:spcBef>
              <a:spcAft>
                <a:spcPts val="0"/>
              </a:spcAft>
            </a:pPr>
            <a:r>
              <a:rPr sz="1200" b="1">
                <a:solidFill>
                  <a:srgbClr val="C2562A"/>
                </a:solidFill>
                <a:latin typeface="Calibri"/>
              </a:rPr>
              <a:t>APPLICATION 2  ·  WORKSHOP 5</a:t>
            </a:r>
          </a:p>
        </p:txBody>
      </p:sp>
      <p:sp>
        <p:nvSpPr>
          <p:cNvPr id="5" name="TextBox 4"/>
          <p:cNvSpPr txBox="1"/>
          <p:nvPr/>
        </p:nvSpPr>
        <p:spPr>
          <a:xfrm>
            <a:off x="420624" y="438912"/>
            <a:ext cx="11247120" cy="566928"/>
          </a:xfrm>
          <a:prstGeom prst="rect">
            <a:avLst/>
          </a:prstGeom>
          <a:noFill/>
        </p:spPr>
        <p:txBody>
          <a:bodyPr wrap="square" anchor="t"/>
          <a:lstStyle/>
          <a:p>
            <a:pPr algn="l">
              <a:spcBef>
                <a:spcPts val="0"/>
              </a:spcBef>
              <a:spcAft>
                <a:spcPts val="0"/>
              </a:spcAft>
            </a:pPr>
            <a:r>
              <a:rPr sz="2800" b="1">
                <a:solidFill>
                  <a:srgbClr val="142238"/>
                </a:solidFill>
                <a:latin typeface="Calibri"/>
              </a:rPr>
              <a:t>Built and tested in the IDE</a:t>
            </a:r>
          </a:p>
        </p:txBody>
      </p:sp>
      <p:sp>
        <p:nvSpPr>
          <p:cNvPr id="6" name="Rectangle 5"/>
          <p:cNvSpPr/>
          <p:nvPr/>
        </p:nvSpPr>
        <p:spPr>
          <a:xfrm>
            <a:off x="438912" y="1042415"/>
            <a:ext cx="1234440" cy="32004"/>
          </a:xfrm>
          <a:prstGeom prst="rect">
            <a:avLst/>
          </a:prstGeom>
          <a:solidFill>
            <a:srgbClr val="8C6A32"/>
          </a:solidFill>
          <a:ln>
            <a:noFill/>
          </a:ln>
        </p:spPr>
        <p:txBody>
          <a:bodyPr rtlCol="0" anchor="ctr"/>
          <a:lstStyle/>
          <a:p>
            <a:pPr algn="ctr"/>
          </a:p>
        </p:txBody>
      </p:sp>
      <p:sp>
        <p:nvSpPr>
          <p:cNvPr id="7" name="Rectangle 6"/>
          <p:cNvSpPr/>
          <p:nvPr/>
        </p:nvSpPr>
        <p:spPr>
          <a:xfrm>
            <a:off x="0" y="6565392"/>
            <a:ext cx="12198096" cy="13716"/>
          </a:xfrm>
          <a:prstGeom prst="rect">
            <a:avLst/>
          </a:prstGeom>
          <a:solidFill>
            <a:srgbClr val="E4DBCE"/>
          </a:solidFill>
          <a:ln>
            <a:noFill/>
          </a:ln>
        </p:spPr>
        <p:txBody>
          <a:bodyPr rtlCol="0" anchor="ctr"/>
          <a:lstStyle/>
          <a:p>
            <a:pPr algn="ctr"/>
          </a:p>
        </p:txBody>
      </p:sp>
      <p:sp>
        <p:nvSpPr>
          <p:cNvPr id="8" name="TextBox 7"/>
          <p:cNvSpPr txBox="1"/>
          <p:nvPr/>
        </p:nvSpPr>
        <p:spPr>
          <a:xfrm>
            <a:off x="420624" y="6601968"/>
            <a:ext cx="8412480" cy="237744"/>
          </a:xfrm>
          <a:prstGeom prst="rect">
            <a:avLst/>
          </a:prstGeom>
          <a:noFill/>
        </p:spPr>
        <p:txBody>
          <a:bodyPr wrap="square" anchor="ctr"/>
          <a:lstStyle/>
          <a:p>
            <a:pPr algn="l">
              <a:spcBef>
                <a:spcPts val="0"/>
              </a:spcBef>
              <a:spcAft>
                <a:spcPts val="0"/>
              </a:spcAft>
            </a:pPr>
            <a:r>
              <a:rPr sz="1100" b="0">
                <a:solidFill>
                  <a:srgbClr val="5C6570"/>
                </a:solidFill>
                <a:latin typeface="Calibri"/>
              </a:rPr>
              <a:t>Pu Zeng  ·  StudyCite and BiteWise</a:t>
            </a:r>
          </a:p>
        </p:txBody>
      </p:sp>
      <p:sp>
        <p:nvSpPr>
          <p:cNvPr id="9" name="TextBox 8"/>
          <p:cNvSpPr txBox="1"/>
          <p:nvPr/>
        </p:nvSpPr>
        <p:spPr>
          <a:xfrm>
            <a:off x="9509760" y="6601968"/>
            <a:ext cx="2267712" cy="237744"/>
          </a:xfrm>
          <a:prstGeom prst="rect">
            <a:avLst/>
          </a:prstGeom>
          <a:noFill/>
        </p:spPr>
        <p:txBody>
          <a:bodyPr wrap="square" anchor="ctr"/>
          <a:lstStyle/>
          <a:p>
            <a:pPr algn="r">
              <a:spcBef>
                <a:spcPts val="0"/>
              </a:spcBef>
              <a:spcAft>
                <a:spcPts val="0"/>
              </a:spcAft>
            </a:pPr>
            <a:r>
              <a:rPr sz="1100" b="0">
                <a:solidFill>
                  <a:srgbClr val="5C6570"/>
                </a:solidFill>
                <a:latin typeface="Calibri"/>
              </a:rPr>
              <a:t>16   /   24</a:t>
            </a:r>
          </a:p>
        </p:txBody>
      </p:sp>
      <p:sp>
        <p:nvSpPr>
          <p:cNvPr id="10" name="TextBox 9"/>
          <p:cNvSpPr txBox="1"/>
          <p:nvPr/>
        </p:nvSpPr>
        <p:spPr>
          <a:xfrm>
            <a:off x="438912" y="1225296"/>
            <a:ext cx="11247120" cy="502920"/>
          </a:xfrm>
          <a:prstGeom prst="rect">
            <a:avLst/>
          </a:prstGeom>
          <a:noFill/>
        </p:spPr>
        <p:txBody>
          <a:bodyPr wrap="square" anchor="t"/>
          <a:lstStyle/>
          <a:p>
            <a:pPr algn="l">
              <a:spcBef>
                <a:spcPts val="0"/>
              </a:spcBef>
              <a:spcAft>
                <a:spcPts val="0"/>
              </a:spcAft>
            </a:pPr>
            <a:r>
              <a:rPr sz="1600" b="0">
                <a:solidFill>
                  <a:srgbClr val="1C222B"/>
                </a:solidFill>
                <a:latin typeface="Calibri"/>
              </a:rPr>
              <a:t>React, Vite, and Tailwind on the client. Express, SQLite, and Gemini on the server. The key never enters the browser.</a:t>
            </a:r>
          </a:p>
        </p:txBody>
      </p:sp>
      <p:sp>
        <p:nvSpPr>
          <p:cNvPr id="11" name="Rounded Rectangle 10"/>
          <p:cNvSpPr/>
          <p:nvPr/>
        </p:nvSpPr>
        <p:spPr>
          <a:xfrm>
            <a:off x="420624" y="1874519"/>
            <a:ext cx="5669280" cy="585216"/>
          </a:xfrm>
          <a:prstGeom prst="roundRect">
            <a:avLst>
              <a:gd name="adj" fmla="val 8000"/>
            </a:avLst>
          </a:prstGeom>
          <a:solidFill>
            <a:srgbClr val="FFFFFF"/>
          </a:solidFill>
          <a:ln w="12700">
            <a:solidFill>
              <a:srgbClr val="E4DBCE"/>
            </a:solidFill>
          </a:ln>
        </p:spPr>
        <p:txBody>
          <a:bodyPr rtlCol="0" anchor="ctr"/>
          <a:lstStyle/>
          <a:p>
            <a:pPr algn="ctr"/>
          </a:p>
        </p:txBody>
      </p:sp>
      <p:sp>
        <p:nvSpPr>
          <p:cNvPr id="12" name="TextBox 11"/>
          <p:cNvSpPr txBox="1"/>
          <p:nvPr/>
        </p:nvSpPr>
        <p:spPr>
          <a:xfrm>
            <a:off x="566928" y="1874519"/>
            <a:ext cx="457200" cy="585216"/>
          </a:xfrm>
          <a:prstGeom prst="rect">
            <a:avLst/>
          </a:prstGeom>
          <a:noFill/>
        </p:spPr>
        <p:txBody>
          <a:bodyPr wrap="square" anchor="ctr"/>
          <a:lstStyle/>
          <a:p>
            <a:pPr algn="l">
              <a:spcBef>
                <a:spcPts val="0"/>
              </a:spcBef>
              <a:spcAft>
                <a:spcPts val="0"/>
              </a:spcAft>
            </a:pPr>
            <a:r>
              <a:rPr sz="1300" b="1">
                <a:solidFill>
                  <a:srgbClr val="C2562A"/>
                </a:solidFill>
                <a:latin typeface="Calibri"/>
              </a:rPr>
              <a:t>01</a:t>
            </a:r>
          </a:p>
        </p:txBody>
      </p:sp>
      <p:sp>
        <p:nvSpPr>
          <p:cNvPr id="13" name="TextBox 12"/>
          <p:cNvSpPr txBox="1"/>
          <p:nvPr/>
        </p:nvSpPr>
        <p:spPr>
          <a:xfrm>
            <a:off x="1060704" y="1874519"/>
            <a:ext cx="4846320" cy="585216"/>
          </a:xfrm>
          <a:prstGeom prst="rect">
            <a:avLst/>
          </a:prstGeom>
          <a:noFill/>
        </p:spPr>
        <p:txBody>
          <a:bodyPr wrap="square" anchor="ctr"/>
          <a:lstStyle/>
          <a:p>
            <a:pPr algn="l">
              <a:spcBef>
                <a:spcPts val="0"/>
              </a:spcBef>
              <a:spcAft>
                <a:spcPts val="0"/>
              </a:spcAft>
            </a:pPr>
            <a:r>
              <a:rPr sz="1300" b="0">
                <a:solidFill>
                  <a:srgbClr val="1C222B"/>
                </a:solidFill>
                <a:latin typeface="Calibri"/>
              </a:rPr>
              <a:t>Catalog routes return the sample menu</a:t>
            </a:r>
          </a:p>
        </p:txBody>
      </p:sp>
      <p:sp>
        <p:nvSpPr>
          <p:cNvPr id="14" name="Rounded Rectangle 13"/>
          <p:cNvSpPr/>
          <p:nvPr/>
        </p:nvSpPr>
        <p:spPr>
          <a:xfrm>
            <a:off x="420624" y="2532887"/>
            <a:ext cx="5669280" cy="585216"/>
          </a:xfrm>
          <a:prstGeom prst="roundRect">
            <a:avLst>
              <a:gd name="adj" fmla="val 8000"/>
            </a:avLst>
          </a:prstGeom>
          <a:solidFill>
            <a:srgbClr val="FFFFFF"/>
          </a:solidFill>
          <a:ln w="12700">
            <a:solidFill>
              <a:srgbClr val="E4DBCE"/>
            </a:solidFill>
          </a:ln>
        </p:spPr>
        <p:txBody>
          <a:bodyPr rtlCol="0" anchor="ctr"/>
          <a:lstStyle/>
          <a:p>
            <a:pPr algn="ctr"/>
          </a:p>
        </p:txBody>
      </p:sp>
      <p:sp>
        <p:nvSpPr>
          <p:cNvPr id="15" name="TextBox 14"/>
          <p:cNvSpPr txBox="1"/>
          <p:nvPr/>
        </p:nvSpPr>
        <p:spPr>
          <a:xfrm>
            <a:off x="566928" y="2532887"/>
            <a:ext cx="457200" cy="585216"/>
          </a:xfrm>
          <a:prstGeom prst="rect">
            <a:avLst/>
          </a:prstGeom>
          <a:noFill/>
        </p:spPr>
        <p:txBody>
          <a:bodyPr wrap="square" anchor="ctr"/>
          <a:lstStyle/>
          <a:p>
            <a:pPr algn="l">
              <a:spcBef>
                <a:spcPts val="0"/>
              </a:spcBef>
              <a:spcAft>
                <a:spcPts val="0"/>
              </a:spcAft>
            </a:pPr>
            <a:r>
              <a:rPr sz="1300" b="1">
                <a:solidFill>
                  <a:srgbClr val="C2562A"/>
                </a:solidFill>
                <a:latin typeface="Calibri"/>
              </a:rPr>
              <a:t>02</a:t>
            </a:r>
          </a:p>
        </p:txBody>
      </p:sp>
      <p:sp>
        <p:nvSpPr>
          <p:cNvPr id="16" name="TextBox 15"/>
          <p:cNvSpPr txBox="1"/>
          <p:nvPr/>
        </p:nvSpPr>
        <p:spPr>
          <a:xfrm>
            <a:off x="1060704" y="2532887"/>
            <a:ext cx="4846320" cy="585216"/>
          </a:xfrm>
          <a:prstGeom prst="rect">
            <a:avLst/>
          </a:prstGeom>
          <a:noFill/>
        </p:spPr>
        <p:txBody>
          <a:bodyPr wrap="square" anchor="ctr"/>
          <a:lstStyle/>
          <a:p>
            <a:pPr algn="l">
              <a:spcBef>
                <a:spcPts val="0"/>
              </a:spcBef>
              <a:spcAft>
                <a:spcPts val="0"/>
              </a:spcAft>
            </a:pPr>
            <a:r>
              <a:rPr sz="1300" b="0">
                <a:solidFill>
                  <a:srgbClr val="1C222B"/>
                </a:solidFill>
                <a:latin typeface="Calibri"/>
              </a:rPr>
              <a:t>Budget, cuisine, and diet filters constrain results</a:t>
            </a:r>
          </a:p>
        </p:txBody>
      </p:sp>
      <p:sp>
        <p:nvSpPr>
          <p:cNvPr id="17" name="Rounded Rectangle 16"/>
          <p:cNvSpPr/>
          <p:nvPr/>
        </p:nvSpPr>
        <p:spPr>
          <a:xfrm>
            <a:off x="420624" y="3191256"/>
            <a:ext cx="5669280" cy="585216"/>
          </a:xfrm>
          <a:prstGeom prst="roundRect">
            <a:avLst>
              <a:gd name="adj" fmla="val 8000"/>
            </a:avLst>
          </a:prstGeom>
          <a:solidFill>
            <a:srgbClr val="FFFFFF"/>
          </a:solidFill>
          <a:ln w="12700">
            <a:solidFill>
              <a:srgbClr val="E4DBCE"/>
            </a:solidFill>
          </a:ln>
        </p:spPr>
        <p:txBody>
          <a:bodyPr rtlCol="0" anchor="ctr"/>
          <a:lstStyle/>
          <a:p>
            <a:pPr algn="ctr"/>
          </a:p>
        </p:txBody>
      </p:sp>
      <p:sp>
        <p:nvSpPr>
          <p:cNvPr id="18" name="TextBox 17"/>
          <p:cNvSpPr txBox="1"/>
          <p:nvPr/>
        </p:nvSpPr>
        <p:spPr>
          <a:xfrm>
            <a:off x="566928" y="3191256"/>
            <a:ext cx="457200" cy="585216"/>
          </a:xfrm>
          <a:prstGeom prst="rect">
            <a:avLst/>
          </a:prstGeom>
          <a:noFill/>
        </p:spPr>
        <p:txBody>
          <a:bodyPr wrap="square" anchor="ctr"/>
          <a:lstStyle/>
          <a:p>
            <a:pPr algn="l">
              <a:spcBef>
                <a:spcPts val="0"/>
              </a:spcBef>
              <a:spcAft>
                <a:spcPts val="0"/>
              </a:spcAft>
            </a:pPr>
            <a:r>
              <a:rPr sz="1300" b="1">
                <a:solidFill>
                  <a:srgbClr val="C2562A"/>
                </a:solidFill>
                <a:latin typeface="Calibri"/>
              </a:rPr>
              <a:t>03</a:t>
            </a:r>
          </a:p>
        </p:txBody>
      </p:sp>
      <p:sp>
        <p:nvSpPr>
          <p:cNvPr id="19" name="TextBox 18"/>
          <p:cNvSpPr txBox="1"/>
          <p:nvPr/>
        </p:nvSpPr>
        <p:spPr>
          <a:xfrm>
            <a:off x="1060704" y="3191256"/>
            <a:ext cx="4846320" cy="585216"/>
          </a:xfrm>
          <a:prstGeom prst="rect">
            <a:avLst/>
          </a:prstGeom>
          <a:noFill/>
        </p:spPr>
        <p:txBody>
          <a:bodyPr wrap="square" anchor="ctr"/>
          <a:lstStyle/>
          <a:p>
            <a:pPr algn="l">
              <a:spcBef>
                <a:spcPts val="0"/>
              </a:spcBef>
              <a:spcAft>
                <a:spcPts val="0"/>
              </a:spcAft>
            </a:pPr>
            <a:r>
              <a:rPr sz="1300" b="0">
                <a:solidFill>
                  <a:srgbClr val="1C222B"/>
                </a:solidFill>
                <a:latin typeface="Calibri"/>
              </a:rPr>
              <a:t>Unknown meal ids return safe errors</a:t>
            </a:r>
          </a:p>
        </p:txBody>
      </p:sp>
      <p:sp>
        <p:nvSpPr>
          <p:cNvPr id="20" name="Rounded Rectangle 19"/>
          <p:cNvSpPr/>
          <p:nvPr/>
        </p:nvSpPr>
        <p:spPr>
          <a:xfrm>
            <a:off x="420624" y="3849624"/>
            <a:ext cx="5669280" cy="585216"/>
          </a:xfrm>
          <a:prstGeom prst="roundRect">
            <a:avLst>
              <a:gd name="adj" fmla="val 8000"/>
            </a:avLst>
          </a:prstGeom>
          <a:solidFill>
            <a:srgbClr val="FFFFFF"/>
          </a:solidFill>
          <a:ln w="12700">
            <a:solidFill>
              <a:srgbClr val="E4DBCE"/>
            </a:solidFill>
          </a:ln>
        </p:spPr>
        <p:txBody>
          <a:bodyPr rtlCol="0" anchor="ctr"/>
          <a:lstStyle/>
          <a:p>
            <a:pPr algn="ctr"/>
          </a:p>
        </p:txBody>
      </p:sp>
      <p:sp>
        <p:nvSpPr>
          <p:cNvPr id="21" name="TextBox 20"/>
          <p:cNvSpPr txBox="1"/>
          <p:nvPr/>
        </p:nvSpPr>
        <p:spPr>
          <a:xfrm>
            <a:off x="566928" y="3849624"/>
            <a:ext cx="457200" cy="585216"/>
          </a:xfrm>
          <a:prstGeom prst="rect">
            <a:avLst/>
          </a:prstGeom>
          <a:noFill/>
        </p:spPr>
        <p:txBody>
          <a:bodyPr wrap="square" anchor="ctr"/>
          <a:lstStyle/>
          <a:p>
            <a:pPr algn="l">
              <a:spcBef>
                <a:spcPts val="0"/>
              </a:spcBef>
              <a:spcAft>
                <a:spcPts val="0"/>
              </a:spcAft>
            </a:pPr>
            <a:r>
              <a:rPr sz="1300" b="1">
                <a:solidFill>
                  <a:srgbClr val="C2562A"/>
                </a:solidFill>
                <a:latin typeface="Calibri"/>
              </a:rPr>
              <a:t>04</a:t>
            </a:r>
          </a:p>
        </p:txBody>
      </p:sp>
      <p:sp>
        <p:nvSpPr>
          <p:cNvPr id="22" name="TextBox 21"/>
          <p:cNvSpPr txBox="1"/>
          <p:nvPr/>
        </p:nvSpPr>
        <p:spPr>
          <a:xfrm>
            <a:off x="1060704" y="3849624"/>
            <a:ext cx="4846320" cy="585216"/>
          </a:xfrm>
          <a:prstGeom prst="rect">
            <a:avLst/>
          </a:prstGeom>
          <a:noFill/>
        </p:spPr>
        <p:txBody>
          <a:bodyPr wrap="square" anchor="ctr"/>
          <a:lstStyle/>
          <a:p>
            <a:pPr algn="l">
              <a:spcBef>
                <a:spcPts val="0"/>
              </a:spcBef>
              <a:spcAft>
                <a:spcPts val="0"/>
              </a:spcAft>
            </a:pPr>
            <a:r>
              <a:rPr sz="1300" b="0">
                <a:solidFill>
                  <a:srgbClr val="1C222B"/>
                </a:solidFill>
                <a:latin typeface="Calibri"/>
              </a:rPr>
              <a:t>No Gemini key means the fallback ranker</a:t>
            </a:r>
          </a:p>
        </p:txBody>
      </p:sp>
      <p:sp>
        <p:nvSpPr>
          <p:cNvPr id="23" name="Rounded Rectangle 22"/>
          <p:cNvSpPr/>
          <p:nvPr/>
        </p:nvSpPr>
        <p:spPr>
          <a:xfrm>
            <a:off x="420624" y="4507992"/>
            <a:ext cx="5669280" cy="585216"/>
          </a:xfrm>
          <a:prstGeom prst="roundRect">
            <a:avLst>
              <a:gd name="adj" fmla="val 8000"/>
            </a:avLst>
          </a:prstGeom>
          <a:solidFill>
            <a:srgbClr val="FFFFFF"/>
          </a:solidFill>
          <a:ln w="12700">
            <a:solidFill>
              <a:srgbClr val="E4DBCE"/>
            </a:solidFill>
          </a:ln>
        </p:spPr>
        <p:txBody>
          <a:bodyPr rtlCol="0" anchor="ctr"/>
          <a:lstStyle/>
          <a:p>
            <a:pPr algn="ctr"/>
          </a:p>
        </p:txBody>
      </p:sp>
      <p:sp>
        <p:nvSpPr>
          <p:cNvPr id="24" name="TextBox 23"/>
          <p:cNvSpPr txBox="1"/>
          <p:nvPr/>
        </p:nvSpPr>
        <p:spPr>
          <a:xfrm>
            <a:off x="566928" y="4507992"/>
            <a:ext cx="457200" cy="585216"/>
          </a:xfrm>
          <a:prstGeom prst="rect">
            <a:avLst/>
          </a:prstGeom>
          <a:noFill/>
        </p:spPr>
        <p:txBody>
          <a:bodyPr wrap="square" anchor="ctr"/>
          <a:lstStyle/>
          <a:p>
            <a:pPr algn="l">
              <a:spcBef>
                <a:spcPts val="0"/>
              </a:spcBef>
              <a:spcAft>
                <a:spcPts val="0"/>
              </a:spcAft>
            </a:pPr>
            <a:r>
              <a:rPr sz="1300" b="1">
                <a:solidFill>
                  <a:srgbClr val="C2562A"/>
                </a:solidFill>
                <a:latin typeface="Calibri"/>
              </a:rPr>
              <a:t>05</a:t>
            </a:r>
          </a:p>
        </p:txBody>
      </p:sp>
      <p:sp>
        <p:nvSpPr>
          <p:cNvPr id="25" name="TextBox 24"/>
          <p:cNvSpPr txBox="1"/>
          <p:nvPr/>
        </p:nvSpPr>
        <p:spPr>
          <a:xfrm>
            <a:off x="1060704" y="4507992"/>
            <a:ext cx="4846320" cy="585216"/>
          </a:xfrm>
          <a:prstGeom prst="rect">
            <a:avLst/>
          </a:prstGeom>
          <a:noFill/>
        </p:spPr>
        <p:txBody>
          <a:bodyPr wrap="square" anchor="ctr"/>
          <a:lstStyle/>
          <a:p>
            <a:pPr algn="l">
              <a:spcBef>
                <a:spcPts val="0"/>
              </a:spcBef>
              <a:spcAft>
                <a:spcPts val="0"/>
              </a:spcAft>
            </a:pPr>
            <a:r>
              <a:rPr sz="1300" b="0">
                <a:solidFill>
                  <a:srgbClr val="1C222B"/>
                </a:solidFill>
                <a:latin typeface="Calibri"/>
              </a:rPr>
              <a:t>Bad model output cannot leave the menu</a:t>
            </a:r>
          </a:p>
        </p:txBody>
      </p:sp>
      <p:sp>
        <p:nvSpPr>
          <p:cNvPr id="26" name="Rounded Rectangle 25"/>
          <p:cNvSpPr/>
          <p:nvPr/>
        </p:nvSpPr>
        <p:spPr>
          <a:xfrm>
            <a:off x="420624" y="5166359"/>
            <a:ext cx="5669280" cy="585216"/>
          </a:xfrm>
          <a:prstGeom prst="roundRect">
            <a:avLst>
              <a:gd name="adj" fmla="val 8000"/>
            </a:avLst>
          </a:prstGeom>
          <a:solidFill>
            <a:srgbClr val="FFFFFF"/>
          </a:solidFill>
          <a:ln w="12700">
            <a:solidFill>
              <a:srgbClr val="E4DBCE"/>
            </a:solidFill>
          </a:ln>
        </p:spPr>
        <p:txBody>
          <a:bodyPr rtlCol="0" anchor="ctr"/>
          <a:lstStyle/>
          <a:p>
            <a:pPr algn="ctr"/>
          </a:p>
        </p:txBody>
      </p:sp>
      <p:sp>
        <p:nvSpPr>
          <p:cNvPr id="27" name="TextBox 26"/>
          <p:cNvSpPr txBox="1"/>
          <p:nvPr/>
        </p:nvSpPr>
        <p:spPr>
          <a:xfrm>
            <a:off x="566928" y="5166359"/>
            <a:ext cx="457200" cy="585216"/>
          </a:xfrm>
          <a:prstGeom prst="rect">
            <a:avLst/>
          </a:prstGeom>
          <a:noFill/>
        </p:spPr>
        <p:txBody>
          <a:bodyPr wrap="square" anchor="ctr"/>
          <a:lstStyle/>
          <a:p>
            <a:pPr algn="l">
              <a:spcBef>
                <a:spcPts val="0"/>
              </a:spcBef>
              <a:spcAft>
                <a:spcPts val="0"/>
              </a:spcAft>
            </a:pPr>
            <a:r>
              <a:rPr sz="1300" b="1">
                <a:solidFill>
                  <a:srgbClr val="C2562A"/>
                </a:solidFill>
                <a:latin typeface="Calibri"/>
              </a:rPr>
              <a:t>06</a:t>
            </a:r>
          </a:p>
        </p:txBody>
      </p:sp>
      <p:sp>
        <p:nvSpPr>
          <p:cNvPr id="28" name="TextBox 27"/>
          <p:cNvSpPr txBox="1"/>
          <p:nvPr/>
        </p:nvSpPr>
        <p:spPr>
          <a:xfrm>
            <a:off x="1060704" y="5166359"/>
            <a:ext cx="4846320" cy="585216"/>
          </a:xfrm>
          <a:prstGeom prst="rect">
            <a:avLst/>
          </a:prstGeom>
          <a:noFill/>
        </p:spPr>
        <p:txBody>
          <a:bodyPr wrap="square" anchor="ctr"/>
          <a:lstStyle/>
          <a:p>
            <a:pPr algn="l">
              <a:spcBef>
                <a:spcPts val="0"/>
              </a:spcBef>
              <a:spcAft>
                <a:spcPts val="0"/>
              </a:spcAft>
            </a:pPr>
            <a:r>
              <a:rPr sz="1300" b="0">
                <a:solidFill>
                  <a:srgbClr val="1C222B"/>
                </a:solidFill>
                <a:latin typeface="Calibri"/>
              </a:rPr>
              <a:t>A ranking is kept only if every id is eligible</a:t>
            </a:r>
          </a:p>
        </p:txBody>
      </p:sp>
      <p:sp>
        <p:nvSpPr>
          <p:cNvPr id="29" name="Rounded Rectangle 28"/>
          <p:cNvSpPr/>
          <p:nvPr/>
        </p:nvSpPr>
        <p:spPr>
          <a:xfrm>
            <a:off x="6272784" y="1874519"/>
            <a:ext cx="5669280" cy="585216"/>
          </a:xfrm>
          <a:prstGeom prst="roundRect">
            <a:avLst>
              <a:gd name="adj" fmla="val 8000"/>
            </a:avLst>
          </a:prstGeom>
          <a:solidFill>
            <a:srgbClr val="FFFFFF"/>
          </a:solidFill>
          <a:ln w="12700">
            <a:solidFill>
              <a:srgbClr val="E4DBCE"/>
            </a:solidFill>
          </a:ln>
        </p:spPr>
        <p:txBody>
          <a:bodyPr rtlCol="0" anchor="ctr"/>
          <a:lstStyle/>
          <a:p>
            <a:pPr algn="ctr"/>
          </a:p>
        </p:txBody>
      </p:sp>
      <p:sp>
        <p:nvSpPr>
          <p:cNvPr id="30" name="TextBox 29"/>
          <p:cNvSpPr txBox="1"/>
          <p:nvPr/>
        </p:nvSpPr>
        <p:spPr>
          <a:xfrm>
            <a:off x="6419088" y="1874519"/>
            <a:ext cx="457200" cy="585216"/>
          </a:xfrm>
          <a:prstGeom prst="rect">
            <a:avLst/>
          </a:prstGeom>
          <a:noFill/>
        </p:spPr>
        <p:txBody>
          <a:bodyPr wrap="square" anchor="ctr"/>
          <a:lstStyle/>
          <a:p>
            <a:pPr algn="l">
              <a:spcBef>
                <a:spcPts val="0"/>
              </a:spcBef>
              <a:spcAft>
                <a:spcPts val="0"/>
              </a:spcAft>
            </a:pPr>
            <a:r>
              <a:rPr sz="1300" b="1">
                <a:solidFill>
                  <a:srgbClr val="C2562A"/>
                </a:solidFill>
                <a:latin typeface="Calibri"/>
              </a:rPr>
              <a:t>07</a:t>
            </a:r>
          </a:p>
        </p:txBody>
      </p:sp>
      <p:sp>
        <p:nvSpPr>
          <p:cNvPr id="31" name="TextBox 30"/>
          <p:cNvSpPr txBox="1"/>
          <p:nvPr/>
        </p:nvSpPr>
        <p:spPr>
          <a:xfrm>
            <a:off x="6912864" y="1874519"/>
            <a:ext cx="4846320" cy="585216"/>
          </a:xfrm>
          <a:prstGeom prst="rect">
            <a:avLst/>
          </a:prstGeom>
          <a:noFill/>
        </p:spPr>
        <p:txBody>
          <a:bodyPr wrap="square" anchor="ctr"/>
          <a:lstStyle/>
          <a:p>
            <a:pPr algn="l">
              <a:spcBef>
                <a:spcPts val="0"/>
              </a:spcBef>
              <a:spcAft>
                <a:spcPts val="0"/>
              </a:spcAft>
            </a:pPr>
            <a:r>
              <a:rPr sz="1300" b="0">
                <a:solidFill>
                  <a:srgbClr val="1C222B"/>
                </a:solidFill>
                <a:latin typeface="Calibri"/>
              </a:rPr>
              <a:t>Words in the prompt are hard filters too</a:t>
            </a:r>
          </a:p>
        </p:txBody>
      </p:sp>
      <p:sp>
        <p:nvSpPr>
          <p:cNvPr id="32" name="Rounded Rectangle 31"/>
          <p:cNvSpPr/>
          <p:nvPr/>
        </p:nvSpPr>
        <p:spPr>
          <a:xfrm>
            <a:off x="6272784" y="2532887"/>
            <a:ext cx="5669280" cy="585216"/>
          </a:xfrm>
          <a:prstGeom prst="roundRect">
            <a:avLst>
              <a:gd name="adj" fmla="val 8000"/>
            </a:avLst>
          </a:prstGeom>
          <a:solidFill>
            <a:srgbClr val="FFFFFF"/>
          </a:solidFill>
          <a:ln w="12700">
            <a:solidFill>
              <a:srgbClr val="E4DBCE"/>
            </a:solidFill>
          </a:ln>
        </p:spPr>
        <p:txBody>
          <a:bodyPr rtlCol="0" anchor="ctr"/>
          <a:lstStyle/>
          <a:p>
            <a:pPr algn="ctr"/>
          </a:p>
        </p:txBody>
      </p:sp>
      <p:sp>
        <p:nvSpPr>
          <p:cNvPr id="33" name="TextBox 32"/>
          <p:cNvSpPr txBox="1"/>
          <p:nvPr/>
        </p:nvSpPr>
        <p:spPr>
          <a:xfrm>
            <a:off x="6419088" y="2532887"/>
            <a:ext cx="457200" cy="585216"/>
          </a:xfrm>
          <a:prstGeom prst="rect">
            <a:avLst/>
          </a:prstGeom>
          <a:noFill/>
        </p:spPr>
        <p:txBody>
          <a:bodyPr wrap="square" anchor="ctr"/>
          <a:lstStyle/>
          <a:p>
            <a:pPr algn="l">
              <a:spcBef>
                <a:spcPts val="0"/>
              </a:spcBef>
              <a:spcAft>
                <a:spcPts val="0"/>
              </a:spcAft>
            </a:pPr>
            <a:r>
              <a:rPr sz="1300" b="1">
                <a:solidFill>
                  <a:srgbClr val="C2562A"/>
                </a:solidFill>
                <a:latin typeface="Calibri"/>
              </a:rPr>
              <a:t>08</a:t>
            </a:r>
          </a:p>
        </p:txBody>
      </p:sp>
      <p:sp>
        <p:nvSpPr>
          <p:cNvPr id="34" name="TextBox 33"/>
          <p:cNvSpPr txBox="1"/>
          <p:nvPr/>
        </p:nvSpPr>
        <p:spPr>
          <a:xfrm>
            <a:off x="6912864" y="2532887"/>
            <a:ext cx="4846320" cy="585216"/>
          </a:xfrm>
          <a:prstGeom prst="rect">
            <a:avLst/>
          </a:prstGeom>
          <a:noFill/>
        </p:spPr>
        <p:txBody>
          <a:bodyPr wrap="square" anchor="ctr"/>
          <a:lstStyle/>
          <a:p>
            <a:pPr algn="l">
              <a:spcBef>
                <a:spcPts val="0"/>
              </a:spcBef>
              <a:spcAft>
                <a:spcPts val="0"/>
              </a:spcAft>
            </a:pPr>
            <a:r>
              <a:rPr sz="1300" b="0">
                <a:solidFill>
                  <a:srgbClr val="1C222B"/>
                </a:solidFill>
                <a:latin typeface="Calibri"/>
              </a:rPr>
              <a:t>Favorites persist and reject duplicates</a:t>
            </a:r>
          </a:p>
        </p:txBody>
      </p:sp>
      <p:sp>
        <p:nvSpPr>
          <p:cNvPr id="35" name="Rounded Rectangle 34"/>
          <p:cNvSpPr/>
          <p:nvPr/>
        </p:nvSpPr>
        <p:spPr>
          <a:xfrm>
            <a:off x="6272784" y="3191256"/>
            <a:ext cx="5669280" cy="585216"/>
          </a:xfrm>
          <a:prstGeom prst="roundRect">
            <a:avLst>
              <a:gd name="adj" fmla="val 8000"/>
            </a:avLst>
          </a:prstGeom>
          <a:solidFill>
            <a:srgbClr val="FFFFFF"/>
          </a:solidFill>
          <a:ln w="12700">
            <a:solidFill>
              <a:srgbClr val="E4DBCE"/>
            </a:solidFill>
          </a:ln>
        </p:spPr>
        <p:txBody>
          <a:bodyPr rtlCol="0" anchor="ctr"/>
          <a:lstStyle/>
          <a:p>
            <a:pPr algn="ctr"/>
          </a:p>
        </p:txBody>
      </p:sp>
      <p:sp>
        <p:nvSpPr>
          <p:cNvPr id="36" name="TextBox 35"/>
          <p:cNvSpPr txBox="1"/>
          <p:nvPr/>
        </p:nvSpPr>
        <p:spPr>
          <a:xfrm>
            <a:off x="6419088" y="3191256"/>
            <a:ext cx="457200" cy="585216"/>
          </a:xfrm>
          <a:prstGeom prst="rect">
            <a:avLst/>
          </a:prstGeom>
          <a:noFill/>
        </p:spPr>
        <p:txBody>
          <a:bodyPr wrap="square" anchor="ctr"/>
          <a:lstStyle/>
          <a:p>
            <a:pPr algn="l">
              <a:spcBef>
                <a:spcPts val="0"/>
              </a:spcBef>
              <a:spcAft>
                <a:spcPts val="0"/>
              </a:spcAft>
            </a:pPr>
            <a:r>
              <a:rPr sz="1300" b="1">
                <a:solidFill>
                  <a:srgbClr val="C2562A"/>
                </a:solidFill>
                <a:latin typeface="Calibri"/>
              </a:rPr>
              <a:t>09</a:t>
            </a:r>
          </a:p>
        </p:txBody>
      </p:sp>
      <p:sp>
        <p:nvSpPr>
          <p:cNvPr id="37" name="TextBox 36"/>
          <p:cNvSpPr txBox="1"/>
          <p:nvPr/>
        </p:nvSpPr>
        <p:spPr>
          <a:xfrm>
            <a:off x="6912864" y="3191256"/>
            <a:ext cx="4846320" cy="585216"/>
          </a:xfrm>
          <a:prstGeom prst="rect">
            <a:avLst/>
          </a:prstGeom>
          <a:noFill/>
        </p:spPr>
        <p:txBody>
          <a:bodyPr wrap="square" anchor="ctr"/>
          <a:lstStyle/>
          <a:p>
            <a:pPr algn="l">
              <a:spcBef>
                <a:spcPts val="0"/>
              </a:spcBef>
              <a:spcAft>
                <a:spcPts val="0"/>
              </a:spcAft>
            </a:pPr>
            <a:r>
              <a:rPr sz="1300" b="0">
                <a:solidFill>
                  <a:srgbClr val="1C222B"/>
                </a:solidFill>
                <a:latin typeface="Calibri"/>
              </a:rPr>
              <a:t>Delete is scoped; a repeat delete is 404</a:t>
            </a:r>
          </a:p>
        </p:txBody>
      </p:sp>
      <p:sp>
        <p:nvSpPr>
          <p:cNvPr id="38" name="Rounded Rectangle 37"/>
          <p:cNvSpPr/>
          <p:nvPr/>
        </p:nvSpPr>
        <p:spPr>
          <a:xfrm>
            <a:off x="6272784" y="3849624"/>
            <a:ext cx="5669280" cy="585216"/>
          </a:xfrm>
          <a:prstGeom prst="roundRect">
            <a:avLst>
              <a:gd name="adj" fmla="val 8000"/>
            </a:avLst>
          </a:prstGeom>
          <a:solidFill>
            <a:srgbClr val="FFFFFF"/>
          </a:solidFill>
          <a:ln w="12700">
            <a:solidFill>
              <a:srgbClr val="E4DBCE"/>
            </a:solidFill>
          </a:ln>
        </p:spPr>
        <p:txBody>
          <a:bodyPr rtlCol="0" anchor="ctr"/>
          <a:lstStyle/>
          <a:p>
            <a:pPr algn="ctr"/>
          </a:p>
        </p:txBody>
      </p:sp>
      <p:sp>
        <p:nvSpPr>
          <p:cNvPr id="39" name="TextBox 38"/>
          <p:cNvSpPr txBox="1"/>
          <p:nvPr/>
        </p:nvSpPr>
        <p:spPr>
          <a:xfrm>
            <a:off x="6419088" y="3849624"/>
            <a:ext cx="457200" cy="585216"/>
          </a:xfrm>
          <a:prstGeom prst="rect">
            <a:avLst/>
          </a:prstGeom>
          <a:noFill/>
        </p:spPr>
        <p:txBody>
          <a:bodyPr wrap="square" anchor="ctr"/>
          <a:lstStyle/>
          <a:p>
            <a:pPr algn="l">
              <a:spcBef>
                <a:spcPts val="0"/>
              </a:spcBef>
              <a:spcAft>
                <a:spcPts val="0"/>
              </a:spcAft>
            </a:pPr>
            <a:r>
              <a:rPr sz="1300" b="1">
                <a:solidFill>
                  <a:srgbClr val="C2562A"/>
                </a:solidFill>
                <a:latin typeface="Calibri"/>
              </a:rPr>
              <a:t>10</a:t>
            </a:r>
          </a:p>
        </p:txBody>
      </p:sp>
      <p:sp>
        <p:nvSpPr>
          <p:cNvPr id="40" name="TextBox 39"/>
          <p:cNvSpPr txBox="1"/>
          <p:nvPr/>
        </p:nvSpPr>
        <p:spPr>
          <a:xfrm>
            <a:off x="6912864" y="3849624"/>
            <a:ext cx="4846320" cy="585216"/>
          </a:xfrm>
          <a:prstGeom prst="rect">
            <a:avLst/>
          </a:prstGeom>
          <a:noFill/>
        </p:spPr>
        <p:txBody>
          <a:bodyPr wrap="square" anchor="ctr"/>
          <a:lstStyle/>
          <a:p>
            <a:pPr algn="l">
              <a:spcBef>
                <a:spcPts val="0"/>
              </a:spcBef>
              <a:spcAft>
                <a:spcPts val="0"/>
              </a:spcAft>
            </a:pPr>
            <a:r>
              <a:rPr sz="1300" b="0">
                <a:solidFill>
                  <a:srgbClr val="1C222B"/>
                </a:solidFill>
                <a:latin typeface="Calibri"/>
              </a:rPr>
              <a:t>Empty prompts and bad JSON are rejected</a:t>
            </a:r>
          </a:p>
        </p:txBody>
      </p:sp>
      <p:sp>
        <p:nvSpPr>
          <p:cNvPr id="41" name="Rounded Rectangle 40"/>
          <p:cNvSpPr/>
          <p:nvPr/>
        </p:nvSpPr>
        <p:spPr>
          <a:xfrm>
            <a:off x="6272784" y="4507992"/>
            <a:ext cx="5669280" cy="585216"/>
          </a:xfrm>
          <a:prstGeom prst="roundRect">
            <a:avLst>
              <a:gd name="adj" fmla="val 8000"/>
            </a:avLst>
          </a:prstGeom>
          <a:solidFill>
            <a:srgbClr val="FFFFFF"/>
          </a:solidFill>
          <a:ln w="12700">
            <a:solidFill>
              <a:srgbClr val="E4DBCE"/>
            </a:solidFill>
          </a:ln>
        </p:spPr>
        <p:txBody>
          <a:bodyPr rtlCol="0" anchor="ctr"/>
          <a:lstStyle/>
          <a:p>
            <a:pPr algn="ctr"/>
          </a:p>
        </p:txBody>
      </p:sp>
      <p:sp>
        <p:nvSpPr>
          <p:cNvPr id="42" name="TextBox 41"/>
          <p:cNvSpPr txBox="1"/>
          <p:nvPr/>
        </p:nvSpPr>
        <p:spPr>
          <a:xfrm>
            <a:off x="6419088" y="4507992"/>
            <a:ext cx="457200" cy="585216"/>
          </a:xfrm>
          <a:prstGeom prst="rect">
            <a:avLst/>
          </a:prstGeom>
          <a:noFill/>
        </p:spPr>
        <p:txBody>
          <a:bodyPr wrap="square" anchor="ctr"/>
          <a:lstStyle/>
          <a:p>
            <a:pPr algn="l">
              <a:spcBef>
                <a:spcPts val="0"/>
              </a:spcBef>
              <a:spcAft>
                <a:spcPts val="0"/>
              </a:spcAft>
            </a:pPr>
            <a:r>
              <a:rPr sz="1300" b="1">
                <a:solidFill>
                  <a:srgbClr val="C2562A"/>
                </a:solidFill>
                <a:latin typeface="Calibri"/>
              </a:rPr>
              <a:t>11</a:t>
            </a:r>
          </a:p>
        </p:txBody>
      </p:sp>
      <p:sp>
        <p:nvSpPr>
          <p:cNvPr id="43" name="TextBox 42"/>
          <p:cNvSpPr txBox="1"/>
          <p:nvPr/>
        </p:nvSpPr>
        <p:spPr>
          <a:xfrm>
            <a:off x="6912864" y="4507992"/>
            <a:ext cx="4846320" cy="585216"/>
          </a:xfrm>
          <a:prstGeom prst="rect">
            <a:avLst/>
          </a:prstGeom>
          <a:noFill/>
        </p:spPr>
        <p:txBody>
          <a:bodyPr wrap="square" anchor="ctr"/>
          <a:lstStyle/>
          <a:p>
            <a:pPr algn="l">
              <a:spcBef>
                <a:spcPts val="0"/>
              </a:spcBef>
              <a:spcAft>
                <a:spcPts val="0"/>
              </a:spcAft>
            </a:pPr>
            <a:r>
              <a:rPr sz="1300" b="0">
                <a:solidFill>
                  <a:srgbClr val="1C222B"/>
                </a:solidFill>
                <a:latin typeface="Calibri"/>
              </a:rPr>
              <a:t>The built client is served; /api stays JSON</a:t>
            </a:r>
          </a:p>
        </p:txBody>
      </p:sp>
      <p:sp>
        <p:nvSpPr>
          <p:cNvPr id="44" name="Rounded Rectangle 43"/>
          <p:cNvSpPr/>
          <p:nvPr/>
        </p:nvSpPr>
        <p:spPr>
          <a:xfrm>
            <a:off x="6272784" y="5166359"/>
            <a:ext cx="5669280" cy="585216"/>
          </a:xfrm>
          <a:prstGeom prst="roundRect">
            <a:avLst>
              <a:gd name="adj" fmla="val 8000"/>
            </a:avLst>
          </a:prstGeom>
          <a:solidFill>
            <a:srgbClr val="FFFFFF"/>
          </a:solidFill>
          <a:ln w="12700">
            <a:solidFill>
              <a:srgbClr val="E4DBCE"/>
            </a:solidFill>
          </a:ln>
        </p:spPr>
        <p:txBody>
          <a:bodyPr rtlCol="0" anchor="ctr"/>
          <a:lstStyle/>
          <a:p>
            <a:pPr algn="ctr"/>
          </a:p>
        </p:txBody>
      </p:sp>
      <p:sp>
        <p:nvSpPr>
          <p:cNvPr id="45" name="TextBox 44"/>
          <p:cNvSpPr txBox="1"/>
          <p:nvPr/>
        </p:nvSpPr>
        <p:spPr>
          <a:xfrm>
            <a:off x="6419088" y="5166359"/>
            <a:ext cx="457200" cy="585216"/>
          </a:xfrm>
          <a:prstGeom prst="rect">
            <a:avLst/>
          </a:prstGeom>
          <a:noFill/>
        </p:spPr>
        <p:txBody>
          <a:bodyPr wrap="square" anchor="ctr"/>
          <a:lstStyle/>
          <a:p>
            <a:pPr algn="l">
              <a:spcBef>
                <a:spcPts val="0"/>
              </a:spcBef>
              <a:spcAft>
                <a:spcPts val="0"/>
              </a:spcAft>
            </a:pPr>
            <a:r>
              <a:rPr sz="1300" b="1">
                <a:solidFill>
                  <a:srgbClr val="C2562A"/>
                </a:solidFill>
                <a:latin typeface="Calibri"/>
              </a:rPr>
              <a:t>12</a:t>
            </a:r>
          </a:p>
        </p:txBody>
      </p:sp>
      <p:sp>
        <p:nvSpPr>
          <p:cNvPr id="46" name="TextBox 45"/>
          <p:cNvSpPr txBox="1"/>
          <p:nvPr/>
        </p:nvSpPr>
        <p:spPr>
          <a:xfrm>
            <a:off x="6912864" y="5166359"/>
            <a:ext cx="4846320" cy="585216"/>
          </a:xfrm>
          <a:prstGeom prst="rect">
            <a:avLst/>
          </a:prstGeom>
          <a:noFill/>
        </p:spPr>
        <p:txBody>
          <a:bodyPr wrap="square" anchor="ctr"/>
          <a:lstStyle/>
          <a:p>
            <a:pPr algn="l">
              <a:spcBef>
                <a:spcPts val="0"/>
              </a:spcBef>
              <a:spcAft>
                <a:spcPts val="0"/>
              </a:spcAft>
            </a:pPr>
            <a:r>
              <a:rPr sz="1300" b="0">
                <a:solidFill>
                  <a:srgbClr val="1C222B"/>
                </a:solidFill>
                <a:latin typeface="Calibri"/>
              </a:rPr>
              <a:t>Client source contains no Gemini key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6858000"/>
          </a:xfrm>
          <a:prstGeom prst="rect">
            <a:avLst/>
          </a:prstGeom>
          <a:solidFill>
            <a:srgbClr val="F6F3EC"/>
          </a:solidFill>
          <a:ln>
            <a:noFill/>
          </a:ln>
        </p:spPr>
        <p:txBody>
          <a:bodyPr rtlCol="0" anchor="ctr"/>
          <a:lstStyle/>
          <a:p>
            <a:pPr algn="ctr"/>
          </a:p>
        </p:txBody>
      </p:sp>
      <p:sp>
        <p:nvSpPr>
          <p:cNvPr id="3" name="Rectangle 2"/>
          <p:cNvSpPr/>
          <p:nvPr/>
        </p:nvSpPr>
        <p:spPr>
          <a:xfrm>
            <a:off x="0" y="0"/>
            <a:ext cx="12198096" cy="73152"/>
          </a:xfrm>
          <a:prstGeom prst="rect">
            <a:avLst/>
          </a:prstGeom>
          <a:solidFill>
            <a:srgbClr val="C2562A"/>
          </a:solidFill>
          <a:ln>
            <a:noFill/>
          </a:ln>
        </p:spPr>
        <p:txBody>
          <a:bodyPr rtlCol="0" anchor="ctr"/>
          <a:lstStyle/>
          <a:p>
            <a:pPr algn="ctr"/>
          </a:p>
        </p:txBody>
      </p:sp>
      <p:sp>
        <p:nvSpPr>
          <p:cNvPr id="4" name="TextBox 3"/>
          <p:cNvSpPr txBox="1"/>
          <p:nvPr/>
        </p:nvSpPr>
        <p:spPr>
          <a:xfrm>
            <a:off x="420624" y="201168"/>
            <a:ext cx="11155680" cy="256032"/>
          </a:xfrm>
          <a:prstGeom prst="rect">
            <a:avLst/>
          </a:prstGeom>
          <a:noFill/>
        </p:spPr>
        <p:txBody>
          <a:bodyPr wrap="square" anchor="t"/>
          <a:lstStyle/>
          <a:p>
            <a:pPr algn="l">
              <a:spcBef>
                <a:spcPts val="0"/>
              </a:spcBef>
              <a:spcAft>
                <a:spcPts val="0"/>
              </a:spcAft>
            </a:pPr>
            <a:r>
              <a:rPr sz="1200" b="1">
                <a:solidFill>
                  <a:srgbClr val="C2562A"/>
                </a:solidFill>
                <a:latin typeface="Calibri"/>
              </a:rPr>
              <a:t>APPLICATION 2  ·  WORKSHOP 5</a:t>
            </a:r>
          </a:p>
        </p:txBody>
      </p:sp>
      <p:sp>
        <p:nvSpPr>
          <p:cNvPr id="5" name="TextBox 4"/>
          <p:cNvSpPr txBox="1"/>
          <p:nvPr/>
        </p:nvSpPr>
        <p:spPr>
          <a:xfrm>
            <a:off x="420624" y="438912"/>
            <a:ext cx="11247120" cy="566928"/>
          </a:xfrm>
          <a:prstGeom prst="rect">
            <a:avLst/>
          </a:prstGeom>
          <a:noFill/>
        </p:spPr>
        <p:txBody>
          <a:bodyPr wrap="square" anchor="t"/>
          <a:lstStyle/>
          <a:p>
            <a:pPr algn="l">
              <a:spcBef>
                <a:spcPts val="0"/>
              </a:spcBef>
              <a:spcAft>
                <a:spcPts val="0"/>
              </a:spcAft>
            </a:pPr>
            <a:r>
              <a:rPr sz="2800" b="1">
                <a:solidFill>
                  <a:srgbClr val="142238"/>
                </a:solidFill>
                <a:latin typeface="Calibri"/>
              </a:rPr>
              <a:t>Filters before the model</a:t>
            </a:r>
          </a:p>
        </p:txBody>
      </p:sp>
      <p:sp>
        <p:nvSpPr>
          <p:cNvPr id="6" name="Rectangle 5"/>
          <p:cNvSpPr/>
          <p:nvPr/>
        </p:nvSpPr>
        <p:spPr>
          <a:xfrm>
            <a:off x="438912" y="1042415"/>
            <a:ext cx="1234440" cy="32004"/>
          </a:xfrm>
          <a:prstGeom prst="rect">
            <a:avLst/>
          </a:prstGeom>
          <a:solidFill>
            <a:srgbClr val="8C6A32"/>
          </a:solidFill>
          <a:ln>
            <a:noFill/>
          </a:ln>
        </p:spPr>
        <p:txBody>
          <a:bodyPr rtlCol="0" anchor="ctr"/>
          <a:lstStyle/>
          <a:p>
            <a:pPr algn="ctr"/>
          </a:p>
        </p:txBody>
      </p:sp>
      <p:sp>
        <p:nvSpPr>
          <p:cNvPr id="7" name="Rectangle 6"/>
          <p:cNvSpPr/>
          <p:nvPr/>
        </p:nvSpPr>
        <p:spPr>
          <a:xfrm>
            <a:off x="0" y="6565392"/>
            <a:ext cx="12198096" cy="13716"/>
          </a:xfrm>
          <a:prstGeom prst="rect">
            <a:avLst/>
          </a:prstGeom>
          <a:solidFill>
            <a:srgbClr val="E4DBCE"/>
          </a:solidFill>
          <a:ln>
            <a:noFill/>
          </a:ln>
        </p:spPr>
        <p:txBody>
          <a:bodyPr rtlCol="0" anchor="ctr"/>
          <a:lstStyle/>
          <a:p>
            <a:pPr algn="ctr"/>
          </a:p>
        </p:txBody>
      </p:sp>
      <p:sp>
        <p:nvSpPr>
          <p:cNvPr id="8" name="TextBox 7"/>
          <p:cNvSpPr txBox="1"/>
          <p:nvPr/>
        </p:nvSpPr>
        <p:spPr>
          <a:xfrm>
            <a:off x="420624" y="6601968"/>
            <a:ext cx="8412480" cy="237744"/>
          </a:xfrm>
          <a:prstGeom prst="rect">
            <a:avLst/>
          </a:prstGeom>
          <a:noFill/>
        </p:spPr>
        <p:txBody>
          <a:bodyPr wrap="square" anchor="ctr"/>
          <a:lstStyle/>
          <a:p>
            <a:pPr algn="l">
              <a:spcBef>
                <a:spcPts val="0"/>
              </a:spcBef>
              <a:spcAft>
                <a:spcPts val="0"/>
              </a:spcAft>
            </a:pPr>
            <a:r>
              <a:rPr sz="1100" b="0">
                <a:solidFill>
                  <a:srgbClr val="5C6570"/>
                </a:solidFill>
                <a:latin typeface="Calibri"/>
              </a:rPr>
              <a:t>Pu Zeng  ·  StudyCite and BiteWise</a:t>
            </a:r>
          </a:p>
        </p:txBody>
      </p:sp>
      <p:sp>
        <p:nvSpPr>
          <p:cNvPr id="9" name="TextBox 8"/>
          <p:cNvSpPr txBox="1"/>
          <p:nvPr/>
        </p:nvSpPr>
        <p:spPr>
          <a:xfrm>
            <a:off x="9509760" y="6601968"/>
            <a:ext cx="2267712" cy="237744"/>
          </a:xfrm>
          <a:prstGeom prst="rect">
            <a:avLst/>
          </a:prstGeom>
          <a:noFill/>
        </p:spPr>
        <p:txBody>
          <a:bodyPr wrap="square" anchor="ctr"/>
          <a:lstStyle/>
          <a:p>
            <a:pPr algn="r">
              <a:spcBef>
                <a:spcPts val="0"/>
              </a:spcBef>
              <a:spcAft>
                <a:spcPts val="0"/>
              </a:spcAft>
            </a:pPr>
            <a:r>
              <a:rPr sz="1100" b="0">
                <a:solidFill>
                  <a:srgbClr val="5C6570"/>
                </a:solidFill>
                <a:latin typeface="Calibri"/>
              </a:rPr>
              <a:t>17   /   24</a:t>
            </a:r>
          </a:p>
        </p:txBody>
      </p:sp>
      <p:sp>
        <p:nvSpPr>
          <p:cNvPr id="10" name="Rounded Rectangle 9"/>
          <p:cNvSpPr/>
          <p:nvPr/>
        </p:nvSpPr>
        <p:spPr>
          <a:xfrm>
            <a:off x="365760" y="1325880"/>
            <a:ext cx="2638044" cy="1737360"/>
          </a:xfrm>
          <a:prstGeom prst="roundRect">
            <a:avLst>
              <a:gd name="adj" fmla="val 10000"/>
            </a:avLst>
          </a:prstGeom>
          <a:solidFill>
            <a:srgbClr val="FFFFFF"/>
          </a:solidFill>
          <a:ln>
            <a:noFill/>
          </a:ln>
        </p:spPr>
        <p:txBody>
          <a:bodyPr rtlCol="0" anchor="ctr"/>
          <a:lstStyle/>
          <a:p>
            <a:pPr algn="ctr"/>
          </a:p>
        </p:txBody>
      </p:sp>
      <p:sp>
        <p:nvSpPr>
          <p:cNvPr id="11" name="TextBox 10"/>
          <p:cNvSpPr txBox="1"/>
          <p:nvPr/>
        </p:nvSpPr>
        <p:spPr>
          <a:xfrm>
            <a:off x="457200" y="1435607"/>
            <a:ext cx="2455163" cy="502920"/>
          </a:xfrm>
          <a:prstGeom prst="rect">
            <a:avLst/>
          </a:prstGeom>
          <a:noFill/>
        </p:spPr>
        <p:txBody>
          <a:bodyPr wrap="square" anchor="t"/>
          <a:lstStyle/>
          <a:p>
            <a:pPr algn="ctr">
              <a:spcBef>
                <a:spcPts val="0"/>
              </a:spcBef>
              <a:spcAft>
                <a:spcPts val="0"/>
              </a:spcAft>
            </a:pPr>
            <a:r>
              <a:rPr sz="1300" b="1">
                <a:solidFill>
                  <a:srgbClr val="142238"/>
                </a:solidFill>
                <a:latin typeface="Calibri"/>
              </a:rPr>
              <a:t>Prompt</a:t>
            </a:r>
          </a:p>
        </p:txBody>
      </p:sp>
      <p:sp>
        <p:nvSpPr>
          <p:cNvPr id="12" name="TextBox 11"/>
          <p:cNvSpPr txBox="1"/>
          <p:nvPr/>
        </p:nvSpPr>
        <p:spPr>
          <a:xfrm>
            <a:off x="457200" y="1947672"/>
            <a:ext cx="2455163" cy="1005839"/>
          </a:xfrm>
          <a:prstGeom prst="rect">
            <a:avLst/>
          </a:prstGeom>
          <a:noFill/>
        </p:spPr>
        <p:txBody>
          <a:bodyPr wrap="square" anchor="t"/>
          <a:lstStyle/>
          <a:p>
            <a:pPr algn="ctr">
              <a:spcBef>
                <a:spcPts val="0"/>
              </a:spcBef>
              <a:spcAft>
                <a:spcPts val="0"/>
              </a:spcAft>
            </a:pPr>
            <a:r>
              <a:rPr sz="1200" b="0">
                <a:solidFill>
                  <a:srgbClr val="5C6570"/>
                </a:solidFill>
                <a:latin typeface="Calibri"/>
              </a:rPr>
              <a:t>Plain language, budget, and dietary labels. Body limit 32 KB.</a:t>
            </a:r>
          </a:p>
        </p:txBody>
      </p:sp>
      <p:sp>
        <p:nvSpPr>
          <p:cNvPr id="13" name="Right Arrow 12"/>
          <p:cNvSpPr/>
          <p:nvPr/>
        </p:nvSpPr>
        <p:spPr>
          <a:xfrm>
            <a:off x="3049523" y="2130552"/>
            <a:ext cx="201168" cy="128016"/>
          </a:xfrm>
          <a:prstGeom prst="rightArrow">
            <a:avLst/>
          </a:prstGeom>
          <a:solidFill>
            <a:srgbClr val="8C6A32"/>
          </a:solidFill>
          <a:ln>
            <a:noFill/>
          </a:ln>
        </p:spPr>
        <p:txBody>
          <a:bodyPr rtlCol="0" anchor="ctr"/>
          <a:lstStyle/>
          <a:p>
            <a:pPr algn="ctr"/>
          </a:p>
        </p:txBody>
      </p:sp>
      <p:sp>
        <p:nvSpPr>
          <p:cNvPr id="14" name="Rounded Rectangle 13"/>
          <p:cNvSpPr/>
          <p:nvPr/>
        </p:nvSpPr>
        <p:spPr>
          <a:xfrm>
            <a:off x="3296411" y="1325880"/>
            <a:ext cx="2638044" cy="1737360"/>
          </a:xfrm>
          <a:prstGeom prst="roundRect">
            <a:avLst>
              <a:gd name="adj" fmla="val 10000"/>
            </a:avLst>
          </a:prstGeom>
          <a:solidFill>
            <a:srgbClr val="FFFFFF"/>
          </a:solidFill>
          <a:ln>
            <a:noFill/>
          </a:ln>
        </p:spPr>
        <p:txBody>
          <a:bodyPr rtlCol="0" anchor="ctr"/>
          <a:lstStyle/>
          <a:p>
            <a:pPr algn="ctr"/>
          </a:p>
        </p:txBody>
      </p:sp>
      <p:sp>
        <p:nvSpPr>
          <p:cNvPr id="15" name="TextBox 14"/>
          <p:cNvSpPr txBox="1"/>
          <p:nvPr/>
        </p:nvSpPr>
        <p:spPr>
          <a:xfrm>
            <a:off x="3387851" y="1435607"/>
            <a:ext cx="2455163" cy="502920"/>
          </a:xfrm>
          <a:prstGeom prst="rect">
            <a:avLst/>
          </a:prstGeom>
          <a:noFill/>
        </p:spPr>
        <p:txBody>
          <a:bodyPr wrap="square" anchor="t"/>
          <a:lstStyle/>
          <a:p>
            <a:pPr algn="ctr">
              <a:spcBef>
                <a:spcPts val="0"/>
              </a:spcBef>
              <a:spcAft>
                <a:spcPts val="0"/>
              </a:spcAft>
            </a:pPr>
            <a:r>
              <a:rPr sz="1300" b="1">
                <a:solidFill>
                  <a:srgbClr val="142238"/>
                </a:solidFill>
                <a:latin typeface="Calibri"/>
              </a:rPr>
              <a:t>Hard filter</a:t>
            </a:r>
          </a:p>
        </p:txBody>
      </p:sp>
      <p:sp>
        <p:nvSpPr>
          <p:cNvPr id="16" name="TextBox 15"/>
          <p:cNvSpPr txBox="1"/>
          <p:nvPr/>
        </p:nvSpPr>
        <p:spPr>
          <a:xfrm>
            <a:off x="3387851" y="1947672"/>
            <a:ext cx="2455163" cy="1005839"/>
          </a:xfrm>
          <a:prstGeom prst="rect">
            <a:avLst/>
          </a:prstGeom>
          <a:noFill/>
        </p:spPr>
        <p:txBody>
          <a:bodyPr wrap="square" anchor="t"/>
          <a:lstStyle/>
          <a:p>
            <a:pPr algn="ctr">
              <a:spcBef>
                <a:spcPts val="0"/>
              </a:spcBef>
              <a:spcAft>
                <a:spcPts val="0"/>
              </a:spcAft>
            </a:pPr>
            <a:r>
              <a:rPr sz="1200" b="0">
                <a:solidFill>
                  <a:srgbClr val="5C6570"/>
                </a:solidFill>
                <a:latin typeface="Calibri"/>
              </a:rPr>
              <a:t>SQL removes price and missing diet tags before any model call.</a:t>
            </a:r>
          </a:p>
        </p:txBody>
      </p:sp>
      <p:sp>
        <p:nvSpPr>
          <p:cNvPr id="17" name="Right Arrow 16"/>
          <p:cNvSpPr/>
          <p:nvPr/>
        </p:nvSpPr>
        <p:spPr>
          <a:xfrm>
            <a:off x="5980175" y="2130552"/>
            <a:ext cx="201168" cy="128016"/>
          </a:xfrm>
          <a:prstGeom prst="rightArrow">
            <a:avLst/>
          </a:prstGeom>
          <a:solidFill>
            <a:srgbClr val="8C6A32"/>
          </a:solidFill>
          <a:ln>
            <a:noFill/>
          </a:ln>
        </p:spPr>
        <p:txBody>
          <a:bodyPr rtlCol="0" anchor="ctr"/>
          <a:lstStyle/>
          <a:p>
            <a:pPr algn="ctr"/>
          </a:p>
        </p:txBody>
      </p:sp>
      <p:sp>
        <p:nvSpPr>
          <p:cNvPr id="18" name="Rounded Rectangle 17"/>
          <p:cNvSpPr/>
          <p:nvPr/>
        </p:nvSpPr>
        <p:spPr>
          <a:xfrm>
            <a:off x="6227064" y="1325880"/>
            <a:ext cx="2638044" cy="1737360"/>
          </a:xfrm>
          <a:prstGeom prst="roundRect">
            <a:avLst>
              <a:gd name="adj" fmla="val 10000"/>
            </a:avLst>
          </a:prstGeom>
          <a:solidFill>
            <a:srgbClr val="FFFFFF"/>
          </a:solidFill>
          <a:ln>
            <a:noFill/>
          </a:ln>
        </p:spPr>
        <p:txBody>
          <a:bodyPr rtlCol="0" anchor="ctr"/>
          <a:lstStyle/>
          <a:p>
            <a:pPr algn="ctr"/>
          </a:p>
        </p:txBody>
      </p:sp>
      <p:sp>
        <p:nvSpPr>
          <p:cNvPr id="19" name="TextBox 18"/>
          <p:cNvSpPr txBox="1"/>
          <p:nvPr/>
        </p:nvSpPr>
        <p:spPr>
          <a:xfrm>
            <a:off x="6318503" y="1435607"/>
            <a:ext cx="2455163" cy="502920"/>
          </a:xfrm>
          <a:prstGeom prst="rect">
            <a:avLst/>
          </a:prstGeom>
          <a:noFill/>
        </p:spPr>
        <p:txBody>
          <a:bodyPr wrap="square" anchor="t"/>
          <a:lstStyle/>
          <a:p>
            <a:pPr algn="ctr">
              <a:spcBef>
                <a:spcPts val="0"/>
              </a:spcBef>
              <a:spcAft>
                <a:spcPts val="0"/>
              </a:spcAft>
            </a:pPr>
            <a:r>
              <a:rPr sz="1300" b="1">
                <a:solidFill>
                  <a:srgbClr val="142238"/>
                </a:solidFill>
                <a:latin typeface="Calibri"/>
              </a:rPr>
              <a:t>Rank or fall back</a:t>
            </a:r>
          </a:p>
        </p:txBody>
      </p:sp>
      <p:sp>
        <p:nvSpPr>
          <p:cNvPr id="20" name="TextBox 19"/>
          <p:cNvSpPr txBox="1"/>
          <p:nvPr/>
        </p:nvSpPr>
        <p:spPr>
          <a:xfrm>
            <a:off x="6318503" y="1947672"/>
            <a:ext cx="2455163" cy="1005839"/>
          </a:xfrm>
          <a:prstGeom prst="rect">
            <a:avLst/>
          </a:prstGeom>
          <a:noFill/>
        </p:spPr>
        <p:txBody>
          <a:bodyPr wrap="square" anchor="t"/>
          <a:lstStyle/>
          <a:p>
            <a:pPr algn="ctr">
              <a:spcBef>
                <a:spcPts val="0"/>
              </a:spcBef>
              <a:spcAft>
                <a:spcPts val="0"/>
              </a:spcAft>
            </a:pPr>
            <a:r>
              <a:rPr sz="1200" b="0">
                <a:solidFill>
                  <a:srgbClr val="5C6570"/>
                </a:solidFill>
                <a:latin typeface="Calibri"/>
              </a:rPr>
              <a:t>Gemini may return only eligible ids. Invalid output is discarded.</a:t>
            </a:r>
          </a:p>
        </p:txBody>
      </p:sp>
      <p:sp>
        <p:nvSpPr>
          <p:cNvPr id="21" name="Right Arrow 20"/>
          <p:cNvSpPr/>
          <p:nvPr/>
        </p:nvSpPr>
        <p:spPr>
          <a:xfrm>
            <a:off x="8910828" y="2130552"/>
            <a:ext cx="201168" cy="128016"/>
          </a:xfrm>
          <a:prstGeom prst="rightArrow">
            <a:avLst/>
          </a:prstGeom>
          <a:solidFill>
            <a:srgbClr val="8C6A32"/>
          </a:solidFill>
          <a:ln>
            <a:noFill/>
          </a:ln>
        </p:spPr>
        <p:txBody>
          <a:bodyPr rtlCol="0" anchor="ctr"/>
          <a:lstStyle/>
          <a:p>
            <a:pPr algn="ctr"/>
          </a:p>
        </p:txBody>
      </p:sp>
      <p:sp>
        <p:nvSpPr>
          <p:cNvPr id="22" name="Rounded Rectangle 21"/>
          <p:cNvSpPr/>
          <p:nvPr/>
        </p:nvSpPr>
        <p:spPr>
          <a:xfrm>
            <a:off x="9157715" y="1325880"/>
            <a:ext cx="2638044" cy="1737360"/>
          </a:xfrm>
          <a:prstGeom prst="roundRect">
            <a:avLst>
              <a:gd name="adj" fmla="val 10000"/>
            </a:avLst>
          </a:prstGeom>
          <a:solidFill>
            <a:srgbClr val="FFFFFF"/>
          </a:solidFill>
          <a:ln>
            <a:noFill/>
          </a:ln>
        </p:spPr>
        <p:txBody>
          <a:bodyPr rtlCol="0" anchor="ctr"/>
          <a:lstStyle/>
          <a:p>
            <a:pPr algn="ctr"/>
          </a:p>
        </p:txBody>
      </p:sp>
      <p:sp>
        <p:nvSpPr>
          <p:cNvPr id="23" name="TextBox 22"/>
          <p:cNvSpPr txBox="1"/>
          <p:nvPr/>
        </p:nvSpPr>
        <p:spPr>
          <a:xfrm>
            <a:off x="9249155" y="1435607"/>
            <a:ext cx="2455163" cy="502920"/>
          </a:xfrm>
          <a:prstGeom prst="rect">
            <a:avLst/>
          </a:prstGeom>
          <a:noFill/>
        </p:spPr>
        <p:txBody>
          <a:bodyPr wrap="square" anchor="t"/>
          <a:lstStyle/>
          <a:p>
            <a:pPr algn="ctr">
              <a:spcBef>
                <a:spcPts val="0"/>
              </a:spcBef>
              <a:spcAft>
                <a:spcPts val="0"/>
              </a:spcAft>
            </a:pPr>
            <a:r>
              <a:rPr sz="1300" b="1">
                <a:solidFill>
                  <a:srgbClr val="142238"/>
                </a:solidFill>
                <a:latin typeface="Calibri"/>
              </a:rPr>
              <a:t>Short list</a:t>
            </a:r>
          </a:p>
        </p:txBody>
      </p:sp>
      <p:sp>
        <p:nvSpPr>
          <p:cNvPr id="24" name="TextBox 23"/>
          <p:cNvSpPr txBox="1"/>
          <p:nvPr/>
        </p:nvSpPr>
        <p:spPr>
          <a:xfrm>
            <a:off x="9249155" y="1947672"/>
            <a:ext cx="2455163" cy="1005839"/>
          </a:xfrm>
          <a:prstGeom prst="rect">
            <a:avLst/>
          </a:prstGeom>
          <a:noFill/>
        </p:spPr>
        <p:txBody>
          <a:bodyPr wrap="square" anchor="t"/>
          <a:lstStyle/>
          <a:p>
            <a:pPr algn="ctr">
              <a:spcBef>
                <a:spcPts val="0"/>
              </a:spcBef>
              <a:spcAft>
                <a:spcPts val="0"/>
              </a:spcAft>
            </a:pPr>
            <a:r>
              <a:rPr sz="1200" b="0">
                <a:solidFill>
                  <a:srgbClr val="5C6570"/>
                </a:solidFill>
                <a:latin typeface="Calibri"/>
              </a:rPr>
              <a:t>At most three meals, each with a reason, or an empty set.</a:t>
            </a:r>
          </a:p>
        </p:txBody>
      </p:sp>
      <p:sp>
        <p:nvSpPr>
          <p:cNvPr id="25" name="Rounded Rectangle 24"/>
          <p:cNvSpPr/>
          <p:nvPr/>
        </p:nvSpPr>
        <p:spPr>
          <a:xfrm>
            <a:off x="420624" y="3291840"/>
            <a:ext cx="2788920" cy="2057400"/>
          </a:xfrm>
          <a:prstGeom prst="roundRect">
            <a:avLst>
              <a:gd name="adj" fmla="val 8000"/>
            </a:avLst>
          </a:prstGeom>
          <a:solidFill>
            <a:srgbClr val="FBF0E8"/>
          </a:solidFill>
          <a:ln w="12700">
            <a:solidFill>
              <a:srgbClr val="E4DBCE"/>
            </a:solidFill>
          </a:ln>
        </p:spPr>
        <p:txBody>
          <a:bodyPr rtlCol="0" anchor="ctr"/>
          <a:lstStyle/>
          <a:p>
            <a:pPr algn="ctr"/>
          </a:p>
        </p:txBody>
      </p:sp>
      <p:sp>
        <p:nvSpPr>
          <p:cNvPr id="26" name="TextBox 25"/>
          <p:cNvSpPr txBox="1"/>
          <p:nvPr/>
        </p:nvSpPr>
        <p:spPr>
          <a:xfrm>
            <a:off x="548640" y="3419856"/>
            <a:ext cx="2514600" cy="548640"/>
          </a:xfrm>
          <a:prstGeom prst="rect">
            <a:avLst/>
          </a:prstGeom>
          <a:noFill/>
        </p:spPr>
        <p:txBody>
          <a:bodyPr wrap="square" anchor="t"/>
          <a:lstStyle/>
          <a:p>
            <a:pPr algn="l">
              <a:spcBef>
                <a:spcPts val="0"/>
              </a:spcBef>
              <a:spcAft>
                <a:spcPts val="0"/>
              </a:spcAft>
            </a:pPr>
            <a:r>
              <a:rPr sz="1400" b="1">
                <a:solidFill>
                  <a:srgbClr val="142238"/>
                </a:solidFill>
                <a:latin typeface="Calibri"/>
              </a:rPr>
              <a:t>Eligible means every label</a:t>
            </a:r>
          </a:p>
        </p:txBody>
      </p:sp>
      <p:sp>
        <p:nvSpPr>
          <p:cNvPr id="27" name="TextBox 26"/>
          <p:cNvSpPr txBox="1"/>
          <p:nvPr/>
        </p:nvSpPr>
        <p:spPr>
          <a:xfrm>
            <a:off x="548640" y="4023360"/>
            <a:ext cx="2514600" cy="1143000"/>
          </a:xfrm>
          <a:prstGeom prst="rect">
            <a:avLst/>
          </a:prstGeom>
          <a:noFill/>
        </p:spPr>
        <p:txBody>
          <a:bodyPr wrap="square" anchor="t"/>
          <a:lstStyle/>
          <a:p>
            <a:pPr algn="l">
              <a:spcBef>
                <a:spcPts val="0"/>
              </a:spcBef>
              <a:spcAft>
                <a:spcPts val="0"/>
              </a:spcAft>
            </a:pPr>
            <a:r>
              <a:rPr sz="1300" b="0">
                <a:solidFill>
                  <a:srgbClr val="1C222B"/>
                </a:solidFill>
                <a:latin typeface="Calibri"/>
              </a:rPr>
              <a:t>A vegetarian request does not include a meal that merely looks light. The row must already carry the tag.</a:t>
            </a:r>
          </a:p>
        </p:txBody>
      </p:sp>
      <p:sp>
        <p:nvSpPr>
          <p:cNvPr id="28" name="Rounded Rectangle 27"/>
          <p:cNvSpPr/>
          <p:nvPr/>
        </p:nvSpPr>
        <p:spPr>
          <a:xfrm>
            <a:off x="3346704" y="3291840"/>
            <a:ext cx="2788920" cy="2057400"/>
          </a:xfrm>
          <a:prstGeom prst="roundRect">
            <a:avLst>
              <a:gd name="adj" fmla="val 8000"/>
            </a:avLst>
          </a:prstGeom>
          <a:solidFill>
            <a:srgbClr val="FBF0E8"/>
          </a:solidFill>
          <a:ln w="12700">
            <a:solidFill>
              <a:srgbClr val="E4DBCE"/>
            </a:solidFill>
          </a:ln>
        </p:spPr>
        <p:txBody>
          <a:bodyPr rtlCol="0" anchor="ctr"/>
          <a:lstStyle/>
          <a:p>
            <a:pPr algn="ctr"/>
          </a:p>
        </p:txBody>
      </p:sp>
      <p:sp>
        <p:nvSpPr>
          <p:cNvPr id="29" name="TextBox 28"/>
          <p:cNvSpPr txBox="1"/>
          <p:nvPr/>
        </p:nvSpPr>
        <p:spPr>
          <a:xfrm>
            <a:off x="3474720" y="3419856"/>
            <a:ext cx="2514600" cy="548640"/>
          </a:xfrm>
          <a:prstGeom prst="rect">
            <a:avLst/>
          </a:prstGeom>
          <a:noFill/>
        </p:spPr>
        <p:txBody>
          <a:bodyPr wrap="square" anchor="t"/>
          <a:lstStyle/>
          <a:p>
            <a:pPr algn="l">
              <a:spcBef>
                <a:spcPts val="0"/>
              </a:spcBef>
              <a:spcAft>
                <a:spcPts val="0"/>
              </a:spcAft>
            </a:pPr>
            <a:r>
              <a:rPr sz="1400" b="1">
                <a:solidFill>
                  <a:srgbClr val="142238"/>
                </a:solidFill>
                <a:latin typeface="Calibri"/>
              </a:rPr>
              <a:t>The model sees a short list</a:t>
            </a:r>
          </a:p>
        </p:txBody>
      </p:sp>
      <p:sp>
        <p:nvSpPr>
          <p:cNvPr id="30" name="TextBox 29"/>
          <p:cNvSpPr txBox="1"/>
          <p:nvPr/>
        </p:nvSpPr>
        <p:spPr>
          <a:xfrm>
            <a:off x="3474720" y="4023360"/>
            <a:ext cx="2514600" cy="1143000"/>
          </a:xfrm>
          <a:prstGeom prst="rect">
            <a:avLst/>
          </a:prstGeom>
          <a:noFill/>
        </p:spPr>
        <p:txBody>
          <a:bodyPr wrap="square" anchor="t"/>
          <a:lstStyle/>
          <a:p>
            <a:pPr algn="l">
              <a:spcBef>
                <a:spcPts val="0"/>
              </a:spcBef>
              <a:spcAft>
                <a:spcPts val="0"/>
              </a:spcAft>
            </a:pPr>
            <a:r>
              <a:rPr sz="1300" b="0">
                <a:solidFill>
                  <a:srgbClr val="1C222B"/>
                </a:solidFill>
                <a:latin typeface="Calibri"/>
              </a:rPr>
              <a:t>It cannot invent a dish, a price, or an id. Explanations are capped at 400 characters.</a:t>
            </a:r>
          </a:p>
        </p:txBody>
      </p:sp>
      <p:sp>
        <p:nvSpPr>
          <p:cNvPr id="31" name="Rounded Rectangle 30"/>
          <p:cNvSpPr/>
          <p:nvPr/>
        </p:nvSpPr>
        <p:spPr>
          <a:xfrm>
            <a:off x="6272784" y="3291840"/>
            <a:ext cx="2788920" cy="2057400"/>
          </a:xfrm>
          <a:prstGeom prst="roundRect">
            <a:avLst>
              <a:gd name="adj" fmla="val 8000"/>
            </a:avLst>
          </a:prstGeom>
          <a:solidFill>
            <a:srgbClr val="FBF0E8"/>
          </a:solidFill>
          <a:ln w="12700">
            <a:solidFill>
              <a:srgbClr val="E4DBCE"/>
            </a:solidFill>
          </a:ln>
        </p:spPr>
        <p:txBody>
          <a:bodyPr rtlCol="0" anchor="ctr"/>
          <a:lstStyle/>
          <a:p>
            <a:pPr algn="ctr"/>
          </a:p>
        </p:txBody>
      </p:sp>
      <p:sp>
        <p:nvSpPr>
          <p:cNvPr id="32" name="TextBox 31"/>
          <p:cNvSpPr txBox="1"/>
          <p:nvPr/>
        </p:nvSpPr>
        <p:spPr>
          <a:xfrm>
            <a:off x="6400800" y="3419856"/>
            <a:ext cx="2514600" cy="548640"/>
          </a:xfrm>
          <a:prstGeom prst="rect">
            <a:avLst/>
          </a:prstGeom>
          <a:noFill/>
        </p:spPr>
        <p:txBody>
          <a:bodyPr wrap="square" anchor="t"/>
          <a:lstStyle/>
          <a:p>
            <a:pPr algn="l">
              <a:spcBef>
                <a:spcPts val="0"/>
              </a:spcBef>
              <a:spcAft>
                <a:spcPts val="0"/>
              </a:spcAft>
            </a:pPr>
            <a:r>
              <a:rPr sz="1400" b="1">
                <a:solidFill>
                  <a:srgbClr val="142238"/>
                </a:solidFill>
                <a:latin typeface="Calibri"/>
              </a:rPr>
              <a:t>Fallback is visible</a:t>
            </a:r>
          </a:p>
        </p:txBody>
      </p:sp>
      <p:sp>
        <p:nvSpPr>
          <p:cNvPr id="33" name="TextBox 32"/>
          <p:cNvSpPr txBox="1"/>
          <p:nvPr/>
        </p:nvSpPr>
        <p:spPr>
          <a:xfrm>
            <a:off x="6400800" y="4023360"/>
            <a:ext cx="2514600" cy="1143000"/>
          </a:xfrm>
          <a:prstGeom prst="rect">
            <a:avLst/>
          </a:prstGeom>
          <a:noFill/>
        </p:spPr>
        <p:txBody>
          <a:bodyPr wrap="square" anchor="t"/>
          <a:lstStyle/>
          <a:p>
            <a:pPr algn="l">
              <a:spcBef>
                <a:spcPts val="0"/>
              </a:spcBef>
              <a:spcAft>
                <a:spcPts val="0"/>
              </a:spcAft>
            </a:pPr>
            <a:r>
              <a:rPr sz="1300" b="0">
                <a:solidFill>
                  <a:srgbClr val="1C222B"/>
                </a:solidFill>
                <a:latin typeface="Calibri"/>
              </a:rPr>
              <a:t>If the key is missing, the call fails, or the JSON is unusable, the page says fallback ranking.</a:t>
            </a:r>
          </a:p>
        </p:txBody>
      </p:sp>
      <p:sp>
        <p:nvSpPr>
          <p:cNvPr id="34" name="Rounded Rectangle 33"/>
          <p:cNvSpPr/>
          <p:nvPr/>
        </p:nvSpPr>
        <p:spPr>
          <a:xfrm>
            <a:off x="9198864" y="3291840"/>
            <a:ext cx="2788920" cy="2057400"/>
          </a:xfrm>
          <a:prstGeom prst="roundRect">
            <a:avLst>
              <a:gd name="adj" fmla="val 8000"/>
            </a:avLst>
          </a:prstGeom>
          <a:solidFill>
            <a:srgbClr val="FBF0E8"/>
          </a:solidFill>
          <a:ln w="12700">
            <a:solidFill>
              <a:srgbClr val="E4DBCE"/>
            </a:solidFill>
          </a:ln>
        </p:spPr>
        <p:txBody>
          <a:bodyPr rtlCol="0" anchor="ctr"/>
          <a:lstStyle/>
          <a:p>
            <a:pPr algn="ctr"/>
          </a:p>
        </p:txBody>
      </p:sp>
      <p:sp>
        <p:nvSpPr>
          <p:cNvPr id="35" name="TextBox 34"/>
          <p:cNvSpPr txBox="1"/>
          <p:nvPr/>
        </p:nvSpPr>
        <p:spPr>
          <a:xfrm>
            <a:off x="9326880" y="3419856"/>
            <a:ext cx="2514600" cy="548640"/>
          </a:xfrm>
          <a:prstGeom prst="rect">
            <a:avLst/>
          </a:prstGeom>
          <a:noFill/>
        </p:spPr>
        <p:txBody>
          <a:bodyPr wrap="square" anchor="t"/>
          <a:lstStyle/>
          <a:p>
            <a:pPr algn="l">
              <a:spcBef>
                <a:spcPts val="0"/>
              </a:spcBef>
              <a:spcAft>
                <a:spcPts val="0"/>
              </a:spcAft>
            </a:pPr>
            <a:r>
              <a:rPr sz="1400" b="1">
                <a:solidFill>
                  <a:srgbClr val="142238"/>
                </a:solidFill>
                <a:latin typeface="Calibri"/>
              </a:rPr>
              <a:t>One process in production</a:t>
            </a:r>
          </a:p>
        </p:txBody>
      </p:sp>
      <p:sp>
        <p:nvSpPr>
          <p:cNvPr id="36" name="TextBox 35"/>
          <p:cNvSpPr txBox="1"/>
          <p:nvPr/>
        </p:nvSpPr>
        <p:spPr>
          <a:xfrm>
            <a:off x="9326880" y="4023360"/>
            <a:ext cx="2514600" cy="1143000"/>
          </a:xfrm>
          <a:prstGeom prst="rect">
            <a:avLst/>
          </a:prstGeom>
          <a:noFill/>
        </p:spPr>
        <p:txBody>
          <a:bodyPr wrap="square" anchor="t"/>
          <a:lstStyle/>
          <a:p>
            <a:pPr algn="l">
              <a:spcBef>
                <a:spcPts val="0"/>
              </a:spcBef>
              <a:spcAft>
                <a:spcPts val="0"/>
              </a:spcAft>
            </a:pPr>
            <a:r>
              <a:rPr sz="1300" b="0">
                <a:solidFill>
                  <a:srgbClr val="1C222B"/>
                </a:solidFill>
                <a:latin typeface="Calibri"/>
              </a:rPr>
              <a:t>After the build, Express serves the React app and /api. The page CSP is not the API CSP.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6858000"/>
          </a:xfrm>
          <a:prstGeom prst="rect">
            <a:avLst/>
          </a:prstGeom>
          <a:solidFill>
            <a:srgbClr val="F6F3EC"/>
          </a:solidFill>
          <a:ln>
            <a:noFill/>
          </a:ln>
        </p:spPr>
        <p:txBody>
          <a:bodyPr rtlCol="0" anchor="ctr"/>
          <a:lstStyle/>
          <a:p>
            <a:pPr algn="ctr"/>
          </a:p>
        </p:txBody>
      </p:sp>
      <p:sp>
        <p:nvSpPr>
          <p:cNvPr id="3" name="Rectangle 2"/>
          <p:cNvSpPr/>
          <p:nvPr/>
        </p:nvSpPr>
        <p:spPr>
          <a:xfrm>
            <a:off x="0" y="0"/>
            <a:ext cx="12198096" cy="73152"/>
          </a:xfrm>
          <a:prstGeom prst="rect">
            <a:avLst/>
          </a:prstGeom>
          <a:solidFill>
            <a:srgbClr val="C2562A"/>
          </a:solidFill>
          <a:ln>
            <a:noFill/>
          </a:ln>
        </p:spPr>
        <p:txBody>
          <a:bodyPr rtlCol="0" anchor="ctr"/>
          <a:lstStyle/>
          <a:p>
            <a:pPr algn="ctr"/>
          </a:p>
        </p:txBody>
      </p:sp>
      <p:sp>
        <p:nvSpPr>
          <p:cNvPr id="4" name="TextBox 3"/>
          <p:cNvSpPr txBox="1"/>
          <p:nvPr/>
        </p:nvSpPr>
        <p:spPr>
          <a:xfrm>
            <a:off x="420624" y="201168"/>
            <a:ext cx="11155680" cy="256032"/>
          </a:xfrm>
          <a:prstGeom prst="rect">
            <a:avLst/>
          </a:prstGeom>
          <a:noFill/>
        </p:spPr>
        <p:txBody>
          <a:bodyPr wrap="square" anchor="t"/>
          <a:lstStyle/>
          <a:p>
            <a:pPr algn="l">
              <a:spcBef>
                <a:spcPts val="0"/>
              </a:spcBef>
              <a:spcAft>
                <a:spcPts val="0"/>
              </a:spcAft>
            </a:pPr>
            <a:r>
              <a:rPr sz="1200" b="1">
                <a:solidFill>
                  <a:srgbClr val="C2562A"/>
                </a:solidFill>
                <a:latin typeface="Calibri"/>
              </a:rPr>
              <a:t>APPLICATION 2  ·  WORKSHOP 6</a:t>
            </a:r>
          </a:p>
        </p:txBody>
      </p:sp>
      <p:sp>
        <p:nvSpPr>
          <p:cNvPr id="5" name="TextBox 4"/>
          <p:cNvSpPr txBox="1"/>
          <p:nvPr/>
        </p:nvSpPr>
        <p:spPr>
          <a:xfrm>
            <a:off x="420624" y="438912"/>
            <a:ext cx="11247120" cy="566928"/>
          </a:xfrm>
          <a:prstGeom prst="rect">
            <a:avLst/>
          </a:prstGeom>
          <a:noFill/>
        </p:spPr>
        <p:txBody>
          <a:bodyPr wrap="square" anchor="t"/>
          <a:lstStyle/>
          <a:p>
            <a:pPr algn="l">
              <a:spcBef>
                <a:spcPts val="0"/>
              </a:spcBef>
              <a:spcAft>
                <a:spcPts val="0"/>
              </a:spcAft>
            </a:pPr>
            <a:r>
              <a:rPr sz="2600" b="1">
                <a:solidFill>
                  <a:srgbClr val="142238"/>
                </a:solidFill>
                <a:latin typeface="Calibri"/>
              </a:rPr>
              <a:t>A public URL, without App Runner</a:t>
            </a:r>
          </a:p>
        </p:txBody>
      </p:sp>
      <p:sp>
        <p:nvSpPr>
          <p:cNvPr id="6" name="Rectangle 5"/>
          <p:cNvSpPr/>
          <p:nvPr/>
        </p:nvSpPr>
        <p:spPr>
          <a:xfrm>
            <a:off x="438912" y="1042415"/>
            <a:ext cx="1234440" cy="32004"/>
          </a:xfrm>
          <a:prstGeom prst="rect">
            <a:avLst/>
          </a:prstGeom>
          <a:solidFill>
            <a:srgbClr val="8C6A32"/>
          </a:solidFill>
          <a:ln>
            <a:noFill/>
          </a:ln>
        </p:spPr>
        <p:txBody>
          <a:bodyPr rtlCol="0" anchor="ctr"/>
          <a:lstStyle/>
          <a:p>
            <a:pPr algn="ctr"/>
          </a:p>
        </p:txBody>
      </p:sp>
      <p:sp>
        <p:nvSpPr>
          <p:cNvPr id="7" name="Rectangle 6"/>
          <p:cNvSpPr/>
          <p:nvPr/>
        </p:nvSpPr>
        <p:spPr>
          <a:xfrm>
            <a:off x="0" y="6565392"/>
            <a:ext cx="12198096" cy="13716"/>
          </a:xfrm>
          <a:prstGeom prst="rect">
            <a:avLst/>
          </a:prstGeom>
          <a:solidFill>
            <a:srgbClr val="E4DBCE"/>
          </a:solidFill>
          <a:ln>
            <a:noFill/>
          </a:ln>
        </p:spPr>
        <p:txBody>
          <a:bodyPr rtlCol="0" anchor="ctr"/>
          <a:lstStyle/>
          <a:p>
            <a:pPr algn="ctr"/>
          </a:p>
        </p:txBody>
      </p:sp>
      <p:sp>
        <p:nvSpPr>
          <p:cNvPr id="8" name="TextBox 7"/>
          <p:cNvSpPr txBox="1"/>
          <p:nvPr/>
        </p:nvSpPr>
        <p:spPr>
          <a:xfrm>
            <a:off x="420624" y="6601968"/>
            <a:ext cx="8412480" cy="237744"/>
          </a:xfrm>
          <a:prstGeom prst="rect">
            <a:avLst/>
          </a:prstGeom>
          <a:noFill/>
        </p:spPr>
        <p:txBody>
          <a:bodyPr wrap="square" anchor="ctr"/>
          <a:lstStyle/>
          <a:p>
            <a:pPr algn="l">
              <a:spcBef>
                <a:spcPts val="0"/>
              </a:spcBef>
              <a:spcAft>
                <a:spcPts val="0"/>
              </a:spcAft>
            </a:pPr>
            <a:r>
              <a:rPr sz="1100" b="0">
                <a:solidFill>
                  <a:srgbClr val="5C6570"/>
                </a:solidFill>
                <a:latin typeface="Calibri"/>
              </a:rPr>
              <a:t>Pu Zeng  ·  StudyCite and BiteWise</a:t>
            </a:r>
          </a:p>
        </p:txBody>
      </p:sp>
      <p:sp>
        <p:nvSpPr>
          <p:cNvPr id="9" name="TextBox 8"/>
          <p:cNvSpPr txBox="1"/>
          <p:nvPr/>
        </p:nvSpPr>
        <p:spPr>
          <a:xfrm>
            <a:off x="9509760" y="6601968"/>
            <a:ext cx="2267712" cy="237744"/>
          </a:xfrm>
          <a:prstGeom prst="rect">
            <a:avLst/>
          </a:prstGeom>
          <a:noFill/>
        </p:spPr>
        <p:txBody>
          <a:bodyPr wrap="square" anchor="ctr"/>
          <a:lstStyle/>
          <a:p>
            <a:pPr algn="r">
              <a:spcBef>
                <a:spcPts val="0"/>
              </a:spcBef>
              <a:spcAft>
                <a:spcPts val="0"/>
              </a:spcAft>
            </a:pPr>
            <a:r>
              <a:rPr sz="1100" b="0">
                <a:solidFill>
                  <a:srgbClr val="5C6570"/>
                </a:solidFill>
                <a:latin typeface="Calibri"/>
              </a:rPr>
              <a:t>18   /   24</a:t>
            </a:r>
          </a:p>
        </p:txBody>
      </p:sp>
      <p:sp>
        <p:nvSpPr>
          <p:cNvPr id="10" name="TextBox 9"/>
          <p:cNvSpPr txBox="1"/>
          <p:nvPr/>
        </p:nvSpPr>
        <p:spPr>
          <a:xfrm>
            <a:off x="384048" y="1207008"/>
            <a:ext cx="5623560" cy="3931920"/>
          </a:xfrm>
          <a:prstGeom prst="rect">
            <a:avLst/>
          </a:prstGeom>
          <a:noFill/>
        </p:spPr>
        <p:txBody>
          <a:bodyPr wrap="square" anchor="t"/>
          <a:lstStyle/>
          <a:p>
            <a:pPr algn="l">
              <a:spcBef>
                <a:spcPts val="0"/>
              </a:spcBef>
              <a:spcAft>
                <a:spcPts val="700"/>
              </a:spcAft>
            </a:pPr>
            <a:r>
              <a:rPr sz="1400" b="0">
                <a:solidFill>
                  <a:srgbClr val="1C222B"/>
                </a:solidFill>
                <a:latin typeface="Calibri"/>
              </a:rPr>
              <a:t>•  App Runner is closed to new customers. There is no awsapprunner.com address.</a:t>
            </a:r>
          </a:p>
          <a:p>
            <a:pPr algn="l">
              <a:spcBef>
                <a:spcPts val="0"/>
              </a:spcBef>
              <a:spcAft>
                <a:spcPts val="700"/>
              </a:spcAft>
            </a:pPr>
            <a:r>
              <a:rPr sz="1400" b="0">
                <a:solidFill>
                  <a:srgbClr val="1C222B"/>
                </a:solidFill>
                <a:latin typeface="Calibri"/>
              </a:rPr>
              <a:t>•  Published with Google AI Studio to Cloud Run at bitewise-ai.ai.studio.</a:t>
            </a:r>
          </a:p>
          <a:p>
            <a:pPr algn="l">
              <a:spcBef>
                <a:spcPts val="0"/>
              </a:spcBef>
              <a:spcAft>
                <a:spcPts val="700"/>
              </a:spcAft>
            </a:pPr>
            <a:r>
              <a:rPr sz="1400" b="0">
                <a:solidFill>
                  <a:srgbClr val="1C222B"/>
                </a:solidFill>
                <a:latin typeface="Calibri"/>
              </a:rPr>
              <a:t>•  Health on that host: demo mode off, model gemini-3.8-flash.</a:t>
            </a:r>
          </a:p>
          <a:p>
            <a:pPr algn="l">
              <a:spcBef>
                <a:spcPts val="0"/>
              </a:spcBef>
              <a:spcAft>
                <a:spcPts val="700"/>
              </a:spcAft>
            </a:pPr>
            <a:r>
              <a:rPr sz="1400" b="0">
                <a:solidFill>
                  <a:srgbClr val="1C222B"/>
                </a:solidFill>
                <a:latin typeface="Calibri"/>
              </a:rPr>
              <a:t>•  This capture still shows fallback. The ranking was unusable, and the page said so.</a:t>
            </a:r>
          </a:p>
          <a:p>
            <a:pPr algn="l">
              <a:spcBef>
                <a:spcPts val="0"/>
              </a:spcBef>
              <a:spcAft>
                <a:spcPts val="700"/>
              </a:spcAft>
            </a:pPr>
            <a:r>
              <a:rPr sz="1400" b="0">
                <a:solidFill>
                  <a:srgbClr val="1C222B"/>
                </a:solidFill>
                <a:latin typeface="Calibri"/>
              </a:rPr>
              <a:t>•  Fifteen vegetarian meals at or under $15 stayed eligible.</a:t>
            </a:r>
          </a:p>
        </p:txBody>
      </p:sp>
      <p:sp>
        <p:nvSpPr>
          <p:cNvPr id="11" name="TextBox 10"/>
          <p:cNvSpPr txBox="1"/>
          <p:nvPr/>
        </p:nvSpPr>
        <p:spPr>
          <a:xfrm>
            <a:off x="420624" y="5212080"/>
            <a:ext cx="5669280" cy="1051560"/>
          </a:xfrm>
          <a:prstGeom prst="rect">
            <a:avLst/>
          </a:prstGeom>
          <a:noFill/>
        </p:spPr>
        <p:txBody>
          <a:bodyPr wrap="square" anchor="t"/>
          <a:lstStyle/>
          <a:p>
            <a:pPr algn="l">
              <a:spcBef>
                <a:spcPts val="0"/>
              </a:spcBef>
              <a:spcAft>
                <a:spcPts val="0"/>
              </a:spcAft>
            </a:pPr>
            <a:r>
              <a:rPr sz="1600" b="1">
                <a:solidFill>
                  <a:srgbClr val="C2562A"/>
                </a:solidFill>
                <a:latin typeface="Calibri"/>
              </a:rPr>
              <a:t>Live demo: https://bitewise-ai.ai.studio</a:t>
            </a:r>
          </a:p>
        </p:txBody>
      </p:sp>
      <p:pic>
        <p:nvPicPr>
          <p:cNvPr id="12" name="Picture 11" descr="bitewise-results.png"/>
          <p:cNvPicPr>
            <a:picLocks noChangeAspect="1"/>
          </p:cNvPicPr>
          <p:nvPr/>
        </p:nvPicPr>
        <p:blipFill>
          <a:blip r:embed="rId2"/>
          <a:stretch>
            <a:fillRect/>
          </a:stretch>
        </p:blipFill>
        <p:spPr>
          <a:xfrm>
            <a:off x="6172200" y="1243584"/>
            <a:ext cx="5577840" cy="3419856"/>
          </a:xfrm>
          <a:prstGeom prst="rect">
            <a:avLst/>
          </a:prstGeom>
        </p:spPr>
      </p:pic>
      <p:sp>
        <p:nvSpPr>
          <p:cNvPr id="13" name="TextBox 12"/>
          <p:cNvSpPr txBox="1"/>
          <p:nvPr/>
        </p:nvSpPr>
        <p:spPr>
          <a:xfrm>
            <a:off x="6172200" y="4736592"/>
            <a:ext cx="5623560" cy="777240"/>
          </a:xfrm>
          <a:prstGeom prst="rect">
            <a:avLst/>
          </a:prstGeom>
          <a:noFill/>
        </p:spPr>
        <p:txBody>
          <a:bodyPr wrap="square" anchor="t"/>
          <a:lstStyle/>
          <a:p>
            <a:pPr algn="l">
              <a:spcBef>
                <a:spcPts val="0"/>
              </a:spcBef>
              <a:spcAft>
                <a:spcPts val="0"/>
              </a:spcAft>
            </a:pPr>
            <a:r>
              <a:rPr sz="1200" b="0">
                <a:solidFill>
                  <a:srgbClr val="5C6570"/>
                </a:solidFill>
                <a:latin typeface="Calibri"/>
              </a:rPr>
              <a:t>Published site, October 18, 2026, 8:22 a.m. UTC. Fallback badge, Tofu Miso Soup $6.50, Garlic Bok Choy $9.00.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6858000"/>
          </a:xfrm>
          <a:prstGeom prst="rect">
            <a:avLst/>
          </a:prstGeom>
          <a:solidFill>
            <a:srgbClr val="F6F3EC"/>
          </a:solidFill>
          <a:ln>
            <a:noFill/>
          </a:ln>
        </p:spPr>
        <p:txBody>
          <a:bodyPr rtlCol="0" anchor="ctr"/>
          <a:lstStyle/>
          <a:p>
            <a:pPr algn="ctr"/>
          </a:p>
        </p:txBody>
      </p:sp>
      <p:sp>
        <p:nvSpPr>
          <p:cNvPr id="3" name="Rectangle 2"/>
          <p:cNvSpPr/>
          <p:nvPr/>
        </p:nvSpPr>
        <p:spPr>
          <a:xfrm>
            <a:off x="0" y="0"/>
            <a:ext cx="12198096" cy="73152"/>
          </a:xfrm>
          <a:prstGeom prst="rect">
            <a:avLst/>
          </a:prstGeom>
          <a:solidFill>
            <a:srgbClr val="C2562A"/>
          </a:solidFill>
          <a:ln>
            <a:noFill/>
          </a:ln>
        </p:spPr>
        <p:txBody>
          <a:bodyPr rtlCol="0" anchor="ctr"/>
          <a:lstStyle/>
          <a:p>
            <a:pPr algn="ctr"/>
          </a:p>
        </p:txBody>
      </p:sp>
      <p:sp>
        <p:nvSpPr>
          <p:cNvPr id="4" name="TextBox 3"/>
          <p:cNvSpPr txBox="1"/>
          <p:nvPr/>
        </p:nvSpPr>
        <p:spPr>
          <a:xfrm>
            <a:off x="420624" y="201168"/>
            <a:ext cx="11155680" cy="256032"/>
          </a:xfrm>
          <a:prstGeom prst="rect">
            <a:avLst/>
          </a:prstGeom>
          <a:noFill/>
        </p:spPr>
        <p:txBody>
          <a:bodyPr wrap="square" anchor="t"/>
          <a:lstStyle/>
          <a:p>
            <a:pPr algn="l">
              <a:spcBef>
                <a:spcPts val="0"/>
              </a:spcBef>
              <a:spcAft>
                <a:spcPts val="0"/>
              </a:spcAft>
            </a:pPr>
            <a:r>
              <a:rPr sz="1200" b="1">
                <a:solidFill>
                  <a:srgbClr val="C2562A"/>
                </a:solidFill>
                <a:latin typeface="Calibri"/>
              </a:rPr>
              <a:t>APPLICATION 2  ·  WORKSHOP 6</a:t>
            </a:r>
          </a:p>
        </p:txBody>
      </p:sp>
      <p:sp>
        <p:nvSpPr>
          <p:cNvPr id="5" name="TextBox 4"/>
          <p:cNvSpPr txBox="1"/>
          <p:nvPr/>
        </p:nvSpPr>
        <p:spPr>
          <a:xfrm>
            <a:off x="420624" y="438912"/>
            <a:ext cx="11247120" cy="566928"/>
          </a:xfrm>
          <a:prstGeom prst="rect">
            <a:avLst/>
          </a:prstGeom>
          <a:noFill/>
        </p:spPr>
        <p:txBody>
          <a:bodyPr wrap="square" anchor="t"/>
          <a:lstStyle/>
          <a:p>
            <a:pPr algn="l">
              <a:spcBef>
                <a:spcPts val="0"/>
              </a:spcBef>
              <a:spcAft>
                <a:spcPts val="0"/>
              </a:spcAft>
            </a:pPr>
            <a:r>
              <a:rPr sz="2800" b="1">
                <a:solidFill>
                  <a:srgbClr val="142238"/>
                </a:solidFill>
                <a:latin typeface="Calibri"/>
              </a:rPr>
              <a:t>What a visitor can try</a:t>
            </a:r>
          </a:p>
        </p:txBody>
      </p:sp>
      <p:sp>
        <p:nvSpPr>
          <p:cNvPr id="6" name="Rectangle 5"/>
          <p:cNvSpPr/>
          <p:nvPr/>
        </p:nvSpPr>
        <p:spPr>
          <a:xfrm>
            <a:off x="438912" y="1042415"/>
            <a:ext cx="1234440" cy="32004"/>
          </a:xfrm>
          <a:prstGeom prst="rect">
            <a:avLst/>
          </a:prstGeom>
          <a:solidFill>
            <a:srgbClr val="8C6A32"/>
          </a:solidFill>
          <a:ln>
            <a:noFill/>
          </a:ln>
        </p:spPr>
        <p:txBody>
          <a:bodyPr rtlCol="0" anchor="ctr"/>
          <a:lstStyle/>
          <a:p>
            <a:pPr algn="ctr"/>
          </a:p>
        </p:txBody>
      </p:sp>
      <p:sp>
        <p:nvSpPr>
          <p:cNvPr id="7" name="Rectangle 6"/>
          <p:cNvSpPr/>
          <p:nvPr/>
        </p:nvSpPr>
        <p:spPr>
          <a:xfrm>
            <a:off x="0" y="6565392"/>
            <a:ext cx="12198096" cy="13716"/>
          </a:xfrm>
          <a:prstGeom prst="rect">
            <a:avLst/>
          </a:prstGeom>
          <a:solidFill>
            <a:srgbClr val="E4DBCE"/>
          </a:solidFill>
          <a:ln>
            <a:noFill/>
          </a:ln>
        </p:spPr>
        <p:txBody>
          <a:bodyPr rtlCol="0" anchor="ctr"/>
          <a:lstStyle/>
          <a:p>
            <a:pPr algn="ctr"/>
          </a:p>
        </p:txBody>
      </p:sp>
      <p:sp>
        <p:nvSpPr>
          <p:cNvPr id="8" name="TextBox 7"/>
          <p:cNvSpPr txBox="1"/>
          <p:nvPr/>
        </p:nvSpPr>
        <p:spPr>
          <a:xfrm>
            <a:off x="420624" y="6601968"/>
            <a:ext cx="8412480" cy="237744"/>
          </a:xfrm>
          <a:prstGeom prst="rect">
            <a:avLst/>
          </a:prstGeom>
          <a:noFill/>
        </p:spPr>
        <p:txBody>
          <a:bodyPr wrap="square" anchor="ctr"/>
          <a:lstStyle/>
          <a:p>
            <a:pPr algn="l">
              <a:spcBef>
                <a:spcPts val="0"/>
              </a:spcBef>
              <a:spcAft>
                <a:spcPts val="0"/>
              </a:spcAft>
            </a:pPr>
            <a:r>
              <a:rPr sz="1100" b="0">
                <a:solidFill>
                  <a:srgbClr val="5C6570"/>
                </a:solidFill>
                <a:latin typeface="Calibri"/>
              </a:rPr>
              <a:t>Pu Zeng  ·  StudyCite and BiteWise</a:t>
            </a:r>
          </a:p>
        </p:txBody>
      </p:sp>
      <p:sp>
        <p:nvSpPr>
          <p:cNvPr id="9" name="TextBox 8"/>
          <p:cNvSpPr txBox="1"/>
          <p:nvPr/>
        </p:nvSpPr>
        <p:spPr>
          <a:xfrm>
            <a:off x="9509760" y="6601968"/>
            <a:ext cx="2267712" cy="237744"/>
          </a:xfrm>
          <a:prstGeom prst="rect">
            <a:avLst/>
          </a:prstGeom>
          <a:noFill/>
        </p:spPr>
        <p:txBody>
          <a:bodyPr wrap="square" anchor="ctr"/>
          <a:lstStyle/>
          <a:p>
            <a:pPr algn="r">
              <a:spcBef>
                <a:spcPts val="0"/>
              </a:spcBef>
              <a:spcAft>
                <a:spcPts val="0"/>
              </a:spcAft>
            </a:pPr>
            <a:r>
              <a:rPr sz="1100" b="0">
                <a:solidFill>
                  <a:srgbClr val="5C6570"/>
                </a:solidFill>
                <a:latin typeface="Calibri"/>
              </a:rPr>
              <a:t>19   /   24</a:t>
            </a:r>
          </a:p>
        </p:txBody>
      </p:sp>
      <p:sp>
        <p:nvSpPr>
          <p:cNvPr id="10" name="Rounded Rectangle 9"/>
          <p:cNvSpPr/>
          <p:nvPr/>
        </p:nvSpPr>
        <p:spPr>
          <a:xfrm>
            <a:off x="420624" y="1280160"/>
            <a:ext cx="7452360" cy="960120"/>
          </a:xfrm>
          <a:prstGeom prst="roundRect">
            <a:avLst>
              <a:gd name="adj" fmla="val 8000"/>
            </a:avLst>
          </a:prstGeom>
          <a:solidFill>
            <a:srgbClr val="FFFFFF"/>
          </a:solidFill>
          <a:ln w="12700">
            <a:solidFill>
              <a:srgbClr val="E4DBCE"/>
            </a:solidFill>
          </a:ln>
        </p:spPr>
        <p:txBody>
          <a:bodyPr rtlCol="0" anchor="ctr"/>
          <a:lstStyle/>
          <a:p>
            <a:pPr algn="ctr"/>
          </a:p>
        </p:txBody>
      </p:sp>
      <p:sp>
        <p:nvSpPr>
          <p:cNvPr id="11" name="TextBox 10"/>
          <p:cNvSpPr txBox="1"/>
          <p:nvPr/>
        </p:nvSpPr>
        <p:spPr>
          <a:xfrm>
            <a:off x="621792" y="1389888"/>
            <a:ext cx="1371600" cy="713232"/>
          </a:xfrm>
          <a:prstGeom prst="rect">
            <a:avLst/>
          </a:prstGeom>
          <a:noFill/>
        </p:spPr>
        <p:txBody>
          <a:bodyPr wrap="square" anchor="ctr"/>
          <a:lstStyle/>
          <a:p>
            <a:pPr algn="l">
              <a:spcBef>
                <a:spcPts val="0"/>
              </a:spcBef>
              <a:spcAft>
                <a:spcPts val="0"/>
              </a:spcAft>
            </a:pPr>
            <a:r>
              <a:rPr sz="1600" b="1">
                <a:solidFill>
                  <a:srgbClr val="C2562A"/>
                </a:solidFill>
                <a:latin typeface="Calibri"/>
              </a:rPr>
              <a:t>Ask</a:t>
            </a:r>
          </a:p>
        </p:txBody>
      </p:sp>
      <p:sp>
        <p:nvSpPr>
          <p:cNvPr id="12" name="TextBox 11"/>
          <p:cNvSpPr txBox="1"/>
          <p:nvPr/>
        </p:nvSpPr>
        <p:spPr>
          <a:xfrm>
            <a:off x="2011680" y="1408176"/>
            <a:ext cx="5623560" cy="713232"/>
          </a:xfrm>
          <a:prstGeom prst="rect">
            <a:avLst/>
          </a:prstGeom>
          <a:noFill/>
        </p:spPr>
        <p:txBody>
          <a:bodyPr wrap="square" anchor="ctr"/>
          <a:lstStyle/>
          <a:p>
            <a:pPr algn="l">
              <a:spcBef>
                <a:spcPts val="0"/>
              </a:spcBef>
              <a:spcAft>
                <a:spcPts val="0"/>
              </a:spcAft>
            </a:pPr>
            <a:r>
              <a:rPr sz="1400" b="0">
                <a:solidFill>
                  <a:srgbClr val="1C222B"/>
                </a:solidFill>
                <a:latin typeface="Calibri"/>
              </a:rPr>
              <a:t>“Light vegetarian dinner under 15.” Budget and the word vegetarian are both filters.</a:t>
            </a:r>
          </a:p>
        </p:txBody>
      </p:sp>
      <p:sp>
        <p:nvSpPr>
          <p:cNvPr id="13" name="Rounded Rectangle 12"/>
          <p:cNvSpPr/>
          <p:nvPr/>
        </p:nvSpPr>
        <p:spPr>
          <a:xfrm>
            <a:off x="420624" y="2331720"/>
            <a:ext cx="7452360" cy="960120"/>
          </a:xfrm>
          <a:prstGeom prst="roundRect">
            <a:avLst>
              <a:gd name="adj" fmla="val 8000"/>
            </a:avLst>
          </a:prstGeom>
          <a:solidFill>
            <a:srgbClr val="FFFFFF"/>
          </a:solidFill>
          <a:ln w="12700">
            <a:solidFill>
              <a:srgbClr val="E4DBCE"/>
            </a:solidFill>
          </a:ln>
        </p:spPr>
        <p:txBody>
          <a:bodyPr rtlCol="0" anchor="ctr"/>
          <a:lstStyle/>
          <a:p>
            <a:pPr algn="ctr"/>
          </a:p>
        </p:txBody>
      </p:sp>
      <p:sp>
        <p:nvSpPr>
          <p:cNvPr id="14" name="TextBox 13"/>
          <p:cNvSpPr txBox="1"/>
          <p:nvPr/>
        </p:nvSpPr>
        <p:spPr>
          <a:xfrm>
            <a:off x="621792" y="2441448"/>
            <a:ext cx="1371600" cy="713232"/>
          </a:xfrm>
          <a:prstGeom prst="rect">
            <a:avLst/>
          </a:prstGeom>
          <a:noFill/>
        </p:spPr>
        <p:txBody>
          <a:bodyPr wrap="square" anchor="ctr"/>
          <a:lstStyle/>
          <a:p>
            <a:pPr algn="l">
              <a:spcBef>
                <a:spcPts val="0"/>
              </a:spcBef>
              <a:spcAft>
                <a:spcPts val="0"/>
              </a:spcAft>
            </a:pPr>
            <a:r>
              <a:rPr sz="1600" b="1">
                <a:solidFill>
                  <a:srgbClr val="C2562A"/>
                </a:solidFill>
                <a:latin typeface="Calibri"/>
              </a:rPr>
              <a:t>Inspect</a:t>
            </a:r>
          </a:p>
        </p:txBody>
      </p:sp>
      <p:sp>
        <p:nvSpPr>
          <p:cNvPr id="15" name="TextBox 14"/>
          <p:cNvSpPr txBox="1"/>
          <p:nvPr/>
        </p:nvSpPr>
        <p:spPr>
          <a:xfrm>
            <a:off x="2011680" y="2459736"/>
            <a:ext cx="5623560" cy="713232"/>
          </a:xfrm>
          <a:prstGeom prst="rect">
            <a:avLst/>
          </a:prstGeom>
          <a:noFill/>
        </p:spPr>
        <p:txBody>
          <a:bodyPr wrap="square" anchor="ctr"/>
          <a:lstStyle/>
          <a:p>
            <a:pPr algn="l">
              <a:spcBef>
                <a:spcPts val="0"/>
              </a:spcBef>
              <a:spcAft>
                <a:spcPts val="0"/>
              </a:spcAft>
            </a:pPr>
            <a:r>
              <a:rPr sz="1400" b="0">
                <a:solidFill>
                  <a:srgbClr val="1C222B"/>
                </a:solidFill>
                <a:latin typeface="Calibri"/>
              </a:rPr>
              <a:t>Open a meal. The reason names the restaurant, the labels, and the sample price.</a:t>
            </a:r>
          </a:p>
        </p:txBody>
      </p:sp>
      <p:sp>
        <p:nvSpPr>
          <p:cNvPr id="16" name="Rounded Rectangle 15"/>
          <p:cNvSpPr/>
          <p:nvPr/>
        </p:nvSpPr>
        <p:spPr>
          <a:xfrm>
            <a:off x="420624" y="3383279"/>
            <a:ext cx="7452360" cy="960120"/>
          </a:xfrm>
          <a:prstGeom prst="roundRect">
            <a:avLst>
              <a:gd name="adj" fmla="val 8000"/>
            </a:avLst>
          </a:prstGeom>
          <a:solidFill>
            <a:srgbClr val="FFFFFF"/>
          </a:solidFill>
          <a:ln w="12700">
            <a:solidFill>
              <a:srgbClr val="E4DBCE"/>
            </a:solidFill>
          </a:ln>
        </p:spPr>
        <p:txBody>
          <a:bodyPr rtlCol="0" anchor="ctr"/>
          <a:lstStyle/>
          <a:p>
            <a:pPr algn="ctr"/>
          </a:p>
        </p:txBody>
      </p:sp>
      <p:sp>
        <p:nvSpPr>
          <p:cNvPr id="17" name="TextBox 16"/>
          <p:cNvSpPr txBox="1"/>
          <p:nvPr/>
        </p:nvSpPr>
        <p:spPr>
          <a:xfrm>
            <a:off x="621792" y="3493008"/>
            <a:ext cx="1371600" cy="713232"/>
          </a:xfrm>
          <a:prstGeom prst="rect">
            <a:avLst/>
          </a:prstGeom>
          <a:noFill/>
        </p:spPr>
        <p:txBody>
          <a:bodyPr wrap="square" anchor="ctr"/>
          <a:lstStyle/>
          <a:p>
            <a:pPr algn="l">
              <a:spcBef>
                <a:spcPts val="0"/>
              </a:spcBef>
              <a:spcAft>
                <a:spcPts val="0"/>
              </a:spcAft>
            </a:pPr>
            <a:r>
              <a:rPr sz="1600" b="1">
                <a:solidFill>
                  <a:srgbClr val="C2562A"/>
                </a:solidFill>
                <a:latin typeface="Calibri"/>
              </a:rPr>
              <a:t>Save</a:t>
            </a:r>
          </a:p>
        </p:txBody>
      </p:sp>
      <p:sp>
        <p:nvSpPr>
          <p:cNvPr id="18" name="TextBox 17"/>
          <p:cNvSpPr txBox="1"/>
          <p:nvPr/>
        </p:nvSpPr>
        <p:spPr>
          <a:xfrm>
            <a:off x="2011680" y="3511296"/>
            <a:ext cx="5623560" cy="713232"/>
          </a:xfrm>
          <a:prstGeom prst="rect">
            <a:avLst/>
          </a:prstGeom>
          <a:noFill/>
        </p:spPr>
        <p:txBody>
          <a:bodyPr wrap="square" anchor="ctr"/>
          <a:lstStyle/>
          <a:p>
            <a:pPr algn="l">
              <a:spcBef>
                <a:spcPts val="0"/>
              </a:spcBef>
              <a:spcAft>
                <a:spcPts val="0"/>
              </a:spcAft>
            </a:pPr>
            <a:r>
              <a:rPr sz="1400" b="0">
                <a:solidFill>
                  <a:srgbClr val="1C222B"/>
                </a:solidFill>
                <a:latin typeface="Calibri"/>
              </a:rPr>
              <a:t>Favorites are stored for this browser’s client token, not as one shared list.</a:t>
            </a:r>
          </a:p>
        </p:txBody>
      </p:sp>
      <p:sp>
        <p:nvSpPr>
          <p:cNvPr id="19" name="Rounded Rectangle 18"/>
          <p:cNvSpPr/>
          <p:nvPr/>
        </p:nvSpPr>
        <p:spPr>
          <a:xfrm>
            <a:off x="420624" y="4434840"/>
            <a:ext cx="7452360" cy="960120"/>
          </a:xfrm>
          <a:prstGeom prst="roundRect">
            <a:avLst>
              <a:gd name="adj" fmla="val 8000"/>
            </a:avLst>
          </a:prstGeom>
          <a:solidFill>
            <a:srgbClr val="FFFFFF"/>
          </a:solidFill>
          <a:ln w="12700">
            <a:solidFill>
              <a:srgbClr val="E4DBCE"/>
            </a:solidFill>
          </a:ln>
        </p:spPr>
        <p:txBody>
          <a:bodyPr rtlCol="0" anchor="ctr"/>
          <a:lstStyle/>
          <a:p>
            <a:pPr algn="ctr"/>
          </a:p>
        </p:txBody>
      </p:sp>
      <p:sp>
        <p:nvSpPr>
          <p:cNvPr id="20" name="TextBox 19"/>
          <p:cNvSpPr txBox="1"/>
          <p:nvPr/>
        </p:nvSpPr>
        <p:spPr>
          <a:xfrm>
            <a:off x="621792" y="4544568"/>
            <a:ext cx="1371600" cy="713232"/>
          </a:xfrm>
          <a:prstGeom prst="rect">
            <a:avLst/>
          </a:prstGeom>
          <a:noFill/>
        </p:spPr>
        <p:txBody>
          <a:bodyPr wrap="square" anchor="ctr"/>
          <a:lstStyle/>
          <a:p>
            <a:pPr algn="l">
              <a:spcBef>
                <a:spcPts val="0"/>
              </a:spcBef>
              <a:spcAft>
                <a:spcPts val="0"/>
              </a:spcAft>
            </a:pPr>
            <a:r>
              <a:rPr sz="1600" b="1">
                <a:solidFill>
                  <a:srgbClr val="C2562A"/>
                </a:solidFill>
                <a:latin typeface="Calibri"/>
              </a:rPr>
              <a:t>Miss</a:t>
            </a:r>
          </a:p>
        </p:txBody>
      </p:sp>
      <p:sp>
        <p:nvSpPr>
          <p:cNvPr id="21" name="TextBox 20"/>
          <p:cNvSpPr txBox="1"/>
          <p:nvPr/>
        </p:nvSpPr>
        <p:spPr>
          <a:xfrm>
            <a:off x="2011680" y="4562855"/>
            <a:ext cx="5623560" cy="713232"/>
          </a:xfrm>
          <a:prstGeom prst="rect">
            <a:avLst/>
          </a:prstGeom>
          <a:noFill/>
        </p:spPr>
        <p:txBody>
          <a:bodyPr wrap="square" anchor="ctr"/>
          <a:lstStyle/>
          <a:p>
            <a:pPr algn="l">
              <a:spcBef>
                <a:spcPts val="0"/>
              </a:spcBef>
              <a:spcAft>
                <a:spcPts val="0"/>
              </a:spcAft>
            </a:pPr>
            <a:r>
              <a:rPr sz="1400" b="0">
                <a:solidFill>
                  <a:srgbClr val="1C222B"/>
                </a:solidFill>
                <a:latin typeface="Calibri"/>
              </a:rPr>
              <a:t>A craving with zero eligible meals returns an empty list, source none, not a guess.</a:t>
            </a:r>
          </a:p>
        </p:txBody>
      </p:sp>
      <p:sp>
        <p:nvSpPr>
          <p:cNvPr id="22" name="Rounded Rectangle 21"/>
          <p:cNvSpPr/>
          <p:nvPr/>
        </p:nvSpPr>
        <p:spPr>
          <a:xfrm>
            <a:off x="8046720" y="1280160"/>
            <a:ext cx="3703320" cy="4114800"/>
          </a:xfrm>
          <a:prstGeom prst="roundRect">
            <a:avLst>
              <a:gd name="adj" fmla="val 8000"/>
            </a:avLst>
          </a:prstGeom>
          <a:solidFill>
            <a:srgbClr val="142238"/>
          </a:solidFill>
          <a:ln w="12700">
            <a:solidFill>
              <a:srgbClr val="E4DBCE"/>
            </a:solidFill>
          </a:ln>
        </p:spPr>
        <p:txBody>
          <a:bodyPr rtlCol="0" anchor="ctr"/>
          <a:lstStyle/>
          <a:p>
            <a:pPr algn="ctr"/>
          </a:p>
        </p:txBody>
      </p:sp>
      <p:sp>
        <p:nvSpPr>
          <p:cNvPr id="23" name="TextBox 22"/>
          <p:cNvSpPr txBox="1"/>
          <p:nvPr/>
        </p:nvSpPr>
        <p:spPr>
          <a:xfrm>
            <a:off x="8247888" y="1463040"/>
            <a:ext cx="3337560" cy="365760"/>
          </a:xfrm>
          <a:prstGeom prst="rect">
            <a:avLst/>
          </a:prstGeom>
          <a:noFill/>
        </p:spPr>
        <p:txBody>
          <a:bodyPr wrap="square" anchor="t"/>
          <a:lstStyle/>
          <a:p>
            <a:pPr algn="l">
              <a:spcBef>
                <a:spcPts val="0"/>
              </a:spcBef>
              <a:spcAft>
                <a:spcPts val="0"/>
              </a:spcAft>
            </a:pPr>
            <a:r>
              <a:rPr sz="1600" b="1">
                <a:solidFill>
                  <a:srgbClr val="FFFFFF"/>
                </a:solidFill>
                <a:latin typeface="Calibri"/>
              </a:rPr>
              <a:t>Known limits</a:t>
            </a:r>
          </a:p>
        </p:txBody>
      </p:sp>
      <p:sp>
        <p:nvSpPr>
          <p:cNvPr id="24" name="TextBox 23"/>
          <p:cNvSpPr txBox="1"/>
          <p:nvPr/>
        </p:nvSpPr>
        <p:spPr>
          <a:xfrm>
            <a:off x="8229600" y="1965960"/>
            <a:ext cx="3337560" cy="3200400"/>
          </a:xfrm>
          <a:prstGeom prst="rect">
            <a:avLst/>
          </a:prstGeom>
          <a:noFill/>
        </p:spPr>
        <p:txBody>
          <a:bodyPr wrap="square" anchor="t"/>
          <a:lstStyle/>
          <a:p>
            <a:pPr algn="l">
              <a:spcBef>
                <a:spcPts val="0"/>
              </a:spcBef>
              <a:spcAft>
                <a:spcPts val="800"/>
              </a:spcAft>
            </a:pPr>
            <a:r>
              <a:rPr sz="1400" b="0">
                <a:solidFill>
                  <a:srgbClr val="FFFFFF"/>
                </a:solidFill>
                <a:latin typeface="Calibri"/>
              </a:rPr>
              <a:t>•  Sample menus only.</a:t>
            </a:r>
          </a:p>
          <a:p>
            <a:pPr algn="l">
              <a:spcBef>
                <a:spcPts val="0"/>
              </a:spcBef>
              <a:spcAft>
                <a:spcPts val="800"/>
              </a:spcAft>
            </a:pPr>
            <a:r>
              <a:rPr sz="1400" b="0">
                <a:solidFill>
                  <a:srgbClr val="FFFFFF"/>
                </a:solidFill>
                <a:latin typeface="Calibri"/>
              </a:rPr>
              <a:t>•  Tags are not allergen tests.</a:t>
            </a:r>
          </a:p>
          <a:p>
            <a:pPr algn="l">
              <a:spcBef>
                <a:spcPts val="0"/>
              </a:spcBef>
              <a:spcAft>
                <a:spcPts val="800"/>
              </a:spcAft>
            </a:pPr>
            <a:r>
              <a:rPr sz="1400" b="0">
                <a:solidFill>
                  <a:srgbClr val="FFFFFF"/>
                </a:solidFill>
                <a:latin typeface="Calibri"/>
              </a:rPr>
              <a:t>•  No accounts.</a:t>
            </a:r>
          </a:p>
          <a:p>
            <a:pPr algn="l">
              <a:spcBef>
                <a:spcPts val="0"/>
              </a:spcBef>
              <a:spcAft>
                <a:spcPts val="800"/>
              </a:spcAft>
            </a:pPr>
            <a:r>
              <a:rPr sz="1400" b="0">
                <a:solidFill>
                  <a:srgbClr val="FFFFFF"/>
                </a:solidFill>
                <a:latin typeface="Calibri"/>
              </a:rPr>
              <a:t>•  No payment.</a:t>
            </a:r>
          </a:p>
          <a:p>
            <a:pPr algn="l">
              <a:spcBef>
                <a:spcPts val="0"/>
              </a:spcBef>
              <a:spcAft>
                <a:spcPts val="800"/>
              </a:spcAft>
            </a:pPr>
            <a:r>
              <a:rPr sz="1400" b="0">
                <a:solidFill>
                  <a:srgbClr val="FFFFFF"/>
                </a:solidFill>
                <a:latin typeface="Calibri"/>
              </a:rPr>
              <a:t>•  Fallback is a feature, and it must stay visible.</a:t>
            </a:r>
          </a:p>
        </p:txBody>
      </p:sp>
      <p:sp>
        <p:nvSpPr>
          <p:cNvPr id="25" name="TextBox 24"/>
          <p:cNvSpPr txBox="1"/>
          <p:nvPr/>
        </p:nvSpPr>
        <p:spPr>
          <a:xfrm>
            <a:off x="438912" y="5623560"/>
            <a:ext cx="7406640" cy="685800"/>
          </a:xfrm>
          <a:prstGeom prst="rect">
            <a:avLst/>
          </a:prstGeom>
          <a:noFill/>
        </p:spPr>
        <p:txBody>
          <a:bodyPr wrap="square" anchor="t"/>
          <a:lstStyle/>
          <a:p>
            <a:pPr algn="l">
              <a:spcBef>
                <a:spcPts val="0"/>
              </a:spcBef>
              <a:spcAft>
                <a:spcPts val="0"/>
              </a:spcAft>
            </a:pPr>
            <a:r>
              <a:rPr sz="2000" b="1">
                <a:solidFill>
                  <a:srgbClr val="C2562A"/>
                </a:solidFill>
                <a:latin typeface="Calibri"/>
              </a:rPr>
              <a:t>https://bitewise-ai.ai.studio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6858000"/>
          </a:xfrm>
          <a:prstGeom prst="rect">
            <a:avLst/>
          </a:prstGeom>
          <a:solidFill>
            <a:srgbClr val="F6F3EC"/>
          </a:solidFill>
          <a:ln>
            <a:noFill/>
          </a:ln>
        </p:spPr>
        <p:txBody>
          <a:bodyPr rtlCol="0" anchor="ctr"/>
          <a:lstStyle/>
          <a:p>
            <a:pPr algn="ctr"/>
          </a:p>
        </p:txBody>
      </p:sp>
      <p:sp>
        <p:nvSpPr>
          <p:cNvPr id="3" name="Rectangle 2"/>
          <p:cNvSpPr/>
          <p:nvPr/>
        </p:nvSpPr>
        <p:spPr>
          <a:xfrm>
            <a:off x="0" y="0"/>
            <a:ext cx="12198096" cy="73152"/>
          </a:xfrm>
          <a:prstGeom prst="rect">
            <a:avLst/>
          </a:prstGeom>
          <a:solidFill>
            <a:srgbClr val="8C6A32"/>
          </a:solidFill>
          <a:ln>
            <a:noFill/>
          </a:ln>
        </p:spPr>
        <p:txBody>
          <a:bodyPr rtlCol="0" anchor="ctr"/>
          <a:lstStyle/>
          <a:p>
            <a:pPr algn="ctr"/>
          </a:p>
        </p:txBody>
      </p:sp>
      <p:sp>
        <p:nvSpPr>
          <p:cNvPr id="4" name="TextBox 3"/>
          <p:cNvSpPr txBox="1"/>
          <p:nvPr/>
        </p:nvSpPr>
        <p:spPr>
          <a:xfrm>
            <a:off x="420624" y="201168"/>
            <a:ext cx="11155680" cy="256032"/>
          </a:xfrm>
          <a:prstGeom prst="rect">
            <a:avLst/>
          </a:prstGeom>
          <a:noFill/>
        </p:spPr>
        <p:txBody>
          <a:bodyPr wrap="square" anchor="t"/>
          <a:lstStyle/>
          <a:p>
            <a:pPr algn="l">
              <a:spcBef>
                <a:spcPts val="0"/>
              </a:spcBef>
              <a:spcAft>
                <a:spcPts val="0"/>
              </a:spcAft>
            </a:pPr>
            <a:r>
              <a:rPr sz="1200" b="1">
                <a:solidFill>
                  <a:srgbClr val="8C6A32"/>
                </a:solidFill>
                <a:latin typeface="Calibri"/>
              </a:rPr>
              <a:t>AI’S ROLE</a:t>
            </a:r>
          </a:p>
        </p:txBody>
      </p:sp>
      <p:sp>
        <p:nvSpPr>
          <p:cNvPr id="5" name="TextBox 4"/>
          <p:cNvSpPr txBox="1"/>
          <p:nvPr/>
        </p:nvSpPr>
        <p:spPr>
          <a:xfrm>
            <a:off x="420624" y="438912"/>
            <a:ext cx="11247120" cy="566928"/>
          </a:xfrm>
          <a:prstGeom prst="rect">
            <a:avLst/>
          </a:prstGeom>
          <a:noFill/>
        </p:spPr>
        <p:txBody>
          <a:bodyPr wrap="square" anchor="t"/>
          <a:lstStyle/>
          <a:p>
            <a:pPr algn="l">
              <a:spcBef>
                <a:spcPts val="0"/>
              </a:spcBef>
              <a:spcAft>
                <a:spcPts val="0"/>
              </a:spcAft>
            </a:pPr>
            <a:r>
              <a:rPr sz="2600" b="1">
                <a:solidFill>
                  <a:srgbClr val="142238"/>
                </a:solidFill>
                <a:latin typeface="Calibri"/>
              </a:rPr>
              <a:t>Prompts and tools that earned their place</a:t>
            </a:r>
          </a:p>
        </p:txBody>
      </p:sp>
      <p:sp>
        <p:nvSpPr>
          <p:cNvPr id="6" name="Rectangle 5"/>
          <p:cNvSpPr/>
          <p:nvPr/>
        </p:nvSpPr>
        <p:spPr>
          <a:xfrm>
            <a:off x="438912" y="1042415"/>
            <a:ext cx="1234440" cy="32004"/>
          </a:xfrm>
          <a:prstGeom prst="rect">
            <a:avLst/>
          </a:prstGeom>
          <a:solidFill>
            <a:srgbClr val="8C6A32"/>
          </a:solidFill>
          <a:ln>
            <a:noFill/>
          </a:ln>
        </p:spPr>
        <p:txBody>
          <a:bodyPr rtlCol="0" anchor="ctr"/>
          <a:lstStyle/>
          <a:p>
            <a:pPr algn="ctr"/>
          </a:p>
        </p:txBody>
      </p:sp>
      <p:sp>
        <p:nvSpPr>
          <p:cNvPr id="7" name="Rectangle 6"/>
          <p:cNvSpPr/>
          <p:nvPr/>
        </p:nvSpPr>
        <p:spPr>
          <a:xfrm>
            <a:off x="0" y="6565392"/>
            <a:ext cx="12198096" cy="13716"/>
          </a:xfrm>
          <a:prstGeom prst="rect">
            <a:avLst/>
          </a:prstGeom>
          <a:solidFill>
            <a:srgbClr val="E4DBCE"/>
          </a:solidFill>
          <a:ln>
            <a:noFill/>
          </a:ln>
        </p:spPr>
        <p:txBody>
          <a:bodyPr rtlCol="0" anchor="ctr"/>
          <a:lstStyle/>
          <a:p>
            <a:pPr algn="ctr"/>
          </a:p>
        </p:txBody>
      </p:sp>
      <p:sp>
        <p:nvSpPr>
          <p:cNvPr id="8" name="TextBox 7"/>
          <p:cNvSpPr txBox="1"/>
          <p:nvPr/>
        </p:nvSpPr>
        <p:spPr>
          <a:xfrm>
            <a:off x="420624" y="6601968"/>
            <a:ext cx="8412480" cy="237744"/>
          </a:xfrm>
          <a:prstGeom prst="rect">
            <a:avLst/>
          </a:prstGeom>
          <a:noFill/>
        </p:spPr>
        <p:txBody>
          <a:bodyPr wrap="square" anchor="ctr"/>
          <a:lstStyle/>
          <a:p>
            <a:pPr algn="l">
              <a:spcBef>
                <a:spcPts val="0"/>
              </a:spcBef>
              <a:spcAft>
                <a:spcPts val="0"/>
              </a:spcAft>
            </a:pPr>
            <a:r>
              <a:rPr sz="1100" b="0">
                <a:solidFill>
                  <a:srgbClr val="5C6570"/>
                </a:solidFill>
                <a:latin typeface="Calibri"/>
              </a:rPr>
              <a:t>Pu Zeng  ·  StudyCite and BiteWise</a:t>
            </a:r>
          </a:p>
        </p:txBody>
      </p:sp>
      <p:sp>
        <p:nvSpPr>
          <p:cNvPr id="9" name="TextBox 8"/>
          <p:cNvSpPr txBox="1"/>
          <p:nvPr/>
        </p:nvSpPr>
        <p:spPr>
          <a:xfrm>
            <a:off x="9509760" y="6601968"/>
            <a:ext cx="2267712" cy="237744"/>
          </a:xfrm>
          <a:prstGeom prst="rect">
            <a:avLst/>
          </a:prstGeom>
          <a:noFill/>
        </p:spPr>
        <p:txBody>
          <a:bodyPr wrap="square" anchor="ctr"/>
          <a:lstStyle/>
          <a:p>
            <a:pPr algn="r">
              <a:spcBef>
                <a:spcPts val="0"/>
              </a:spcBef>
              <a:spcAft>
                <a:spcPts val="0"/>
              </a:spcAft>
            </a:pPr>
            <a:r>
              <a:rPr sz="1100" b="0">
                <a:solidFill>
                  <a:srgbClr val="5C6570"/>
                </a:solidFill>
                <a:latin typeface="Calibri"/>
              </a:rPr>
              <a:t>20   /   24</a:t>
            </a:r>
          </a:p>
        </p:txBody>
      </p:sp>
      <p:sp>
        <p:nvSpPr>
          <p:cNvPr id="10" name="Rounded Rectangle 9"/>
          <p:cNvSpPr/>
          <p:nvPr/>
        </p:nvSpPr>
        <p:spPr>
          <a:xfrm>
            <a:off x="420624" y="1280160"/>
            <a:ext cx="5669280" cy="2194560"/>
          </a:xfrm>
          <a:prstGeom prst="roundRect">
            <a:avLst>
              <a:gd name="adj" fmla="val 8000"/>
            </a:avLst>
          </a:prstGeom>
          <a:solidFill>
            <a:srgbClr val="FFFFFF"/>
          </a:solidFill>
          <a:ln w="12700">
            <a:solidFill>
              <a:srgbClr val="E4DBCE"/>
            </a:solidFill>
          </a:ln>
        </p:spPr>
        <p:txBody>
          <a:bodyPr rtlCol="0" anchor="ctr"/>
          <a:lstStyle/>
          <a:p>
            <a:pPr algn="ctr"/>
          </a:p>
        </p:txBody>
      </p:sp>
      <p:sp>
        <p:nvSpPr>
          <p:cNvPr id="11" name="TextBox 10"/>
          <p:cNvSpPr txBox="1"/>
          <p:nvPr/>
        </p:nvSpPr>
        <p:spPr>
          <a:xfrm>
            <a:off x="640080" y="1444751"/>
            <a:ext cx="5257800" cy="457200"/>
          </a:xfrm>
          <a:prstGeom prst="rect">
            <a:avLst/>
          </a:prstGeom>
          <a:noFill/>
        </p:spPr>
        <p:txBody>
          <a:bodyPr wrap="square" anchor="t"/>
          <a:lstStyle/>
          <a:p>
            <a:pPr algn="l">
              <a:spcBef>
                <a:spcPts val="0"/>
              </a:spcBef>
              <a:spcAft>
                <a:spcPts val="0"/>
              </a:spcAft>
            </a:pPr>
            <a:r>
              <a:rPr sz="1600" b="1">
                <a:solidFill>
                  <a:srgbClr val="142238"/>
                </a:solidFill>
                <a:latin typeface="Calibri"/>
              </a:rPr>
              <a:t>Convert this, using the spec</a:t>
            </a:r>
          </a:p>
        </p:txBody>
      </p:sp>
      <p:sp>
        <p:nvSpPr>
          <p:cNvPr id="12" name="TextBox 11"/>
          <p:cNvSpPr txBox="1"/>
          <p:nvPr/>
        </p:nvSpPr>
        <p:spPr>
          <a:xfrm>
            <a:off x="640080" y="1993391"/>
            <a:ext cx="5257800" cy="1280160"/>
          </a:xfrm>
          <a:prstGeom prst="rect">
            <a:avLst/>
          </a:prstGeom>
          <a:noFill/>
        </p:spPr>
        <p:txBody>
          <a:bodyPr wrap="square" anchor="t"/>
          <a:lstStyle/>
          <a:p>
            <a:pPr algn="l">
              <a:spcBef>
                <a:spcPts val="0"/>
              </a:spcBef>
              <a:spcAft>
                <a:spcPts val="0"/>
              </a:spcAft>
            </a:pPr>
            <a:r>
              <a:rPr sz="1400" b="0">
                <a:solidFill>
                  <a:srgbClr val="1C222B"/>
                </a:solidFill>
                <a:latin typeface="Calibri"/>
              </a:rPr>
              <a:t>Turn the live prototype into a multi-file project from the written MVP, and propose a better name. That prompt produced StudyCite.</a:t>
            </a:r>
          </a:p>
        </p:txBody>
      </p:sp>
      <p:sp>
        <p:nvSpPr>
          <p:cNvPr id="13" name="Rounded Rectangle 12"/>
          <p:cNvSpPr/>
          <p:nvPr/>
        </p:nvSpPr>
        <p:spPr>
          <a:xfrm>
            <a:off x="6272784" y="1280160"/>
            <a:ext cx="5669280" cy="2194560"/>
          </a:xfrm>
          <a:prstGeom prst="roundRect">
            <a:avLst>
              <a:gd name="adj" fmla="val 8000"/>
            </a:avLst>
          </a:prstGeom>
          <a:solidFill>
            <a:srgbClr val="FFFFFF"/>
          </a:solidFill>
          <a:ln w="12700">
            <a:solidFill>
              <a:srgbClr val="E4DBCE"/>
            </a:solidFill>
          </a:ln>
        </p:spPr>
        <p:txBody>
          <a:bodyPr rtlCol="0" anchor="ctr"/>
          <a:lstStyle/>
          <a:p>
            <a:pPr algn="ctr"/>
          </a:p>
        </p:txBody>
      </p:sp>
      <p:sp>
        <p:nvSpPr>
          <p:cNvPr id="14" name="TextBox 13"/>
          <p:cNvSpPr txBox="1"/>
          <p:nvPr/>
        </p:nvSpPr>
        <p:spPr>
          <a:xfrm>
            <a:off x="6492240" y="1444751"/>
            <a:ext cx="5257800" cy="457200"/>
          </a:xfrm>
          <a:prstGeom prst="rect">
            <a:avLst/>
          </a:prstGeom>
          <a:noFill/>
        </p:spPr>
        <p:txBody>
          <a:bodyPr wrap="square" anchor="t"/>
          <a:lstStyle/>
          <a:p>
            <a:pPr algn="l">
              <a:spcBef>
                <a:spcPts val="0"/>
              </a:spcBef>
              <a:spcAft>
                <a:spcPts val="0"/>
              </a:spcAft>
            </a:pPr>
            <a:r>
              <a:rPr sz="1600" b="1">
                <a:solidFill>
                  <a:srgbClr val="142238"/>
                </a:solidFill>
                <a:latin typeface="Calibri"/>
              </a:rPr>
              <a:t>Fix the error on the screen</a:t>
            </a:r>
          </a:p>
        </p:txBody>
      </p:sp>
      <p:sp>
        <p:nvSpPr>
          <p:cNvPr id="15" name="TextBox 14"/>
          <p:cNvSpPr txBox="1"/>
          <p:nvPr/>
        </p:nvSpPr>
        <p:spPr>
          <a:xfrm>
            <a:off x="6492240" y="1993391"/>
            <a:ext cx="5257800" cy="1280160"/>
          </a:xfrm>
          <a:prstGeom prst="rect">
            <a:avLst/>
          </a:prstGeom>
          <a:noFill/>
        </p:spPr>
        <p:txBody>
          <a:bodyPr wrap="square" anchor="t"/>
          <a:lstStyle/>
          <a:p>
            <a:pPr algn="l">
              <a:spcBef>
                <a:spcPts val="0"/>
              </a:spcBef>
              <a:spcAft>
                <a:spcPts val="0"/>
              </a:spcAft>
            </a:pPr>
            <a:r>
              <a:rPr sz="1400" b="0">
                <a:solidFill>
                  <a:srgbClr val="1C222B"/>
                </a:solidFill>
                <a:latin typeface="Calibri"/>
              </a:rPr>
              <a:t>Material UI v9 and a greater-than-or-equal sign in JSX. The useful prompt included the compiler output, not a general plea to clean up.</a:t>
            </a:r>
          </a:p>
        </p:txBody>
      </p:sp>
      <p:sp>
        <p:nvSpPr>
          <p:cNvPr id="16" name="Rounded Rectangle 15"/>
          <p:cNvSpPr/>
          <p:nvPr/>
        </p:nvSpPr>
        <p:spPr>
          <a:xfrm>
            <a:off x="420624" y="3611879"/>
            <a:ext cx="5669280" cy="2194560"/>
          </a:xfrm>
          <a:prstGeom prst="roundRect">
            <a:avLst>
              <a:gd name="adj" fmla="val 8000"/>
            </a:avLst>
          </a:prstGeom>
          <a:solidFill>
            <a:srgbClr val="FFFFFF"/>
          </a:solidFill>
          <a:ln w="12700">
            <a:solidFill>
              <a:srgbClr val="E4DBCE"/>
            </a:solidFill>
          </a:ln>
        </p:spPr>
        <p:txBody>
          <a:bodyPr rtlCol="0" anchor="ctr"/>
          <a:lstStyle/>
          <a:p>
            <a:pPr algn="ctr"/>
          </a:p>
        </p:txBody>
      </p:sp>
      <p:sp>
        <p:nvSpPr>
          <p:cNvPr id="17" name="TextBox 16"/>
          <p:cNvSpPr txBox="1"/>
          <p:nvPr/>
        </p:nvSpPr>
        <p:spPr>
          <a:xfrm>
            <a:off x="640080" y="3776472"/>
            <a:ext cx="5257800" cy="457200"/>
          </a:xfrm>
          <a:prstGeom prst="rect">
            <a:avLst/>
          </a:prstGeom>
          <a:noFill/>
        </p:spPr>
        <p:txBody>
          <a:bodyPr wrap="square" anchor="t"/>
          <a:lstStyle/>
          <a:p>
            <a:pPr algn="l">
              <a:spcBef>
                <a:spcPts val="0"/>
              </a:spcBef>
              <a:spcAft>
                <a:spcPts val="0"/>
              </a:spcAft>
            </a:pPr>
            <a:r>
              <a:rPr sz="1600" b="1">
                <a:solidFill>
                  <a:srgbClr val="142238"/>
                </a:solidFill>
                <a:latin typeface="Calibri"/>
              </a:rPr>
              <a:t>Enumerate the controls</a:t>
            </a:r>
          </a:p>
        </p:txBody>
      </p:sp>
      <p:sp>
        <p:nvSpPr>
          <p:cNvPr id="18" name="TextBox 17"/>
          <p:cNvSpPr txBox="1"/>
          <p:nvPr/>
        </p:nvSpPr>
        <p:spPr>
          <a:xfrm>
            <a:off x="640080" y="4325112"/>
            <a:ext cx="5257800" cy="1280160"/>
          </a:xfrm>
          <a:prstGeom prst="rect">
            <a:avLst/>
          </a:prstGeom>
          <a:noFill/>
        </p:spPr>
        <p:txBody>
          <a:bodyPr wrap="square" anchor="t"/>
          <a:lstStyle/>
          <a:p>
            <a:pPr algn="l">
              <a:spcBef>
                <a:spcPts val="0"/>
              </a:spcBef>
              <a:spcAft>
                <a:spcPts val="0"/>
              </a:spcAft>
            </a:pPr>
            <a:r>
              <a:rPr sz="1400" b="0">
                <a:solidFill>
                  <a:srgbClr val="1C222B"/>
                </a:solidFill>
                <a:latin typeface="Calibri"/>
              </a:rPr>
              <a:t>List every input, search the source for secrets and unsafe APIs, and draft the security report from the diff.</a:t>
            </a:r>
          </a:p>
        </p:txBody>
      </p:sp>
      <p:sp>
        <p:nvSpPr>
          <p:cNvPr id="19" name="Rounded Rectangle 18"/>
          <p:cNvSpPr/>
          <p:nvPr/>
        </p:nvSpPr>
        <p:spPr>
          <a:xfrm>
            <a:off x="6272784" y="3611879"/>
            <a:ext cx="5669280" cy="2194560"/>
          </a:xfrm>
          <a:prstGeom prst="roundRect">
            <a:avLst>
              <a:gd name="adj" fmla="val 8000"/>
            </a:avLst>
          </a:prstGeom>
          <a:solidFill>
            <a:srgbClr val="FFFFFF"/>
          </a:solidFill>
          <a:ln w="12700">
            <a:solidFill>
              <a:srgbClr val="E4DBCE"/>
            </a:solidFill>
          </a:ln>
        </p:spPr>
        <p:txBody>
          <a:bodyPr rtlCol="0" anchor="ctr"/>
          <a:lstStyle/>
          <a:p>
            <a:pPr algn="ctr"/>
          </a:p>
        </p:txBody>
      </p:sp>
      <p:sp>
        <p:nvSpPr>
          <p:cNvPr id="20" name="TextBox 19"/>
          <p:cNvSpPr txBox="1"/>
          <p:nvPr/>
        </p:nvSpPr>
        <p:spPr>
          <a:xfrm>
            <a:off x="6492240" y="3776472"/>
            <a:ext cx="5257800" cy="457200"/>
          </a:xfrm>
          <a:prstGeom prst="rect">
            <a:avLst/>
          </a:prstGeom>
          <a:noFill/>
        </p:spPr>
        <p:txBody>
          <a:bodyPr wrap="square" anchor="t"/>
          <a:lstStyle/>
          <a:p>
            <a:pPr algn="l">
              <a:spcBef>
                <a:spcPts val="0"/>
              </a:spcBef>
              <a:spcAft>
                <a:spcPts val="0"/>
              </a:spcAft>
            </a:pPr>
            <a:r>
              <a:rPr sz="1600" b="1">
                <a:solidFill>
                  <a:srgbClr val="142238"/>
                </a:solidFill>
                <a:latin typeface="Calibri"/>
              </a:rPr>
              <a:t>Enforce the boundary in code</a:t>
            </a:r>
          </a:p>
        </p:txBody>
      </p:sp>
      <p:sp>
        <p:nvSpPr>
          <p:cNvPr id="21" name="TextBox 20"/>
          <p:cNvSpPr txBox="1"/>
          <p:nvPr/>
        </p:nvSpPr>
        <p:spPr>
          <a:xfrm>
            <a:off x="6492240" y="4325112"/>
            <a:ext cx="5257800" cy="1280160"/>
          </a:xfrm>
          <a:prstGeom prst="rect">
            <a:avLst/>
          </a:prstGeom>
          <a:noFill/>
        </p:spPr>
        <p:txBody>
          <a:bodyPr wrap="square" anchor="t"/>
          <a:lstStyle/>
          <a:p>
            <a:pPr algn="l">
              <a:spcBef>
                <a:spcPts val="0"/>
              </a:spcBef>
              <a:spcAft>
                <a:spcPts val="0"/>
              </a:spcAft>
            </a:pPr>
            <a:r>
              <a:rPr sz="1400" b="0">
                <a:solidFill>
                  <a:srgbClr val="1C222B"/>
                </a:solidFill>
                <a:latin typeface="Calibri"/>
              </a:rPr>
              <a:t>For BiteWise: filter in SQL first, accept only eligible ids, and fail the tests if the client contains a key.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6858000"/>
          </a:xfrm>
          <a:prstGeom prst="rect">
            <a:avLst/>
          </a:prstGeom>
          <a:solidFill>
            <a:srgbClr val="F6F3EC"/>
          </a:solidFill>
          <a:ln>
            <a:noFill/>
          </a:ln>
        </p:spPr>
        <p:txBody>
          <a:bodyPr rtlCol="0" anchor="ctr"/>
          <a:lstStyle/>
          <a:p>
            <a:pPr algn="ctr"/>
          </a:p>
        </p:txBody>
      </p:sp>
      <p:sp>
        <p:nvSpPr>
          <p:cNvPr id="3" name="Rectangle 2"/>
          <p:cNvSpPr/>
          <p:nvPr/>
        </p:nvSpPr>
        <p:spPr>
          <a:xfrm>
            <a:off x="0" y="0"/>
            <a:ext cx="12198096" cy="73152"/>
          </a:xfrm>
          <a:prstGeom prst="rect">
            <a:avLst/>
          </a:prstGeom>
          <a:solidFill>
            <a:srgbClr val="8C6A32"/>
          </a:solidFill>
          <a:ln>
            <a:noFill/>
          </a:ln>
        </p:spPr>
        <p:txBody>
          <a:bodyPr rtlCol="0" anchor="ctr"/>
          <a:lstStyle/>
          <a:p>
            <a:pPr algn="ctr"/>
          </a:p>
        </p:txBody>
      </p:sp>
      <p:sp>
        <p:nvSpPr>
          <p:cNvPr id="4" name="TextBox 3"/>
          <p:cNvSpPr txBox="1"/>
          <p:nvPr/>
        </p:nvSpPr>
        <p:spPr>
          <a:xfrm>
            <a:off x="420624" y="201168"/>
            <a:ext cx="11155680" cy="256032"/>
          </a:xfrm>
          <a:prstGeom prst="rect">
            <a:avLst/>
          </a:prstGeom>
          <a:noFill/>
        </p:spPr>
        <p:txBody>
          <a:bodyPr wrap="square" anchor="t"/>
          <a:lstStyle/>
          <a:p>
            <a:pPr algn="l">
              <a:spcBef>
                <a:spcPts val="0"/>
              </a:spcBef>
              <a:spcAft>
                <a:spcPts val="0"/>
              </a:spcAft>
            </a:pPr>
            <a:r>
              <a:rPr sz="1200" b="1">
                <a:solidFill>
                  <a:srgbClr val="8C6A32"/>
                </a:solidFill>
                <a:latin typeface="Calibri"/>
              </a:rPr>
              <a:t>AI’S ROLE</a:t>
            </a:r>
          </a:p>
        </p:txBody>
      </p:sp>
      <p:sp>
        <p:nvSpPr>
          <p:cNvPr id="5" name="TextBox 4"/>
          <p:cNvSpPr txBox="1"/>
          <p:nvPr/>
        </p:nvSpPr>
        <p:spPr>
          <a:xfrm>
            <a:off x="420624" y="438912"/>
            <a:ext cx="11247120" cy="566928"/>
          </a:xfrm>
          <a:prstGeom prst="rect">
            <a:avLst/>
          </a:prstGeom>
          <a:noFill/>
        </p:spPr>
        <p:txBody>
          <a:bodyPr wrap="square" anchor="t"/>
          <a:lstStyle/>
          <a:p>
            <a:pPr algn="l">
              <a:spcBef>
                <a:spcPts val="0"/>
              </a:spcBef>
              <a:spcAft>
                <a:spcPts val="0"/>
              </a:spcAft>
            </a:pPr>
            <a:r>
              <a:rPr sz="2600" b="1">
                <a:solidFill>
                  <a:srgbClr val="142238"/>
                </a:solidFill>
                <a:latin typeface="Calibri"/>
              </a:rPr>
              <a:t>What changed from the first app to the second</a:t>
            </a:r>
          </a:p>
        </p:txBody>
      </p:sp>
      <p:sp>
        <p:nvSpPr>
          <p:cNvPr id="6" name="Rectangle 5"/>
          <p:cNvSpPr/>
          <p:nvPr/>
        </p:nvSpPr>
        <p:spPr>
          <a:xfrm>
            <a:off x="438912" y="1042415"/>
            <a:ext cx="1234440" cy="32004"/>
          </a:xfrm>
          <a:prstGeom prst="rect">
            <a:avLst/>
          </a:prstGeom>
          <a:solidFill>
            <a:srgbClr val="8C6A32"/>
          </a:solidFill>
          <a:ln>
            <a:noFill/>
          </a:ln>
        </p:spPr>
        <p:txBody>
          <a:bodyPr rtlCol="0" anchor="ctr"/>
          <a:lstStyle/>
          <a:p>
            <a:pPr algn="ctr"/>
          </a:p>
        </p:txBody>
      </p:sp>
      <p:sp>
        <p:nvSpPr>
          <p:cNvPr id="7" name="Rectangle 6"/>
          <p:cNvSpPr/>
          <p:nvPr/>
        </p:nvSpPr>
        <p:spPr>
          <a:xfrm>
            <a:off x="0" y="6565392"/>
            <a:ext cx="12198096" cy="13716"/>
          </a:xfrm>
          <a:prstGeom prst="rect">
            <a:avLst/>
          </a:prstGeom>
          <a:solidFill>
            <a:srgbClr val="E4DBCE"/>
          </a:solidFill>
          <a:ln>
            <a:noFill/>
          </a:ln>
        </p:spPr>
        <p:txBody>
          <a:bodyPr rtlCol="0" anchor="ctr"/>
          <a:lstStyle/>
          <a:p>
            <a:pPr algn="ctr"/>
          </a:p>
        </p:txBody>
      </p:sp>
      <p:sp>
        <p:nvSpPr>
          <p:cNvPr id="8" name="TextBox 7"/>
          <p:cNvSpPr txBox="1"/>
          <p:nvPr/>
        </p:nvSpPr>
        <p:spPr>
          <a:xfrm>
            <a:off x="420624" y="6601968"/>
            <a:ext cx="8412480" cy="237744"/>
          </a:xfrm>
          <a:prstGeom prst="rect">
            <a:avLst/>
          </a:prstGeom>
          <a:noFill/>
        </p:spPr>
        <p:txBody>
          <a:bodyPr wrap="square" anchor="ctr"/>
          <a:lstStyle/>
          <a:p>
            <a:pPr algn="l">
              <a:spcBef>
                <a:spcPts val="0"/>
              </a:spcBef>
              <a:spcAft>
                <a:spcPts val="0"/>
              </a:spcAft>
            </a:pPr>
            <a:r>
              <a:rPr sz="1100" b="0">
                <a:solidFill>
                  <a:srgbClr val="5C6570"/>
                </a:solidFill>
                <a:latin typeface="Calibri"/>
              </a:rPr>
              <a:t>Pu Zeng  ·  StudyCite and BiteWise</a:t>
            </a:r>
          </a:p>
        </p:txBody>
      </p:sp>
      <p:sp>
        <p:nvSpPr>
          <p:cNvPr id="9" name="TextBox 8"/>
          <p:cNvSpPr txBox="1"/>
          <p:nvPr/>
        </p:nvSpPr>
        <p:spPr>
          <a:xfrm>
            <a:off x="9509760" y="6601968"/>
            <a:ext cx="2267712" cy="237744"/>
          </a:xfrm>
          <a:prstGeom prst="rect">
            <a:avLst/>
          </a:prstGeom>
          <a:noFill/>
        </p:spPr>
        <p:txBody>
          <a:bodyPr wrap="square" anchor="ctr"/>
          <a:lstStyle/>
          <a:p>
            <a:pPr algn="r">
              <a:spcBef>
                <a:spcPts val="0"/>
              </a:spcBef>
              <a:spcAft>
                <a:spcPts val="0"/>
              </a:spcAft>
            </a:pPr>
            <a:r>
              <a:rPr sz="1100" b="0">
                <a:solidFill>
                  <a:srgbClr val="5C6570"/>
                </a:solidFill>
                <a:latin typeface="Calibri"/>
              </a:rPr>
              <a:t>21   /   24</a:t>
            </a:r>
          </a:p>
        </p:txBody>
      </p:sp>
      <p:sp>
        <p:nvSpPr>
          <p:cNvPr id="10" name="Rounded Rectangle 9"/>
          <p:cNvSpPr/>
          <p:nvPr/>
        </p:nvSpPr>
        <p:spPr>
          <a:xfrm>
            <a:off x="420624" y="1280160"/>
            <a:ext cx="11338560" cy="457200"/>
          </a:xfrm>
          <a:prstGeom prst="roundRect">
            <a:avLst>
              <a:gd name="adj" fmla="val 4000"/>
            </a:avLst>
          </a:prstGeom>
          <a:solidFill>
            <a:srgbClr val="142238"/>
          </a:solidFill>
          <a:ln>
            <a:noFill/>
          </a:ln>
        </p:spPr>
        <p:txBody>
          <a:bodyPr rtlCol="0" anchor="ctr"/>
          <a:lstStyle/>
          <a:p>
            <a:pPr algn="ctr"/>
          </a:p>
        </p:txBody>
      </p:sp>
      <p:sp>
        <p:nvSpPr>
          <p:cNvPr id="11" name="TextBox 10"/>
          <p:cNvSpPr txBox="1"/>
          <p:nvPr/>
        </p:nvSpPr>
        <p:spPr>
          <a:xfrm>
            <a:off x="548640" y="1280160"/>
            <a:ext cx="3017520" cy="457200"/>
          </a:xfrm>
          <a:prstGeom prst="rect">
            <a:avLst/>
          </a:prstGeom>
          <a:noFill/>
        </p:spPr>
        <p:txBody>
          <a:bodyPr wrap="square" anchor="ctr"/>
          <a:lstStyle/>
          <a:p>
            <a:pPr algn="l">
              <a:spcBef>
                <a:spcPts val="0"/>
              </a:spcBef>
              <a:spcAft>
                <a:spcPts val="0"/>
              </a:spcAft>
            </a:pPr>
            <a:r>
              <a:rPr sz="1300" b="1">
                <a:solidFill>
                  <a:srgbClr val="FFFFFF"/>
                </a:solidFill>
                <a:latin typeface="Calibri"/>
              </a:rPr>
              <a:t>Question</a:t>
            </a:r>
          </a:p>
        </p:txBody>
      </p:sp>
      <p:sp>
        <p:nvSpPr>
          <p:cNvPr id="12" name="TextBox 11"/>
          <p:cNvSpPr txBox="1"/>
          <p:nvPr/>
        </p:nvSpPr>
        <p:spPr>
          <a:xfrm>
            <a:off x="3657600" y="1280160"/>
            <a:ext cx="3931920" cy="457200"/>
          </a:xfrm>
          <a:prstGeom prst="rect">
            <a:avLst/>
          </a:prstGeom>
          <a:noFill/>
        </p:spPr>
        <p:txBody>
          <a:bodyPr wrap="square" anchor="ctr"/>
          <a:lstStyle/>
          <a:p>
            <a:pPr algn="l">
              <a:spcBef>
                <a:spcPts val="0"/>
              </a:spcBef>
              <a:spcAft>
                <a:spcPts val="0"/>
              </a:spcAft>
            </a:pPr>
            <a:r>
              <a:rPr sz="1300" b="1">
                <a:solidFill>
                  <a:srgbClr val="FFFFFF"/>
                </a:solidFill>
                <a:latin typeface="Calibri"/>
              </a:rPr>
              <a:t>StudyCite</a:t>
            </a:r>
          </a:p>
        </p:txBody>
      </p:sp>
      <p:sp>
        <p:nvSpPr>
          <p:cNvPr id="13" name="TextBox 12"/>
          <p:cNvSpPr txBox="1"/>
          <p:nvPr/>
        </p:nvSpPr>
        <p:spPr>
          <a:xfrm>
            <a:off x="7680960" y="1280160"/>
            <a:ext cx="3840480" cy="457200"/>
          </a:xfrm>
          <a:prstGeom prst="rect">
            <a:avLst/>
          </a:prstGeom>
          <a:noFill/>
        </p:spPr>
        <p:txBody>
          <a:bodyPr wrap="square" anchor="ctr"/>
          <a:lstStyle/>
          <a:p>
            <a:pPr algn="l">
              <a:spcBef>
                <a:spcPts val="0"/>
              </a:spcBef>
              <a:spcAft>
                <a:spcPts val="0"/>
              </a:spcAft>
            </a:pPr>
            <a:r>
              <a:rPr sz="1300" b="1">
                <a:solidFill>
                  <a:srgbClr val="FFFFFF"/>
                </a:solidFill>
                <a:latin typeface="Calibri"/>
              </a:rPr>
              <a:t>BiteWise</a:t>
            </a:r>
          </a:p>
        </p:txBody>
      </p:sp>
      <p:sp>
        <p:nvSpPr>
          <p:cNvPr id="14" name="Rounded Rectangle 13"/>
          <p:cNvSpPr/>
          <p:nvPr/>
        </p:nvSpPr>
        <p:spPr>
          <a:xfrm>
            <a:off x="420624" y="1828800"/>
            <a:ext cx="11338560" cy="768096"/>
          </a:xfrm>
          <a:prstGeom prst="roundRect">
            <a:avLst>
              <a:gd name="adj" fmla="val 4000"/>
            </a:avLst>
          </a:prstGeom>
          <a:solidFill>
            <a:srgbClr val="FFFFFF"/>
          </a:solidFill>
          <a:ln>
            <a:noFill/>
          </a:ln>
        </p:spPr>
        <p:txBody>
          <a:bodyPr rtlCol="0" anchor="ctr"/>
          <a:lstStyle/>
          <a:p>
            <a:pPr algn="ctr"/>
          </a:p>
        </p:txBody>
      </p:sp>
      <p:sp>
        <p:nvSpPr>
          <p:cNvPr id="15" name="TextBox 14"/>
          <p:cNvSpPr txBox="1"/>
          <p:nvPr/>
        </p:nvSpPr>
        <p:spPr>
          <a:xfrm>
            <a:off x="548640" y="1828800"/>
            <a:ext cx="3017520" cy="768096"/>
          </a:xfrm>
          <a:prstGeom prst="rect">
            <a:avLst/>
          </a:prstGeom>
          <a:noFill/>
        </p:spPr>
        <p:txBody>
          <a:bodyPr wrap="square" anchor="ctr"/>
          <a:lstStyle/>
          <a:p>
            <a:pPr algn="l">
              <a:spcBef>
                <a:spcPts val="0"/>
              </a:spcBef>
              <a:spcAft>
                <a:spcPts val="0"/>
              </a:spcAft>
            </a:pPr>
            <a:r>
              <a:rPr sz="1300" b="1">
                <a:solidFill>
                  <a:srgbClr val="142238"/>
                </a:solidFill>
                <a:latin typeface="Calibri"/>
              </a:rPr>
              <a:t>Where the rule lives</a:t>
            </a:r>
          </a:p>
        </p:txBody>
      </p:sp>
      <p:sp>
        <p:nvSpPr>
          <p:cNvPr id="16" name="TextBox 15"/>
          <p:cNvSpPr txBox="1"/>
          <p:nvPr/>
        </p:nvSpPr>
        <p:spPr>
          <a:xfrm>
            <a:off x="3657600" y="1828800"/>
            <a:ext cx="3886200" cy="768096"/>
          </a:xfrm>
          <a:prstGeom prst="rect">
            <a:avLst/>
          </a:prstGeom>
          <a:noFill/>
        </p:spPr>
        <p:txBody>
          <a:bodyPr wrap="square" anchor="ctr"/>
          <a:lstStyle/>
          <a:p>
            <a:pPr algn="l">
              <a:spcBef>
                <a:spcPts val="0"/>
              </a:spcBef>
              <a:spcAft>
                <a:spcPts val="0"/>
              </a:spcAft>
            </a:pPr>
            <a:r>
              <a:rPr sz="1300" b="0">
                <a:solidFill>
                  <a:srgbClr val="1C222B"/>
                </a:solidFill>
                <a:latin typeface="Calibri"/>
              </a:rPr>
              <a:t>Browser retrieval over approved seed text</a:t>
            </a:r>
          </a:p>
        </p:txBody>
      </p:sp>
      <p:sp>
        <p:nvSpPr>
          <p:cNvPr id="17" name="TextBox 16"/>
          <p:cNvSpPr txBox="1"/>
          <p:nvPr/>
        </p:nvSpPr>
        <p:spPr>
          <a:xfrm>
            <a:off x="7680960" y="1828800"/>
            <a:ext cx="3886200" cy="768096"/>
          </a:xfrm>
          <a:prstGeom prst="rect">
            <a:avLst/>
          </a:prstGeom>
          <a:noFill/>
        </p:spPr>
        <p:txBody>
          <a:bodyPr wrap="square" anchor="ctr"/>
          <a:lstStyle/>
          <a:p>
            <a:pPr algn="l">
              <a:spcBef>
                <a:spcPts val="0"/>
              </a:spcBef>
              <a:spcAft>
                <a:spcPts val="0"/>
              </a:spcAft>
            </a:pPr>
            <a:r>
              <a:rPr sz="1300" b="0">
                <a:solidFill>
                  <a:srgbClr val="1C222B"/>
                </a:solidFill>
                <a:latin typeface="Calibri"/>
              </a:rPr>
              <a:t>SQL filter before the model is called</a:t>
            </a:r>
          </a:p>
        </p:txBody>
      </p:sp>
      <p:sp>
        <p:nvSpPr>
          <p:cNvPr id="18" name="Rounded Rectangle 17"/>
          <p:cNvSpPr/>
          <p:nvPr/>
        </p:nvSpPr>
        <p:spPr>
          <a:xfrm>
            <a:off x="420624" y="2651760"/>
            <a:ext cx="11338560" cy="768096"/>
          </a:xfrm>
          <a:prstGeom prst="roundRect">
            <a:avLst>
              <a:gd name="adj" fmla="val 4000"/>
            </a:avLst>
          </a:prstGeom>
          <a:solidFill>
            <a:srgbClr val="FBF6EE"/>
          </a:solidFill>
          <a:ln>
            <a:noFill/>
          </a:ln>
        </p:spPr>
        <p:txBody>
          <a:bodyPr rtlCol="0" anchor="ctr"/>
          <a:lstStyle/>
          <a:p>
            <a:pPr algn="ctr"/>
          </a:p>
        </p:txBody>
      </p:sp>
      <p:sp>
        <p:nvSpPr>
          <p:cNvPr id="19" name="TextBox 18"/>
          <p:cNvSpPr txBox="1"/>
          <p:nvPr/>
        </p:nvSpPr>
        <p:spPr>
          <a:xfrm>
            <a:off x="548640" y="2651760"/>
            <a:ext cx="3017520" cy="768096"/>
          </a:xfrm>
          <a:prstGeom prst="rect">
            <a:avLst/>
          </a:prstGeom>
          <a:noFill/>
        </p:spPr>
        <p:txBody>
          <a:bodyPr wrap="square" anchor="ctr"/>
          <a:lstStyle/>
          <a:p>
            <a:pPr algn="l">
              <a:spcBef>
                <a:spcPts val="0"/>
              </a:spcBef>
              <a:spcAft>
                <a:spcPts val="0"/>
              </a:spcAft>
            </a:pPr>
            <a:r>
              <a:rPr sz="1300" b="1">
                <a:solidFill>
                  <a:srgbClr val="142238"/>
                </a:solidFill>
                <a:latin typeface="Calibri"/>
              </a:rPr>
              <a:t>Where the secret lives</a:t>
            </a:r>
          </a:p>
        </p:txBody>
      </p:sp>
      <p:sp>
        <p:nvSpPr>
          <p:cNvPr id="20" name="TextBox 19"/>
          <p:cNvSpPr txBox="1"/>
          <p:nvPr/>
        </p:nvSpPr>
        <p:spPr>
          <a:xfrm>
            <a:off x="3657600" y="2651760"/>
            <a:ext cx="3886200" cy="768096"/>
          </a:xfrm>
          <a:prstGeom prst="rect">
            <a:avLst/>
          </a:prstGeom>
          <a:noFill/>
        </p:spPr>
        <p:txBody>
          <a:bodyPr wrap="square" anchor="ctr"/>
          <a:lstStyle/>
          <a:p>
            <a:pPr algn="l">
              <a:spcBef>
                <a:spcPts val="0"/>
              </a:spcBef>
              <a:spcAft>
                <a:spcPts val="0"/>
              </a:spcAft>
            </a:pPr>
            <a:r>
              <a:rPr sz="1300" b="0">
                <a:solidFill>
                  <a:srgbClr val="1C222B"/>
                </a:solidFill>
                <a:latin typeface="Calibri"/>
              </a:rPr>
              <a:t>No model key in the repo</a:t>
            </a:r>
          </a:p>
        </p:txBody>
      </p:sp>
      <p:sp>
        <p:nvSpPr>
          <p:cNvPr id="21" name="TextBox 20"/>
          <p:cNvSpPr txBox="1"/>
          <p:nvPr/>
        </p:nvSpPr>
        <p:spPr>
          <a:xfrm>
            <a:off x="7680960" y="2651760"/>
            <a:ext cx="3886200" cy="768096"/>
          </a:xfrm>
          <a:prstGeom prst="rect">
            <a:avLst/>
          </a:prstGeom>
          <a:noFill/>
        </p:spPr>
        <p:txBody>
          <a:bodyPr wrap="square" anchor="ctr"/>
          <a:lstStyle/>
          <a:p>
            <a:pPr algn="l">
              <a:spcBef>
                <a:spcPts val="0"/>
              </a:spcBef>
              <a:spcAft>
                <a:spcPts val="0"/>
              </a:spcAft>
            </a:pPr>
            <a:r>
              <a:rPr sz="1300" b="0">
                <a:solidFill>
                  <a:srgbClr val="1C222B"/>
                </a:solidFill>
                <a:latin typeface="Calibri"/>
              </a:rPr>
              <a:t>Key on the server only; test guards the client</a:t>
            </a:r>
          </a:p>
        </p:txBody>
      </p:sp>
      <p:sp>
        <p:nvSpPr>
          <p:cNvPr id="22" name="Rounded Rectangle 21"/>
          <p:cNvSpPr/>
          <p:nvPr/>
        </p:nvSpPr>
        <p:spPr>
          <a:xfrm>
            <a:off x="420624" y="3474720"/>
            <a:ext cx="11338560" cy="768096"/>
          </a:xfrm>
          <a:prstGeom prst="roundRect">
            <a:avLst>
              <a:gd name="adj" fmla="val 4000"/>
            </a:avLst>
          </a:prstGeom>
          <a:solidFill>
            <a:srgbClr val="FFFFFF"/>
          </a:solidFill>
          <a:ln>
            <a:noFill/>
          </a:ln>
        </p:spPr>
        <p:txBody>
          <a:bodyPr rtlCol="0" anchor="ctr"/>
          <a:lstStyle/>
          <a:p>
            <a:pPr algn="ctr"/>
          </a:p>
        </p:txBody>
      </p:sp>
      <p:sp>
        <p:nvSpPr>
          <p:cNvPr id="23" name="TextBox 22"/>
          <p:cNvSpPr txBox="1"/>
          <p:nvPr/>
        </p:nvSpPr>
        <p:spPr>
          <a:xfrm>
            <a:off x="548640" y="3474720"/>
            <a:ext cx="3017520" cy="768096"/>
          </a:xfrm>
          <a:prstGeom prst="rect">
            <a:avLst/>
          </a:prstGeom>
          <a:noFill/>
        </p:spPr>
        <p:txBody>
          <a:bodyPr wrap="square" anchor="ctr"/>
          <a:lstStyle/>
          <a:p>
            <a:pPr algn="l">
              <a:spcBef>
                <a:spcPts val="0"/>
              </a:spcBef>
              <a:spcAft>
                <a:spcPts val="0"/>
              </a:spcAft>
            </a:pPr>
            <a:r>
              <a:rPr sz="1300" b="1">
                <a:solidFill>
                  <a:srgbClr val="142238"/>
                </a:solidFill>
                <a:latin typeface="Calibri"/>
              </a:rPr>
              <a:t>What failure looks like</a:t>
            </a:r>
          </a:p>
        </p:txBody>
      </p:sp>
      <p:sp>
        <p:nvSpPr>
          <p:cNvPr id="24" name="TextBox 23"/>
          <p:cNvSpPr txBox="1"/>
          <p:nvPr/>
        </p:nvSpPr>
        <p:spPr>
          <a:xfrm>
            <a:off x="3657600" y="3474720"/>
            <a:ext cx="3886200" cy="768096"/>
          </a:xfrm>
          <a:prstGeom prst="rect">
            <a:avLst/>
          </a:prstGeom>
          <a:noFill/>
        </p:spPr>
        <p:txBody>
          <a:bodyPr wrap="square" anchor="ctr"/>
          <a:lstStyle/>
          <a:p>
            <a:pPr algn="l">
              <a:spcBef>
                <a:spcPts val="0"/>
              </a:spcBef>
              <a:spcAft>
                <a:spcPts val="0"/>
              </a:spcAft>
            </a:pPr>
            <a:r>
              <a:rPr sz="1300" b="0">
                <a:solidFill>
                  <a:srgbClr val="1C222B"/>
                </a:solidFill>
                <a:latin typeface="Calibri"/>
              </a:rPr>
              <a:t>Abstain, or a version warning</a:t>
            </a:r>
          </a:p>
        </p:txBody>
      </p:sp>
      <p:sp>
        <p:nvSpPr>
          <p:cNvPr id="25" name="TextBox 24"/>
          <p:cNvSpPr txBox="1"/>
          <p:nvPr/>
        </p:nvSpPr>
        <p:spPr>
          <a:xfrm>
            <a:off x="7680960" y="3474720"/>
            <a:ext cx="3886200" cy="768096"/>
          </a:xfrm>
          <a:prstGeom prst="rect">
            <a:avLst/>
          </a:prstGeom>
          <a:noFill/>
        </p:spPr>
        <p:txBody>
          <a:bodyPr wrap="square" anchor="ctr"/>
          <a:lstStyle/>
          <a:p>
            <a:pPr algn="l">
              <a:spcBef>
                <a:spcPts val="0"/>
              </a:spcBef>
              <a:spcAft>
                <a:spcPts val="0"/>
              </a:spcAft>
            </a:pPr>
            <a:r>
              <a:rPr sz="1300" b="0">
                <a:solidFill>
                  <a:srgbClr val="1C222B"/>
                </a:solidFill>
                <a:latin typeface="Calibri"/>
              </a:rPr>
              <a:t>Visible fallback, or an empty eligible set</a:t>
            </a:r>
          </a:p>
        </p:txBody>
      </p:sp>
      <p:sp>
        <p:nvSpPr>
          <p:cNvPr id="26" name="Rounded Rectangle 25"/>
          <p:cNvSpPr/>
          <p:nvPr/>
        </p:nvSpPr>
        <p:spPr>
          <a:xfrm>
            <a:off x="420624" y="4297680"/>
            <a:ext cx="11338560" cy="768096"/>
          </a:xfrm>
          <a:prstGeom prst="roundRect">
            <a:avLst>
              <a:gd name="adj" fmla="val 4000"/>
            </a:avLst>
          </a:prstGeom>
          <a:solidFill>
            <a:srgbClr val="FBF6EE"/>
          </a:solidFill>
          <a:ln>
            <a:noFill/>
          </a:ln>
        </p:spPr>
        <p:txBody>
          <a:bodyPr rtlCol="0" anchor="ctr"/>
          <a:lstStyle/>
          <a:p>
            <a:pPr algn="ctr"/>
          </a:p>
        </p:txBody>
      </p:sp>
      <p:sp>
        <p:nvSpPr>
          <p:cNvPr id="27" name="TextBox 26"/>
          <p:cNvSpPr txBox="1"/>
          <p:nvPr/>
        </p:nvSpPr>
        <p:spPr>
          <a:xfrm>
            <a:off x="548640" y="4297680"/>
            <a:ext cx="3017520" cy="768096"/>
          </a:xfrm>
          <a:prstGeom prst="rect">
            <a:avLst/>
          </a:prstGeom>
          <a:noFill/>
        </p:spPr>
        <p:txBody>
          <a:bodyPr wrap="square" anchor="ctr"/>
          <a:lstStyle/>
          <a:p>
            <a:pPr algn="l">
              <a:spcBef>
                <a:spcPts val="0"/>
              </a:spcBef>
              <a:spcAft>
                <a:spcPts val="0"/>
              </a:spcAft>
            </a:pPr>
            <a:r>
              <a:rPr sz="1300" b="1">
                <a:solidFill>
                  <a:srgbClr val="142238"/>
                </a:solidFill>
                <a:latin typeface="Calibri"/>
              </a:rPr>
              <a:t>What is public</a:t>
            </a:r>
          </a:p>
        </p:txBody>
      </p:sp>
      <p:sp>
        <p:nvSpPr>
          <p:cNvPr id="28" name="TextBox 27"/>
          <p:cNvSpPr txBox="1"/>
          <p:nvPr/>
        </p:nvSpPr>
        <p:spPr>
          <a:xfrm>
            <a:off x="3657600" y="4297680"/>
            <a:ext cx="3886200" cy="768096"/>
          </a:xfrm>
          <a:prstGeom prst="rect">
            <a:avLst/>
          </a:prstGeom>
          <a:noFill/>
        </p:spPr>
        <p:txBody>
          <a:bodyPr wrap="square" anchor="ctr"/>
          <a:lstStyle/>
          <a:p>
            <a:pPr algn="l">
              <a:spcBef>
                <a:spcPts val="0"/>
              </a:spcBef>
              <a:spcAft>
                <a:spcPts val="0"/>
              </a:spcAft>
            </a:pPr>
            <a:r>
              <a:rPr sz="1300" b="0">
                <a:solidFill>
                  <a:srgbClr val="1C222B"/>
                </a:solidFill>
                <a:latin typeface="Calibri"/>
              </a:rPr>
              <a:t>Prototype host and a separate repository</a:t>
            </a:r>
          </a:p>
        </p:txBody>
      </p:sp>
      <p:sp>
        <p:nvSpPr>
          <p:cNvPr id="29" name="TextBox 28"/>
          <p:cNvSpPr txBox="1"/>
          <p:nvPr/>
        </p:nvSpPr>
        <p:spPr>
          <a:xfrm>
            <a:off x="7680960" y="4297680"/>
            <a:ext cx="3886200" cy="768096"/>
          </a:xfrm>
          <a:prstGeom prst="rect">
            <a:avLst/>
          </a:prstGeom>
          <a:noFill/>
        </p:spPr>
        <p:txBody>
          <a:bodyPr wrap="square" anchor="ctr"/>
          <a:lstStyle/>
          <a:p>
            <a:pPr algn="l">
              <a:spcBef>
                <a:spcPts val="0"/>
              </a:spcBef>
              <a:spcAft>
                <a:spcPts val="0"/>
              </a:spcAft>
            </a:pPr>
            <a:r>
              <a:rPr sz="1300" b="0">
                <a:solidFill>
                  <a:srgbClr val="1C222B"/>
                </a:solidFill>
                <a:latin typeface="Calibri"/>
              </a:rPr>
              <a:t>One URL serves the page and the API</a:t>
            </a:r>
          </a:p>
        </p:txBody>
      </p:sp>
      <p:sp>
        <p:nvSpPr>
          <p:cNvPr id="30" name="Rounded Rectangle 29"/>
          <p:cNvSpPr/>
          <p:nvPr/>
        </p:nvSpPr>
        <p:spPr>
          <a:xfrm>
            <a:off x="420624" y="5120640"/>
            <a:ext cx="11338560" cy="768096"/>
          </a:xfrm>
          <a:prstGeom prst="roundRect">
            <a:avLst>
              <a:gd name="adj" fmla="val 4000"/>
            </a:avLst>
          </a:prstGeom>
          <a:solidFill>
            <a:srgbClr val="FFFFFF"/>
          </a:solidFill>
          <a:ln>
            <a:noFill/>
          </a:ln>
        </p:spPr>
        <p:txBody>
          <a:bodyPr rtlCol="0" anchor="ctr"/>
          <a:lstStyle/>
          <a:p>
            <a:pPr algn="ctr"/>
          </a:p>
        </p:txBody>
      </p:sp>
      <p:sp>
        <p:nvSpPr>
          <p:cNvPr id="31" name="TextBox 30"/>
          <p:cNvSpPr txBox="1"/>
          <p:nvPr/>
        </p:nvSpPr>
        <p:spPr>
          <a:xfrm>
            <a:off x="548640" y="5120640"/>
            <a:ext cx="3017520" cy="768096"/>
          </a:xfrm>
          <a:prstGeom prst="rect">
            <a:avLst/>
          </a:prstGeom>
          <a:noFill/>
        </p:spPr>
        <p:txBody>
          <a:bodyPr wrap="square" anchor="ctr"/>
          <a:lstStyle/>
          <a:p>
            <a:pPr algn="l">
              <a:spcBef>
                <a:spcPts val="0"/>
              </a:spcBef>
              <a:spcAft>
                <a:spcPts val="0"/>
              </a:spcAft>
            </a:pPr>
            <a:r>
              <a:rPr sz="1300" b="1">
                <a:solidFill>
                  <a:srgbClr val="142238"/>
                </a:solidFill>
                <a:latin typeface="Calibri"/>
              </a:rPr>
              <a:t>What I would repeat</a:t>
            </a:r>
          </a:p>
        </p:txBody>
      </p:sp>
      <p:sp>
        <p:nvSpPr>
          <p:cNvPr id="32" name="TextBox 31"/>
          <p:cNvSpPr txBox="1"/>
          <p:nvPr/>
        </p:nvSpPr>
        <p:spPr>
          <a:xfrm>
            <a:off x="3657600" y="5120640"/>
            <a:ext cx="3886200" cy="768096"/>
          </a:xfrm>
          <a:prstGeom prst="rect">
            <a:avLst/>
          </a:prstGeom>
          <a:noFill/>
        </p:spPr>
        <p:txBody>
          <a:bodyPr wrap="square" anchor="ctr"/>
          <a:lstStyle/>
          <a:p>
            <a:pPr algn="l">
              <a:spcBef>
                <a:spcPts val="0"/>
              </a:spcBef>
              <a:spcAft>
                <a:spcPts val="0"/>
              </a:spcAft>
            </a:pPr>
            <a:r>
              <a:rPr sz="1300" b="0">
                <a:solidFill>
                  <a:srgbClr val="1C222B"/>
                </a:solidFill>
                <a:latin typeface="Calibri"/>
              </a:rPr>
              <a:t>Rename to match the job; keep the gold cases</a:t>
            </a:r>
          </a:p>
        </p:txBody>
      </p:sp>
      <p:sp>
        <p:nvSpPr>
          <p:cNvPr id="33" name="TextBox 32"/>
          <p:cNvSpPr txBox="1"/>
          <p:nvPr/>
        </p:nvSpPr>
        <p:spPr>
          <a:xfrm>
            <a:off x="7680960" y="5120640"/>
            <a:ext cx="3886200" cy="768096"/>
          </a:xfrm>
          <a:prstGeom prst="rect">
            <a:avLst/>
          </a:prstGeom>
          <a:noFill/>
        </p:spPr>
        <p:txBody>
          <a:bodyPr wrap="square" anchor="ctr"/>
          <a:lstStyle/>
          <a:p>
            <a:pPr algn="l">
              <a:spcBef>
                <a:spcPts val="0"/>
              </a:spcBef>
              <a:spcAft>
                <a:spcPts val="0"/>
              </a:spcAft>
            </a:pPr>
            <a:r>
              <a:rPr sz="1300" b="0">
                <a:solidFill>
                  <a:srgbClr val="1C222B"/>
                </a:solidFill>
                <a:latin typeface="Calibri"/>
              </a:rPr>
              <a:t>Write the refusal test before the happy path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6858000"/>
          </a:xfrm>
          <a:prstGeom prst="rect">
            <a:avLst/>
          </a:prstGeom>
          <a:solidFill>
            <a:srgbClr val="F6F3EC"/>
          </a:solidFill>
          <a:ln>
            <a:noFill/>
          </a:ln>
        </p:spPr>
        <p:txBody>
          <a:bodyPr rtlCol="0" anchor="ctr"/>
          <a:lstStyle/>
          <a:p>
            <a:pPr algn="ctr"/>
          </a:p>
        </p:txBody>
      </p:sp>
      <p:sp>
        <p:nvSpPr>
          <p:cNvPr id="3" name="Rectangle 2"/>
          <p:cNvSpPr/>
          <p:nvPr/>
        </p:nvSpPr>
        <p:spPr>
          <a:xfrm>
            <a:off x="0" y="0"/>
            <a:ext cx="12198096" cy="73152"/>
          </a:xfrm>
          <a:prstGeom prst="rect">
            <a:avLst/>
          </a:prstGeom>
          <a:solidFill>
            <a:srgbClr val="8C6A32"/>
          </a:solidFill>
          <a:ln>
            <a:noFill/>
          </a:ln>
        </p:spPr>
        <p:txBody>
          <a:bodyPr rtlCol="0" anchor="ctr"/>
          <a:lstStyle/>
          <a:p>
            <a:pPr algn="ctr"/>
          </a:p>
        </p:txBody>
      </p:sp>
      <p:sp>
        <p:nvSpPr>
          <p:cNvPr id="4" name="TextBox 3"/>
          <p:cNvSpPr txBox="1"/>
          <p:nvPr/>
        </p:nvSpPr>
        <p:spPr>
          <a:xfrm>
            <a:off x="420624" y="201168"/>
            <a:ext cx="11155680" cy="256032"/>
          </a:xfrm>
          <a:prstGeom prst="rect">
            <a:avLst/>
          </a:prstGeom>
          <a:noFill/>
        </p:spPr>
        <p:txBody>
          <a:bodyPr wrap="square" anchor="t"/>
          <a:lstStyle/>
          <a:p>
            <a:pPr algn="l">
              <a:spcBef>
                <a:spcPts val="0"/>
              </a:spcBef>
              <a:spcAft>
                <a:spcPts val="0"/>
              </a:spcAft>
            </a:pPr>
            <a:r>
              <a:rPr sz="1200" b="1">
                <a:solidFill>
                  <a:srgbClr val="8C6A32"/>
                </a:solidFill>
                <a:latin typeface="Calibri"/>
              </a:rPr>
              <a:t>VALUE</a:t>
            </a:r>
          </a:p>
        </p:txBody>
      </p:sp>
      <p:sp>
        <p:nvSpPr>
          <p:cNvPr id="5" name="TextBox 4"/>
          <p:cNvSpPr txBox="1"/>
          <p:nvPr/>
        </p:nvSpPr>
        <p:spPr>
          <a:xfrm>
            <a:off x="420624" y="438912"/>
            <a:ext cx="11247120" cy="566928"/>
          </a:xfrm>
          <a:prstGeom prst="rect">
            <a:avLst/>
          </a:prstGeom>
          <a:noFill/>
        </p:spPr>
        <p:txBody>
          <a:bodyPr wrap="square" anchor="t"/>
          <a:lstStyle/>
          <a:p>
            <a:pPr algn="l">
              <a:spcBef>
                <a:spcPts val="0"/>
              </a:spcBef>
              <a:spcAft>
                <a:spcPts val="0"/>
              </a:spcAft>
            </a:pPr>
            <a:r>
              <a:rPr sz="2600" b="1">
                <a:solidFill>
                  <a:srgbClr val="142238"/>
                </a:solidFill>
                <a:latin typeface="Calibri"/>
              </a:rPr>
              <a:t>Who is helped, and how the work gets smaller</a:t>
            </a:r>
          </a:p>
        </p:txBody>
      </p:sp>
      <p:sp>
        <p:nvSpPr>
          <p:cNvPr id="6" name="Rectangle 5"/>
          <p:cNvSpPr/>
          <p:nvPr/>
        </p:nvSpPr>
        <p:spPr>
          <a:xfrm>
            <a:off x="438912" y="1042415"/>
            <a:ext cx="1234440" cy="32004"/>
          </a:xfrm>
          <a:prstGeom prst="rect">
            <a:avLst/>
          </a:prstGeom>
          <a:solidFill>
            <a:srgbClr val="8C6A32"/>
          </a:solidFill>
          <a:ln>
            <a:noFill/>
          </a:ln>
        </p:spPr>
        <p:txBody>
          <a:bodyPr rtlCol="0" anchor="ctr"/>
          <a:lstStyle/>
          <a:p>
            <a:pPr algn="ctr"/>
          </a:p>
        </p:txBody>
      </p:sp>
      <p:sp>
        <p:nvSpPr>
          <p:cNvPr id="7" name="Rectangle 6"/>
          <p:cNvSpPr/>
          <p:nvPr/>
        </p:nvSpPr>
        <p:spPr>
          <a:xfrm>
            <a:off x="0" y="6565392"/>
            <a:ext cx="12198096" cy="13716"/>
          </a:xfrm>
          <a:prstGeom prst="rect">
            <a:avLst/>
          </a:prstGeom>
          <a:solidFill>
            <a:srgbClr val="E4DBCE"/>
          </a:solidFill>
          <a:ln>
            <a:noFill/>
          </a:ln>
        </p:spPr>
        <p:txBody>
          <a:bodyPr rtlCol="0" anchor="ctr"/>
          <a:lstStyle/>
          <a:p>
            <a:pPr algn="ctr"/>
          </a:p>
        </p:txBody>
      </p:sp>
      <p:sp>
        <p:nvSpPr>
          <p:cNvPr id="8" name="TextBox 7"/>
          <p:cNvSpPr txBox="1"/>
          <p:nvPr/>
        </p:nvSpPr>
        <p:spPr>
          <a:xfrm>
            <a:off x="420624" y="6601968"/>
            <a:ext cx="8412480" cy="237744"/>
          </a:xfrm>
          <a:prstGeom prst="rect">
            <a:avLst/>
          </a:prstGeom>
          <a:noFill/>
        </p:spPr>
        <p:txBody>
          <a:bodyPr wrap="square" anchor="ctr"/>
          <a:lstStyle/>
          <a:p>
            <a:pPr algn="l">
              <a:spcBef>
                <a:spcPts val="0"/>
              </a:spcBef>
              <a:spcAft>
                <a:spcPts val="0"/>
              </a:spcAft>
            </a:pPr>
            <a:r>
              <a:rPr sz="1100" b="0">
                <a:solidFill>
                  <a:srgbClr val="5C6570"/>
                </a:solidFill>
                <a:latin typeface="Calibri"/>
              </a:rPr>
              <a:t>Pu Zeng  ·  StudyCite and BiteWise</a:t>
            </a:r>
          </a:p>
        </p:txBody>
      </p:sp>
      <p:sp>
        <p:nvSpPr>
          <p:cNvPr id="9" name="TextBox 8"/>
          <p:cNvSpPr txBox="1"/>
          <p:nvPr/>
        </p:nvSpPr>
        <p:spPr>
          <a:xfrm>
            <a:off x="9509760" y="6601968"/>
            <a:ext cx="2267712" cy="237744"/>
          </a:xfrm>
          <a:prstGeom prst="rect">
            <a:avLst/>
          </a:prstGeom>
          <a:noFill/>
        </p:spPr>
        <p:txBody>
          <a:bodyPr wrap="square" anchor="ctr"/>
          <a:lstStyle/>
          <a:p>
            <a:pPr algn="r">
              <a:spcBef>
                <a:spcPts val="0"/>
              </a:spcBef>
              <a:spcAft>
                <a:spcPts val="0"/>
              </a:spcAft>
            </a:pPr>
            <a:r>
              <a:rPr sz="1100" b="0">
                <a:solidFill>
                  <a:srgbClr val="5C6570"/>
                </a:solidFill>
                <a:latin typeface="Calibri"/>
              </a:rPr>
              <a:t>22   /   24</a:t>
            </a:r>
          </a:p>
        </p:txBody>
      </p:sp>
      <p:sp>
        <p:nvSpPr>
          <p:cNvPr id="10" name="Rounded Rectangle 9"/>
          <p:cNvSpPr/>
          <p:nvPr/>
        </p:nvSpPr>
        <p:spPr>
          <a:xfrm>
            <a:off x="420624" y="1280160"/>
            <a:ext cx="5623560" cy="4983480"/>
          </a:xfrm>
          <a:prstGeom prst="roundRect">
            <a:avLst>
              <a:gd name="adj" fmla="val 8000"/>
            </a:avLst>
          </a:prstGeom>
          <a:solidFill>
            <a:srgbClr val="FFFFFF"/>
          </a:solidFill>
          <a:ln w="12700">
            <a:solidFill>
              <a:srgbClr val="E4DBCE"/>
            </a:solidFill>
          </a:ln>
        </p:spPr>
        <p:txBody>
          <a:bodyPr rtlCol="0" anchor="ctr"/>
          <a:lstStyle/>
          <a:p>
            <a:pPr algn="ctr"/>
          </a:p>
        </p:txBody>
      </p:sp>
      <p:sp>
        <p:nvSpPr>
          <p:cNvPr id="11" name="Rectangle 10"/>
          <p:cNvSpPr/>
          <p:nvPr/>
        </p:nvSpPr>
        <p:spPr>
          <a:xfrm>
            <a:off x="420624" y="1280160"/>
            <a:ext cx="5623560" cy="91440"/>
          </a:xfrm>
          <a:prstGeom prst="rect">
            <a:avLst/>
          </a:prstGeom>
          <a:solidFill>
            <a:srgbClr val="1A6A64"/>
          </a:solidFill>
          <a:ln>
            <a:noFill/>
          </a:ln>
        </p:spPr>
        <p:txBody>
          <a:bodyPr rtlCol="0" anchor="ctr"/>
          <a:lstStyle/>
          <a:p>
            <a:pPr algn="ctr"/>
          </a:p>
        </p:txBody>
      </p:sp>
      <p:sp>
        <p:nvSpPr>
          <p:cNvPr id="12" name="TextBox 11"/>
          <p:cNvSpPr txBox="1"/>
          <p:nvPr/>
        </p:nvSpPr>
        <p:spPr>
          <a:xfrm>
            <a:off x="640080" y="1536192"/>
            <a:ext cx="5212080" cy="274320"/>
          </a:xfrm>
          <a:prstGeom prst="rect">
            <a:avLst/>
          </a:prstGeom>
          <a:noFill/>
        </p:spPr>
        <p:txBody>
          <a:bodyPr wrap="square" anchor="t"/>
          <a:lstStyle/>
          <a:p>
            <a:pPr algn="l">
              <a:spcBef>
                <a:spcPts val="0"/>
              </a:spcBef>
              <a:spcAft>
                <a:spcPts val="0"/>
              </a:spcAft>
            </a:pPr>
            <a:r>
              <a:rPr sz="1300" b="1">
                <a:solidFill>
                  <a:srgbClr val="1A6A64"/>
                </a:solidFill>
                <a:latin typeface="Calibri"/>
              </a:rPr>
              <a:t>STUDY TEAMS</a:t>
            </a:r>
          </a:p>
        </p:txBody>
      </p:sp>
      <p:sp>
        <p:nvSpPr>
          <p:cNvPr id="13" name="TextBox 12"/>
          <p:cNvSpPr txBox="1"/>
          <p:nvPr/>
        </p:nvSpPr>
        <p:spPr>
          <a:xfrm>
            <a:off x="640080" y="1874519"/>
            <a:ext cx="5212080" cy="640080"/>
          </a:xfrm>
          <a:prstGeom prst="rect">
            <a:avLst/>
          </a:prstGeom>
          <a:noFill/>
        </p:spPr>
        <p:txBody>
          <a:bodyPr wrap="square" anchor="t"/>
          <a:lstStyle/>
          <a:p>
            <a:pPr algn="l">
              <a:spcBef>
                <a:spcPts val="0"/>
              </a:spcBef>
              <a:spcAft>
                <a:spcPts val="0"/>
              </a:spcAft>
            </a:pPr>
            <a:r>
              <a:rPr sz="1800" b="1">
                <a:solidFill>
                  <a:srgbClr val="142238"/>
                </a:solidFill>
                <a:latin typeface="Calibri"/>
              </a:rPr>
              <a:t>A question ends at a versioned page, or it ends.</a:t>
            </a:r>
          </a:p>
        </p:txBody>
      </p:sp>
      <p:sp>
        <p:nvSpPr>
          <p:cNvPr id="14" name="TextBox 13"/>
          <p:cNvSpPr txBox="1"/>
          <p:nvPr/>
        </p:nvSpPr>
        <p:spPr>
          <a:xfrm>
            <a:off x="640080" y="2651760"/>
            <a:ext cx="5166360" cy="3291840"/>
          </a:xfrm>
          <a:prstGeom prst="rect">
            <a:avLst/>
          </a:prstGeom>
          <a:noFill/>
        </p:spPr>
        <p:txBody>
          <a:bodyPr wrap="square" anchor="t"/>
          <a:lstStyle/>
          <a:p>
            <a:pPr algn="l">
              <a:spcBef>
                <a:spcPts val="0"/>
              </a:spcBef>
              <a:spcAft>
                <a:spcPts val="800"/>
              </a:spcAft>
            </a:pPr>
            <a:r>
              <a:rPr sz="1400" b="0">
                <a:solidFill>
                  <a:srgbClr val="1C222B"/>
                </a:solidFill>
                <a:latin typeface="Calibri"/>
              </a:rPr>
              <a:t>•  Coordinators check visit windows, tube handling, and storage without hunting a binder.</a:t>
            </a:r>
          </a:p>
          <a:p>
            <a:pPr algn="l">
              <a:spcBef>
                <a:spcPts val="0"/>
              </a:spcBef>
              <a:spcAft>
                <a:spcPts val="800"/>
              </a:spcAft>
            </a:pPr>
            <a:r>
              <a:rPr sz="1400" b="0">
                <a:solidFill>
                  <a:srgbClr val="1C222B"/>
                </a:solidFill>
                <a:latin typeface="Calibri"/>
              </a:rPr>
              <a:t>•  A superseded platelet threshold is labeled, instead of quoted as current.</a:t>
            </a:r>
          </a:p>
          <a:p>
            <a:pPr algn="l">
              <a:spcBef>
                <a:spcPts val="0"/>
              </a:spcBef>
              <a:spcAft>
                <a:spcPts val="800"/>
              </a:spcAft>
            </a:pPr>
            <a:r>
              <a:rPr sz="1400" b="0">
                <a:solidFill>
                  <a:srgbClr val="1C222B"/>
                </a:solidFill>
                <a:latin typeface="Calibri"/>
              </a:rPr>
              <a:t>•  A site role cannot open the other study’s documents.</a:t>
            </a:r>
          </a:p>
          <a:p>
            <a:pPr algn="l">
              <a:spcBef>
                <a:spcPts val="0"/>
              </a:spcBef>
              <a:spcAft>
                <a:spcPts val="800"/>
              </a:spcAft>
            </a:pPr>
            <a:r>
              <a:rPr sz="1400" b="0">
                <a:solidFill>
                  <a:srgbClr val="1C222B"/>
                </a:solidFill>
                <a:latin typeface="Calibri"/>
              </a:rPr>
              <a:t>•  Sponsors get a retrieval product, not an unlogged clinical advisor.</a:t>
            </a:r>
          </a:p>
        </p:txBody>
      </p:sp>
      <p:sp>
        <p:nvSpPr>
          <p:cNvPr id="15" name="Rounded Rectangle 14"/>
          <p:cNvSpPr/>
          <p:nvPr/>
        </p:nvSpPr>
        <p:spPr>
          <a:xfrm>
            <a:off x="6217920" y="1280160"/>
            <a:ext cx="5532120" cy="4983480"/>
          </a:xfrm>
          <a:prstGeom prst="roundRect">
            <a:avLst>
              <a:gd name="adj" fmla="val 8000"/>
            </a:avLst>
          </a:prstGeom>
          <a:solidFill>
            <a:srgbClr val="FFFFFF"/>
          </a:solidFill>
          <a:ln w="12700">
            <a:solidFill>
              <a:srgbClr val="E4DBCE"/>
            </a:solidFill>
          </a:ln>
        </p:spPr>
        <p:txBody>
          <a:bodyPr rtlCol="0" anchor="ctr"/>
          <a:lstStyle/>
          <a:p>
            <a:pPr algn="ctr"/>
          </a:p>
        </p:txBody>
      </p:sp>
      <p:sp>
        <p:nvSpPr>
          <p:cNvPr id="16" name="Rectangle 15"/>
          <p:cNvSpPr/>
          <p:nvPr/>
        </p:nvSpPr>
        <p:spPr>
          <a:xfrm>
            <a:off x="6217920" y="1280160"/>
            <a:ext cx="5532120" cy="91440"/>
          </a:xfrm>
          <a:prstGeom prst="rect">
            <a:avLst/>
          </a:prstGeom>
          <a:solidFill>
            <a:srgbClr val="C2562A"/>
          </a:solidFill>
          <a:ln>
            <a:noFill/>
          </a:ln>
        </p:spPr>
        <p:txBody>
          <a:bodyPr rtlCol="0" anchor="ctr"/>
          <a:lstStyle/>
          <a:p>
            <a:pPr algn="ctr"/>
          </a:p>
        </p:txBody>
      </p:sp>
      <p:sp>
        <p:nvSpPr>
          <p:cNvPr id="17" name="TextBox 16"/>
          <p:cNvSpPr txBox="1"/>
          <p:nvPr/>
        </p:nvSpPr>
        <p:spPr>
          <a:xfrm>
            <a:off x="6437376" y="1536192"/>
            <a:ext cx="5120640" cy="274320"/>
          </a:xfrm>
          <a:prstGeom prst="rect">
            <a:avLst/>
          </a:prstGeom>
          <a:noFill/>
        </p:spPr>
        <p:txBody>
          <a:bodyPr wrap="square" anchor="t"/>
          <a:lstStyle/>
          <a:p>
            <a:pPr algn="l">
              <a:spcBef>
                <a:spcPts val="0"/>
              </a:spcBef>
              <a:spcAft>
                <a:spcPts val="0"/>
              </a:spcAft>
            </a:pPr>
            <a:r>
              <a:rPr sz="1300" b="1">
                <a:solidFill>
                  <a:srgbClr val="C2562A"/>
                </a:solidFill>
                <a:latin typeface="Calibri"/>
              </a:rPr>
              <a:t>HUNGRY PEOPLE, AND LATER A MENU OWNER</a:t>
            </a:r>
          </a:p>
        </p:txBody>
      </p:sp>
      <p:sp>
        <p:nvSpPr>
          <p:cNvPr id="18" name="TextBox 17"/>
          <p:cNvSpPr txBox="1"/>
          <p:nvPr/>
        </p:nvSpPr>
        <p:spPr>
          <a:xfrm>
            <a:off x="6437376" y="1874519"/>
            <a:ext cx="5120640" cy="640080"/>
          </a:xfrm>
          <a:prstGeom prst="rect">
            <a:avLst/>
          </a:prstGeom>
          <a:noFill/>
        </p:spPr>
        <p:txBody>
          <a:bodyPr wrap="square" anchor="t"/>
          <a:lstStyle/>
          <a:p>
            <a:pPr algn="l">
              <a:spcBef>
                <a:spcPts val="0"/>
              </a:spcBef>
              <a:spcAft>
                <a:spcPts val="0"/>
              </a:spcAft>
            </a:pPr>
            <a:r>
              <a:rPr sz="1800" b="1">
                <a:solidFill>
                  <a:srgbClr val="142238"/>
                </a:solidFill>
                <a:latin typeface="Calibri"/>
              </a:rPr>
              <a:t>Forty dishes become at most three that already qualify.</a:t>
            </a:r>
          </a:p>
        </p:txBody>
      </p:sp>
      <p:sp>
        <p:nvSpPr>
          <p:cNvPr id="19" name="TextBox 18"/>
          <p:cNvSpPr txBox="1"/>
          <p:nvPr/>
        </p:nvSpPr>
        <p:spPr>
          <a:xfrm>
            <a:off x="6437376" y="2651760"/>
            <a:ext cx="5074920" cy="3291840"/>
          </a:xfrm>
          <a:prstGeom prst="rect">
            <a:avLst/>
          </a:prstGeom>
          <a:noFill/>
        </p:spPr>
        <p:txBody>
          <a:bodyPr wrap="square" anchor="t"/>
          <a:lstStyle/>
          <a:p>
            <a:pPr algn="l">
              <a:spcBef>
                <a:spcPts val="0"/>
              </a:spcBef>
              <a:spcAft>
                <a:spcPts val="800"/>
              </a:spcAft>
            </a:pPr>
            <a:r>
              <a:rPr sz="1400" b="0">
                <a:solidFill>
                  <a:srgbClr val="1C222B"/>
                </a:solidFill>
                <a:latin typeface="Calibri"/>
              </a:rPr>
              <a:t>•  The decision left is taste, not a hunt for price and diet labels.</a:t>
            </a:r>
          </a:p>
          <a:p>
            <a:pPr algn="l">
              <a:spcBef>
                <a:spcPts val="0"/>
              </a:spcBef>
              <a:spcAft>
                <a:spcPts val="800"/>
              </a:spcAft>
            </a:pPr>
            <a:r>
              <a:rPr sz="1400" b="0">
                <a:solidFill>
                  <a:srgbClr val="1C222B"/>
                </a:solidFill>
                <a:latin typeface="Calibri"/>
              </a:rPr>
              <a:t>•  A restaurant group could attach the same filter to a real menu later.</a:t>
            </a:r>
          </a:p>
          <a:p>
            <a:pPr algn="l">
              <a:spcBef>
                <a:spcPts val="0"/>
              </a:spcBef>
              <a:spcAft>
                <a:spcPts val="800"/>
              </a:spcAft>
            </a:pPr>
            <a:r>
              <a:rPr sz="1400" b="0">
                <a:solidFill>
                  <a:srgbClr val="1C222B"/>
                </a:solidFill>
                <a:latin typeface="Calibri"/>
              </a:rPr>
              <a:t>•  No invented dish means no false item on a ticket.</a:t>
            </a:r>
          </a:p>
          <a:p>
            <a:pPr algn="l">
              <a:spcBef>
                <a:spcPts val="0"/>
              </a:spcBef>
              <a:spcAft>
                <a:spcPts val="800"/>
              </a:spcAft>
            </a:pPr>
            <a:r>
              <a:rPr sz="1400" b="0">
                <a:solidFill>
                  <a:srgbClr val="1C222B"/>
                </a:solidFill>
                <a:latin typeface="Calibri"/>
              </a:rPr>
              <a:t>•  The reason shows the sample price and the labels that qualified the meal.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6858000"/>
          </a:xfrm>
          <a:prstGeom prst="rect">
            <a:avLst/>
          </a:prstGeom>
          <a:solidFill>
            <a:srgbClr val="F6F3EC"/>
          </a:solidFill>
          <a:ln>
            <a:noFill/>
          </a:ln>
        </p:spPr>
        <p:txBody>
          <a:bodyPr rtlCol="0" anchor="ctr"/>
          <a:lstStyle/>
          <a:p>
            <a:pPr algn="ctr"/>
          </a:p>
        </p:txBody>
      </p:sp>
      <p:sp>
        <p:nvSpPr>
          <p:cNvPr id="3" name="Rectangle 2"/>
          <p:cNvSpPr/>
          <p:nvPr/>
        </p:nvSpPr>
        <p:spPr>
          <a:xfrm>
            <a:off x="0" y="0"/>
            <a:ext cx="12198096" cy="73152"/>
          </a:xfrm>
          <a:prstGeom prst="rect">
            <a:avLst/>
          </a:prstGeom>
          <a:solidFill>
            <a:srgbClr val="8C6A32"/>
          </a:solidFill>
          <a:ln>
            <a:noFill/>
          </a:ln>
        </p:spPr>
        <p:txBody>
          <a:bodyPr rtlCol="0" anchor="ctr"/>
          <a:lstStyle/>
          <a:p>
            <a:pPr algn="ctr"/>
          </a:p>
        </p:txBody>
      </p:sp>
      <p:sp>
        <p:nvSpPr>
          <p:cNvPr id="4" name="TextBox 3"/>
          <p:cNvSpPr txBox="1"/>
          <p:nvPr/>
        </p:nvSpPr>
        <p:spPr>
          <a:xfrm>
            <a:off x="420624" y="201168"/>
            <a:ext cx="11155680" cy="256032"/>
          </a:xfrm>
          <a:prstGeom prst="rect">
            <a:avLst/>
          </a:prstGeom>
          <a:noFill/>
        </p:spPr>
        <p:txBody>
          <a:bodyPr wrap="square" anchor="t"/>
          <a:lstStyle/>
          <a:p>
            <a:pPr algn="l">
              <a:spcBef>
                <a:spcPts val="0"/>
              </a:spcBef>
              <a:spcAft>
                <a:spcPts val="0"/>
              </a:spcAft>
            </a:pPr>
            <a:r>
              <a:rPr sz="1200" b="1">
                <a:solidFill>
                  <a:srgbClr val="8C6A32"/>
                </a:solidFill>
                <a:latin typeface="Calibri"/>
              </a:rPr>
              <a:t>VALUE</a:t>
            </a:r>
          </a:p>
        </p:txBody>
      </p:sp>
      <p:sp>
        <p:nvSpPr>
          <p:cNvPr id="5" name="TextBox 4"/>
          <p:cNvSpPr txBox="1"/>
          <p:nvPr/>
        </p:nvSpPr>
        <p:spPr>
          <a:xfrm>
            <a:off x="420624" y="438912"/>
            <a:ext cx="11247120" cy="566928"/>
          </a:xfrm>
          <a:prstGeom prst="rect">
            <a:avLst/>
          </a:prstGeom>
          <a:noFill/>
        </p:spPr>
        <p:txBody>
          <a:bodyPr wrap="square" anchor="t"/>
          <a:lstStyle/>
          <a:p>
            <a:pPr algn="l">
              <a:spcBef>
                <a:spcPts val="0"/>
              </a:spcBef>
              <a:spcAft>
                <a:spcPts val="0"/>
              </a:spcAft>
            </a:pPr>
            <a:r>
              <a:rPr sz="2600" b="1">
                <a:solidFill>
                  <a:srgbClr val="142238"/>
                </a:solidFill>
                <a:latin typeface="Calibri"/>
              </a:rPr>
              <a:t>Benefit, cost, and the ROI I will not invent</a:t>
            </a:r>
          </a:p>
        </p:txBody>
      </p:sp>
      <p:sp>
        <p:nvSpPr>
          <p:cNvPr id="6" name="Rectangle 5"/>
          <p:cNvSpPr/>
          <p:nvPr/>
        </p:nvSpPr>
        <p:spPr>
          <a:xfrm>
            <a:off x="438912" y="1042415"/>
            <a:ext cx="1234440" cy="32004"/>
          </a:xfrm>
          <a:prstGeom prst="rect">
            <a:avLst/>
          </a:prstGeom>
          <a:solidFill>
            <a:srgbClr val="8C6A32"/>
          </a:solidFill>
          <a:ln>
            <a:noFill/>
          </a:ln>
        </p:spPr>
        <p:txBody>
          <a:bodyPr rtlCol="0" anchor="ctr"/>
          <a:lstStyle/>
          <a:p>
            <a:pPr algn="ctr"/>
          </a:p>
        </p:txBody>
      </p:sp>
      <p:sp>
        <p:nvSpPr>
          <p:cNvPr id="7" name="Rectangle 6"/>
          <p:cNvSpPr/>
          <p:nvPr/>
        </p:nvSpPr>
        <p:spPr>
          <a:xfrm>
            <a:off x="0" y="6565392"/>
            <a:ext cx="12198096" cy="13716"/>
          </a:xfrm>
          <a:prstGeom prst="rect">
            <a:avLst/>
          </a:prstGeom>
          <a:solidFill>
            <a:srgbClr val="E4DBCE"/>
          </a:solidFill>
          <a:ln>
            <a:noFill/>
          </a:ln>
        </p:spPr>
        <p:txBody>
          <a:bodyPr rtlCol="0" anchor="ctr"/>
          <a:lstStyle/>
          <a:p>
            <a:pPr algn="ctr"/>
          </a:p>
        </p:txBody>
      </p:sp>
      <p:sp>
        <p:nvSpPr>
          <p:cNvPr id="8" name="TextBox 7"/>
          <p:cNvSpPr txBox="1"/>
          <p:nvPr/>
        </p:nvSpPr>
        <p:spPr>
          <a:xfrm>
            <a:off x="420624" y="6601968"/>
            <a:ext cx="8412480" cy="237744"/>
          </a:xfrm>
          <a:prstGeom prst="rect">
            <a:avLst/>
          </a:prstGeom>
          <a:noFill/>
        </p:spPr>
        <p:txBody>
          <a:bodyPr wrap="square" anchor="ctr"/>
          <a:lstStyle/>
          <a:p>
            <a:pPr algn="l">
              <a:spcBef>
                <a:spcPts val="0"/>
              </a:spcBef>
              <a:spcAft>
                <a:spcPts val="0"/>
              </a:spcAft>
            </a:pPr>
            <a:r>
              <a:rPr sz="1100" b="0">
                <a:solidFill>
                  <a:srgbClr val="5C6570"/>
                </a:solidFill>
                <a:latin typeface="Calibri"/>
              </a:rPr>
              <a:t>Pu Zeng  ·  StudyCite and BiteWise</a:t>
            </a:r>
          </a:p>
        </p:txBody>
      </p:sp>
      <p:sp>
        <p:nvSpPr>
          <p:cNvPr id="9" name="TextBox 8"/>
          <p:cNvSpPr txBox="1"/>
          <p:nvPr/>
        </p:nvSpPr>
        <p:spPr>
          <a:xfrm>
            <a:off x="9509760" y="6601968"/>
            <a:ext cx="2267712" cy="237744"/>
          </a:xfrm>
          <a:prstGeom prst="rect">
            <a:avLst/>
          </a:prstGeom>
          <a:noFill/>
        </p:spPr>
        <p:txBody>
          <a:bodyPr wrap="square" anchor="ctr"/>
          <a:lstStyle/>
          <a:p>
            <a:pPr algn="r">
              <a:spcBef>
                <a:spcPts val="0"/>
              </a:spcBef>
              <a:spcAft>
                <a:spcPts val="0"/>
              </a:spcAft>
            </a:pPr>
            <a:r>
              <a:rPr sz="1100" b="0">
                <a:solidFill>
                  <a:srgbClr val="5C6570"/>
                </a:solidFill>
                <a:latin typeface="Calibri"/>
              </a:rPr>
              <a:t>23   /   24</a:t>
            </a:r>
          </a:p>
        </p:txBody>
      </p:sp>
      <p:sp>
        <p:nvSpPr>
          <p:cNvPr id="10" name="Rounded Rectangle 9"/>
          <p:cNvSpPr/>
          <p:nvPr/>
        </p:nvSpPr>
        <p:spPr>
          <a:xfrm>
            <a:off x="420624" y="1280160"/>
            <a:ext cx="3657600" cy="4937760"/>
          </a:xfrm>
          <a:prstGeom prst="roundRect">
            <a:avLst>
              <a:gd name="adj" fmla="val 8000"/>
            </a:avLst>
          </a:prstGeom>
          <a:solidFill>
            <a:srgbClr val="FFFFFF"/>
          </a:solidFill>
          <a:ln w="12700">
            <a:solidFill>
              <a:srgbClr val="E4DBCE"/>
            </a:solidFill>
          </a:ln>
        </p:spPr>
        <p:txBody>
          <a:bodyPr rtlCol="0" anchor="ctr"/>
          <a:lstStyle/>
          <a:p>
            <a:pPr algn="ctr"/>
          </a:p>
        </p:txBody>
      </p:sp>
      <p:sp>
        <p:nvSpPr>
          <p:cNvPr id="11" name="TextBox 10"/>
          <p:cNvSpPr txBox="1"/>
          <p:nvPr/>
        </p:nvSpPr>
        <p:spPr>
          <a:xfrm>
            <a:off x="621792" y="1444752"/>
            <a:ext cx="3291840" cy="320040"/>
          </a:xfrm>
          <a:prstGeom prst="rect">
            <a:avLst/>
          </a:prstGeom>
          <a:noFill/>
        </p:spPr>
        <p:txBody>
          <a:bodyPr wrap="square" anchor="t"/>
          <a:lstStyle/>
          <a:p>
            <a:pPr algn="l">
              <a:spcBef>
                <a:spcPts val="0"/>
              </a:spcBef>
              <a:spcAft>
                <a:spcPts val="0"/>
              </a:spcAft>
            </a:pPr>
            <a:r>
              <a:rPr sz="1600" b="1">
                <a:solidFill>
                  <a:srgbClr val="142238"/>
                </a:solidFill>
                <a:latin typeface="Calibri"/>
              </a:rPr>
              <a:t>Cost today</a:t>
            </a:r>
          </a:p>
        </p:txBody>
      </p:sp>
      <p:sp>
        <p:nvSpPr>
          <p:cNvPr id="12" name="TextBox 11"/>
          <p:cNvSpPr txBox="1"/>
          <p:nvPr/>
        </p:nvSpPr>
        <p:spPr>
          <a:xfrm>
            <a:off x="566928" y="1965960"/>
            <a:ext cx="3337560" cy="3931920"/>
          </a:xfrm>
          <a:prstGeom prst="rect">
            <a:avLst/>
          </a:prstGeom>
          <a:noFill/>
        </p:spPr>
        <p:txBody>
          <a:bodyPr wrap="square" anchor="t"/>
          <a:lstStyle/>
          <a:p>
            <a:pPr algn="l">
              <a:spcBef>
                <a:spcPts val="0"/>
              </a:spcBef>
              <a:spcAft>
                <a:spcPts val="1000"/>
              </a:spcAft>
            </a:pPr>
            <a:r>
              <a:rPr sz="1400" b="0">
                <a:solidFill>
                  <a:srgbClr val="1C222B"/>
                </a:solidFill>
                <a:latin typeface="Calibri"/>
              </a:rPr>
              <a:t>•  StudyCite runs as a frontend prototype.</a:t>
            </a:r>
          </a:p>
          <a:p>
            <a:pPr algn="l">
              <a:spcBef>
                <a:spcPts val="0"/>
              </a:spcBef>
              <a:spcAft>
                <a:spcPts val="1000"/>
              </a:spcAft>
            </a:pPr>
            <a:r>
              <a:rPr sz="1400" b="0">
                <a:solidFill>
                  <a:srgbClr val="1C222B"/>
                </a:solidFill>
                <a:latin typeface="Calibri"/>
              </a:rPr>
              <a:t>•  BiteWise is one published Cloud Run app.</a:t>
            </a:r>
          </a:p>
          <a:p>
            <a:pPr algn="l">
              <a:spcBef>
                <a:spcPts val="0"/>
              </a:spcBef>
              <a:spcAft>
                <a:spcPts val="1000"/>
              </a:spcAft>
            </a:pPr>
            <a:r>
              <a:rPr sz="1400" b="0">
                <a:solidFill>
                  <a:srgbClr val="1C222B"/>
                </a:solidFill>
                <a:latin typeface="Calibri"/>
              </a:rPr>
              <a:t>•  Sample menus, not a data contract with a restaurant.</a:t>
            </a:r>
          </a:p>
          <a:p>
            <a:pPr algn="l">
              <a:spcBef>
                <a:spcPts val="0"/>
              </a:spcBef>
              <a:spcAft>
                <a:spcPts val="1000"/>
              </a:spcAft>
            </a:pPr>
            <a:r>
              <a:rPr sz="1400" b="0">
                <a:solidFill>
                  <a:srgbClr val="1C222B"/>
                </a:solidFill>
                <a:latin typeface="Calibri"/>
              </a:rPr>
              <a:t>•  No measured staff-time study.</a:t>
            </a:r>
          </a:p>
        </p:txBody>
      </p:sp>
      <p:sp>
        <p:nvSpPr>
          <p:cNvPr id="13" name="Rounded Rectangle 12"/>
          <p:cNvSpPr/>
          <p:nvPr/>
        </p:nvSpPr>
        <p:spPr>
          <a:xfrm>
            <a:off x="4261104" y="1280160"/>
            <a:ext cx="3657600" cy="4937760"/>
          </a:xfrm>
          <a:prstGeom prst="roundRect">
            <a:avLst>
              <a:gd name="adj" fmla="val 8000"/>
            </a:avLst>
          </a:prstGeom>
          <a:solidFill>
            <a:srgbClr val="FFFFFF"/>
          </a:solidFill>
          <a:ln w="12700">
            <a:solidFill>
              <a:srgbClr val="E4DBCE"/>
            </a:solidFill>
          </a:ln>
        </p:spPr>
        <p:txBody>
          <a:bodyPr rtlCol="0" anchor="ctr"/>
          <a:lstStyle/>
          <a:p>
            <a:pPr algn="ctr"/>
          </a:p>
        </p:txBody>
      </p:sp>
      <p:sp>
        <p:nvSpPr>
          <p:cNvPr id="14" name="TextBox 13"/>
          <p:cNvSpPr txBox="1"/>
          <p:nvPr/>
        </p:nvSpPr>
        <p:spPr>
          <a:xfrm>
            <a:off x="4462272" y="1444752"/>
            <a:ext cx="3291840" cy="320040"/>
          </a:xfrm>
          <a:prstGeom prst="rect">
            <a:avLst/>
          </a:prstGeom>
          <a:noFill/>
        </p:spPr>
        <p:txBody>
          <a:bodyPr wrap="square" anchor="t"/>
          <a:lstStyle/>
          <a:p>
            <a:pPr algn="l">
              <a:spcBef>
                <a:spcPts val="0"/>
              </a:spcBef>
              <a:spcAft>
                <a:spcPts val="0"/>
              </a:spcAft>
            </a:pPr>
            <a:r>
              <a:rPr sz="1600" b="1">
                <a:solidFill>
                  <a:srgbClr val="142238"/>
                </a:solidFill>
                <a:latin typeface="Calibri"/>
              </a:rPr>
              <a:t>Benefit I can show</a:t>
            </a:r>
          </a:p>
        </p:txBody>
      </p:sp>
      <p:sp>
        <p:nvSpPr>
          <p:cNvPr id="15" name="TextBox 14"/>
          <p:cNvSpPr txBox="1"/>
          <p:nvPr/>
        </p:nvSpPr>
        <p:spPr>
          <a:xfrm>
            <a:off x="4407408" y="1965960"/>
            <a:ext cx="3337560" cy="3931920"/>
          </a:xfrm>
          <a:prstGeom prst="rect">
            <a:avLst/>
          </a:prstGeom>
          <a:noFill/>
        </p:spPr>
        <p:txBody>
          <a:bodyPr wrap="square" anchor="t"/>
          <a:lstStyle/>
          <a:p>
            <a:pPr algn="l">
              <a:spcBef>
                <a:spcPts val="0"/>
              </a:spcBef>
              <a:spcAft>
                <a:spcPts val="1000"/>
              </a:spcAft>
            </a:pPr>
            <a:r>
              <a:rPr sz="1400" b="0">
                <a:solidFill>
                  <a:srgbClr val="1C222B"/>
                </a:solidFill>
                <a:latin typeface="Calibri"/>
              </a:rPr>
              <a:t>•  Wrong-version answers are a named test, not a hope.</a:t>
            </a:r>
          </a:p>
          <a:p>
            <a:pPr algn="l">
              <a:spcBef>
                <a:spcPts val="0"/>
              </a:spcBef>
              <a:spcAft>
                <a:spcPts val="1000"/>
              </a:spcAft>
            </a:pPr>
            <a:r>
              <a:rPr sz="1400" b="0">
                <a:solidFill>
                  <a:srgbClr val="1C222B"/>
                </a:solidFill>
                <a:latin typeface="Calibri"/>
              </a:rPr>
              <a:t>•  Ineligible meals never reach the ranker.</a:t>
            </a:r>
          </a:p>
          <a:p>
            <a:pPr algn="l">
              <a:spcBef>
                <a:spcPts val="0"/>
              </a:spcBef>
              <a:spcAft>
                <a:spcPts val="1000"/>
              </a:spcAft>
            </a:pPr>
            <a:r>
              <a:rPr sz="1400" b="0">
                <a:solidFill>
                  <a:srgbClr val="1C222B"/>
                </a:solidFill>
                <a:latin typeface="Calibri"/>
              </a:rPr>
              <a:t>•  Failures are visible: abstain, or fallback.</a:t>
            </a:r>
          </a:p>
          <a:p>
            <a:pPr algn="l">
              <a:spcBef>
                <a:spcPts val="0"/>
              </a:spcBef>
              <a:spcAft>
                <a:spcPts val="1000"/>
              </a:spcAft>
            </a:pPr>
            <a:r>
              <a:rPr sz="1400" b="0">
                <a:solidFill>
                  <a:srgbClr val="1C222B"/>
                </a:solidFill>
                <a:latin typeface="Calibri"/>
              </a:rPr>
              <a:t>•  Both public hosts can be reloaded.</a:t>
            </a:r>
          </a:p>
        </p:txBody>
      </p:sp>
      <p:sp>
        <p:nvSpPr>
          <p:cNvPr id="16" name="Rounded Rectangle 15"/>
          <p:cNvSpPr/>
          <p:nvPr/>
        </p:nvSpPr>
        <p:spPr>
          <a:xfrm>
            <a:off x="8101583" y="1280160"/>
            <a:ext cx="3657600" cy="4937760"/>
          </a:xfrm>
          <a:prstGeom prst="roundRect">
            <a:avLst>
              <a:gd name="adj" fmla="val 8000"/>
            </a:avLst>
          </a:prstGeom>
          <a:solidFill>
            <a:srgbClr val="142238"/>
          </a:solidFill>
          <a:ln w="12700">
            <a:solidFill>
              <a:srgbClr val="E4DBCE"/>
            </a:solidFill>
          </a:ln>
        </p:spPr>
        <p:txBody>
          <a:bodyPr rtlCol="0" anchor="ctr"/>
          <a:lstStyle/>
          <a:p>
            <a:pPr algn="ctr"/>
          </a:p>
        </p:txBody>
      </p:sp>
      <p:sp>
        <p:nvSpPr>
          <p:cNvPr id="17" name="TextBox 16"/>
          <p:cNvSpPr txBox="1"/>
          <p:nvPr/>
        </p:nvSpPr>
        <p:spPr>
          <a:xfrm>
            <a:off x="8302752" y="1444752"/>
            <a:ext cx="3291840" cy="640080"/>
          </a:xfrm>
          <a:prstGeom prst="rect">
            <a:avLst/>
          </a:prstGeom>
          <a:noFill/>
        </p:spPr>
        <p:txBody>
          <a:bodyPr wrap="square" anchor="t"/>
          <a:lstStyle/>
          <a:p>
            <a:pPr algn="l">
              <a:spcBef>
                <a:spcPts val="0"/>
              </a:spcBef>
              <a:spcAft>
                <a:spcPts val="0"/>
              </a:spcAft>
            </a:pPr>
            <a:r>
              <a:rPr sz="1600" b="1">
                <a:solidFill>
                  <a:srgbClr val="FFFFFF"/>
                </a:solidFill>
                <a:latin typeface="Calibri"/>
              </a:rPr>
              <a:t>What ROI would require</a:t>
            </a:r>
          </a:p>
        </p:txBody>
      </p:sp>
      <p:sp>
        <p:nvSpPr>
          <p:cNvPr id="18" name="TextBox 17"/>
          <p:cNvSpPr txBox="1"/>
          <p:nvPr/>
        </p:nvSpPr>
        <p:spPr>
          <a:xfrm>
            <a:off x="8247888" y="2194560"/>
            <a:ext cx="3291840" cy="3657600"/>
          </a:xfrm>
          <a:prstGeom prst="rect">
            <a:avLst/>
          </a:prstGeom>
          <a:noFill/>
        </p:spPr>
        <p:txBody>
          <a:bodyPr wrap="square" anchor="t"/>
          <a:lstStyle/>
          <a:p>
            <a:pPr algn="l">
              <a:spcBef>
                <a:spcPts val="0"/>
              </a:spcBef>
              <a:spcAft>
                <a:spcPts val="1000"/>
              </a:spcAft>
            </a:pPr>
            <a:r>
              <a:rPr sz="1400" b="0">
                <a:solidFill>
                  <a:srgbClr val="FFFFFF"/>
                </a:solidFill>
                <a:latin typeface="Calibri"/>
              </a:rPr>
              <a:t>•  A real document store and server-side auth.</a:t>
            </a:r>
          </a:p>
          <a:p>
            <a:pPr algn="l">
              <a:spcBef>
                <a:spcPts val="0"/>
              </a:spcBef>
              <a:spcAft>
                <a:spcPts val="1000"/>
              </a:spcAft>
            </a:pPr>
            <a:r>
              <a:rPr sz="1400" b="0">
                <a:solidFill>
                  <a:srgbClr val="FFFFFF"/>
                </a:solidFill>
                <a:latin typeface="Calibri"/>
              </a:rPr>
              <a:t>•  A timed baseline against manual search.</a:t>
            </a:r>
          </a:p>
          <a:p>
            <a:pPr algn="l">
              <a:spcBef>
                <a:spcPts val="0"/>
              </a:spcBef>
              <a:spcAft>
                <a:spcPts val="1000"/>
              </a:spcAft>
            </a:pPr>
            <a:r>
              <a:rPr sz="1400" b="0">
                <a:solidFill>
                  <a:srgbClr val="FFFFFF"/>
                </a:solidFill>
                <a:latin typeface="Calibri"/>
              </a:rPr>
              <a:t>•  A real menu with verified labels.</a:t>
            </a:r>
          </a:p>
          <a:p>
            <a:pPr algn="l">
              <a:spcBef>
                <a:spcPts val="0"/>
              </a:spcBef>
              <a:spcAft>
                <a:spcPts val="1000"/>
              </a:spcAft>
            </a:pPr>
            <a:r>
              <a:rPr sz="1400" b="0">
                <a:solidFill>
                  <a:srgbClr val="FFFFFF"/>
                </a:solidFill>
                <a:latin typeface="Calibri"/>
              </a:rPr>
              <a:t>•  Those numbers are not in either repository.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6858000"/>
          </a:xfrm>
          <a:prstGeom prst="rect">
            <a:avLst/>
          </a:prstGeom>
          <a:solidFill>
            <a:srgbClr val="142238"/>
          </a:solidFill>
          <a:ln>
            <a:noFill/>
          </a:ln>
        </p:spPr>
        <p:txBody>
          <a:bodyPr rtlCol="0" anchor="ctr"/>
          <a:lstStyle/>
          <a:p>
            <a:pPr algn="ctr"/>
          </a:p>
        </p:txBody>
      </p:sp>
      <p:sp>
        <p:nvSpPr>
          <p:cNvPr id="3" name="Rectangle 2"/>
          <p:cNvSpPr/>
          <p:nvPr/>
        </p:nvSpPr>
        <p:spPr>
          <a:xfrm>
            <a:off x="0" y="0"/>
            <a:ext cx="146304" cy="6858000"/>
          </a:xfrm>
          <a:prstGeom prst="rect">
            <a:avLst/>
          </a:prstGeom>
          <a:solidFill>
            <a:srgbClr val="8C6A32"/>
          </a:solidFill>
          <a:ln>
            <a:noFill/>
          </a:ln>
        </p:spPr>
        <p:txBody>
          <a:bodyPr rtlCol="0" anchor="ctr"/>
          <a:lstStyle/>
          <a:p>
            <a:pPr algn="ctr"/>
          </a:p>
        </p:txBody>
      </p:sp>
      <p:sp>
        <p:nvSpPr>
          <p:cNvPr id="4" name="TextBox 3"/>
          <p:cNvSpPr txBox="1"/>
          <p:nvPr/>
        </p:nvSpPr>
        <p:spPr>
          <a:xfrm>
            <a:off x="640080" y="292608"/>
            <a:ext cx="9144000" cy="256032"/>
          </a:xfrm>
          <a:prstGeom prst="rect">
            <a:avLst/>
          </a:prstGeom>
          <a:noFill/>
        </p:spPr>
        <p:txBody>
          <a:bodyPr wrap="square" anchor="t"/>
          <a:lstStyle/>
          <a:p>
            <a:pPr algn="l">
              <a:spcBef>
                <a:spcPts val="0"/>
              </a:spcBef>
              <a:spcAft>
                <a:spcPts val="0"/>
              </a:spcAft>
            </a:pPr>
            <a:r>
              <a:rPr sz="1300" b="1">
                <a:solidFill>
                  <a:srgbClr val="E4D2B0"/>
                </a:solidFill>
                <a:latin typeface="Calibri"/>
              </a:rPr>
              <a:t>CONCLUSION</a:t>
            </a:r>
          </a:p>
        </p:txBody>
      </p:sp>
      <p:sp>
        <p:nvSpPr>
          <p:cNvPr id="5" name="TextBox 4"/>
          <p:cNvSpPr txBox="1"/>
          <p:nvPr/>
        </p:nvSpPr>
        <p:spPr>
          <a:xfrm>
            <a:off x="621792" y="621792"/>
            <a:ext cx="10972800" cy="640080"/>
          </a:xfrm>
          <a:prstGeom prst="rect">
            <a:avLst/>
          </a:prstGeom>
          <a:noFill/>
        </p:spPr>
        <p:txBody>
          <a:bodyPr wrap="square" anchor="t"/>
          <a:lstStyle/>
          <a:p>
            <a:pPr algn="l">
              <a:spcBef>
                <a:spcPts val="0"/>
              </a:spcBef>
              <a:spcAft>
                <a:spcPts val="0"/>
              </a:spcAft>
            </a:pPr>
            <a:r>
              <a:rPr sz="2800" b="1">
                <a:solidFill>
                  <a:srgbClr val="FFFFFF"/>
                </a:solidFill>
                <a:latin typeface="Calibri"/>
              </a:rPr>
              <a:t>Keep the filter. Then earn a larger corpus.</a:t>
            </a:r>
          </a:p>
        </p:txBody>
      </p:sp>
      <p:sp>
        <p:nvSpPr>
          <p:cNvPr id="6" name="TextBox 5"/>
          <p:cNvSpPr txBox="1"/>
          <p:nvPr/>
        </p:nvSpPr>
        <p:spPr>
          <a:xfrm>
            <a:off x="658368" y="1463040"/>
            <a:ext cx="10972800" cy="292608"/>
          </a:xfrm>
          <a:prstGeom prst="rect">
            <a:avLst/>
          </a:prstGeom>
          <a:noFill/>
        </p:spPr>
        <p:txBody>
          <a:bodyPr wrap="square" anchor="t"/>
          <a:lstStyle/>
          <a:p>
            <a:pPr algn="l">
              <a:spcBef>
                <a:spcPts val="0"/>
              </a:spcBef>
              <a:spcAft>
                <a:spcPts val="0"/>
              </a:spcAft>
            </a:pPr>
            <a:r>
              <a:rPr sz="1500" b="1">
                <a:solidFill>
                  <a:srgbClr val="F0C2A8"/>
                </a:solidFill>
                <a:latin typeface="Calibri"/>
              </a:rPr>
              <a:t>StudyCite next</a:t>
            </a:r>
          </a:p>
        </p:txBody>
      </p:sp>
      <p:sp>
        <p:nvSpPr>
          <p:cNvPr id="7" name="TextBox 6"/>
          <p:cNvSpPr txBox="1"/>
          <p:nvPr/>
        </p:nvSpPr>
        <p:spPr>
          <a:xfrm>
            <a:off x="658368" y="1773936"/>
            <a:ext cx="10972800" cy="640080"/>
          </a:xfrm>
          <a:prstGeom prst="rect">
            <a:avLst/>
          </a:prstGeom>
          <a:noFill/>
        </p:spPr>
        <p:txBody>
          <a:bodyPr wrap="square" anchor="t"/>
          <a:lstStyle/>
          <a:p>
            <a:pPr algn="l">
              <a:spcBef>
                <a:spcPts val="0"/>
              </a:spcBef>
              <a:spcAft>
                <a:spcPts val="0"/>
              </a:spcAft>
            </a:pPr>
            <a:r>
              <a:rPr sz="1500" b="0">
                <a:solidFill>
                  <a:srgbClr val="E6E1D6"/>
                </a:solidFill>
                <a:latin typeface="Calibri"/>
              </a:rPr>
              <a:t>Move retrieval to a server. Replace the role menu with real identity. Keep abstention and the version trap. pgvector only after the authorization filter is server-side.</a:t>
            </a:r>
          </a:p>
        </p:txBody>
      </p:sp>
      <p:sp>
        <p:nvSpPr>
          <p:cNvPr id="8" name="TextBox 7"/>
          <p:cNvSpPr txBox="1"/>
          <p:nvPr/>
        </p:nvSpPr>
        <p:spPr>
          <a:xfrm>
            <a:off x="658368" y="2514600"/>
            <a:ext cx="10972800" cy="292608"/>
          </a:xfrm>
          <a:prstGeom prst="rect">
            <a:avLst/>
          </a:prstGeom>
          <a:noFill/>
        </p:spPr>
        <p:txBody>
          <a:bodyPr wrap="square" anchor="t"/>
          <a:lstStyle/>
          <a:p>
            <a:pPr algn="l">
              <a:spcBef>
                <a:spcPts val="0"/>
              </a:spcBef>
              <a:spcAft>
                <a:spcPts val="0"/>
              </a:spcAft>
            </a:pPr>
            <a:r>
              <a:rPr sz="1500" b="1">
                <a:solidFill>
                  <a:srgbClr val="F0C2A8"/>
                </a:solidFill>
                <a:latin typeface="Calibri"/>
              </a:rPr>
              <a:t>BiteWise next</a:t>
            </a:r>
          </a:p>
        </p:txBody>
      </p:sp>
      <p:sp>
        <p:nvSpPr>
          <p:cNvPr id="9" name="TextBox 8"/>
          <p:cNvSpPr txBox="1"/>
          <p:nvPr/>
        </p:nvSpPr>
        <p:spPr>
          <a:xfrm>
            <a:off x="658368" y="2825496"/>
            <a:ext cx="10972800" cy="640080"/>
          </a:xfrm>
          <a:prstGeom prst="rect">
            <a:avLst/>
          </a:prstGeom>
          <a:noFill/>
        </p:spPr>
        <p:txBody>
          <a:bodyPr wrap="square" anchor="t"/>
          <a:lstStyle/>
          <a:p>
            <a:pPr algn="l">
              <a:spcBef>
                <a:spcPts val="0"/>
              </a:spcBef>
              <a:spcAft>
                <a:spcPts val="0"/>
              </a:spcAft>
            </a:pPr>
            <a:r>
              <a:rPr sz="1500" b="0">
                <a:solidFill>
                  <a:srgbClr val="E6E1D6"/>
                </a:solidFill>
                <a:latin typeface="Calibri"/>
              </a:rPr>
              <a:t>A real menu only with verified labels. The same SQL filter in front of any model. Accounts only if favorites must leave this browser.</a:t>
            </a:r>
          </a:p>
        </p:txBody>
      </p:sp>
      <p:sp>
        <p:nvSpPr>
          <p:cNvPr id="10" name="TextBox 9"/>
          <p:cNvSpPr txBox="1"/>
          <p:nvPr/>
        </p:nvSpPr>
        <p:spPr>
          <a:xfrm>
            <a:off x="658368" y="3566160"/>
            <a:ext cx="10972800" cy="292608"/>
          </a:xfrm>
          <a:prstGeom prst="rect">
            <a:avLst/>
          </a:prstGeom>
          <a:noFill/>
        </p:spPr>
        <p:txBody>
          <a:bodyPr wrap="square" anchor="t"/>
          <a:lstStyle/>
          <a:p>
            <a:pPr algn="l">
              <a:spcBef>
                <a:spcPts val="0"/>
              </a:spcBef>
              <a:spcAft>
                <a:spcPts val="0"/>
              </a:spcAft>
            </a:pPr>
            <a:r>
              <a:rPr sz="1500" b="1">
                <a:solidFill>
                  <a:srgbClr val="F0C2A8"/>
                </a:solidFill>
                <a:latin typeface="Calibri"/>
              </a:rPr>
              <a:t>Either app</a:t>
            </a:r>
          </a:p>
        </p:txBody>
      </p:sp>
      <p:sp>
        <p:nvSpPr>
          <p:cNvPr id="11" name="TextBox 10"/>
          <p:cNvSpPr txBox="1"/>
          <p:nvPr/>
        </p:nvSpPr>
        <p:spPr>
          <a:xfrm>
            <a:off x="658368" y="3877056"/>
            <a:ext cx="10972800" cy="640080"/>
          </a:xfrm>
          <a:prstGeom prst="rect">
            <a:avLst/>
          </a:prstGeom>
          <a:noFill/>
        </p:spPr>
        <p:txBody>
          <a:bodyPr wrap="square" anchor="t"/>
          <a:lstStyle/>
          <a:p>
            <a:pPr algn="l">
              <a:spcBef>
                <a:spcPts val="0"/>
              </a:spcBef>
              <a:spcAft>
                <a:spcPts val="0"/>
              </a:spcAft>
            </a:pPr>
            <a:r>
              <a:rPr sz="1500" b="0">
                <a:solidFill>
                  <a:srgbClr val="E6E1D6"/>
                </a:solidFill>
                <a:latin typeface="Calibri"/>
              </a:rPr>
              <a:t>Write the refusal test first. Publish only a URL that can be reloaded. Do not describe a YAML file as a deployment.</a:t>
            </a:r>
          </a:p>
        </p:txBody>
      </p:sp>
      <p:sp>
        <p:nvSpPr>
          <p:cNvPr id="12" name="Rounded Rectangle 11"/>
          <p:cNvSpPr/>
          <p:nvPr/>
        </p:nvSpPr>
        <p:spPr>
          <a:xfrm>
            <a:off x="640080" y="4709160"/>
            <a:ext cx="5303520" cy="1325880"/>
          </a:xfrm>
          <a:prstGeom prst="roundRect">
            <a:avLst>
              <a:gd name="adj" fmla="val 8000"/>
            </a:avLst>
          </a:prstGeom>
          <a:solidFill>
            <a:srgbClr val="1E304C"/>
          </a:solidFill>
          <a:ln w="12700">
            <a:solidFill>
              <a:srgbClr val="E4DBCE"/>
            </a:solidFill>
          </a:ln>
        </p:spPr>
        <p:txBody>
          <a:bodyPr rtlCol="0" anchor="ctr"/>
          <a:lstStyle/>
          <a:p>
            <a:pPr algn="ctr"/>
          </a:p>
        </p:txBody>
      </p:sp>
      <p:sp>
        <p:nvSpPr>
          <p:cNvPr id="13" name="TextBox 12"/>
          <p:cNvSpPr txBox="1"/>
          <p:nvPr/>
        </p:nvSpPr>
        <p:spPr>
          <a:xfrm>
            <a:off x="822960" y="4828032"/>
            <a:ext cx="4937760" cy="256032"/>
          </a:xfrm>
          <a:prstGeom prst="rect">
            <a:avLst/>
          </a:prstGeom>
          <a:noFill/>
        </p:spPr>
        <p:txBody>
          <a:bodyPr wrap="square" anchor="t"/>
          <a:lstStyle/>
          <a:p>
            <a:pPr algn="l">
              <a:spcBef>
                <a:spcPts val="0"/>
              </a:spcBef>
              <a:spcAft>
                <a:spcPts val="0"/>
              </a:spcAft>
            </a:pPr>
            <a:r>
              <a:rPr sz="1100" b="1">
                <a:solidFill>
                  <a:srgbClr val="8FD0C8"/>
                </a:solidFill>
                <a:latin typeface="Calibri"/>
              </a:rPr>
              <a:t>STUDYCITE PROTOTYPE</a:t>
            </a:r>
          </a:p>
        </p:txBody>
      </p:sp>
      <p:sp>
        <p:nvSpPr>
          <p:cNvPr id="14" name="TextBox 13"/>
          <p:cNvSpPr txBox="1"/>
          <p:nvPr/>
        </p:nvSpPr>
        <p:spPr>
          <a:xfrm>
            <a:off x="822960" y="5120640"/>
            <a:ext cx="4937760" cy="320040"/>
          </a:xfrm>
          <a:prstGeom prst="rect">
            <a:avLst/>
          </a:prstGeom>
          <a:noFill/>
        </p:spPr>
        <p:txBody>
          <a:bodyPr wrap="square" anchor="t"/>
          <a:lstStyle/>
          <a:p>
            <a:pPr algn="l">
              <a:spcBef>
                <a:spcPts val="0"/>
              </a:spcBef>
              <a:spcAft>
                <a:spcPts val="0"/>
              </a:spcAft>
            </a:pPr>
            <a:r>
              <a:rPr sz="1800" b="1">
                <a:solidFill>
                  <a:srgbClr val="FFFFFF"/>
                </a:solidFill>
                <a:latin typeface="Calibri"/>
              </a:rPr>
              <a:t>triallens-ai.ai.studio</a:t>
            </a:r>
          </a:p>
        </p:txBody>
      </p:sp>
      <p:sp>
        <p:nvSpPr>
          <p:cNvPr id="15" name="TextBox 14"/>
          <p:cNvSpPr txBox="1"/>
          <p:nvPr/>
        </p:nvSpPr>
        <p:spPr>
          <a:xfrm>
            <a:off x="822960" y="5532120"/>
            <a:ext cx="4937760" cy="320040"/>
          </a:xfrm>
          <a:prstGeom prst="rect">
            <a:avLst/>
          </a:prstGeom>
          <a:noFill/>
        </p:spPr>
        <p:txBody>
          <a:bodyPr wrap="square" anchor="t"/>
          <a:lstStyle/>
          <a:p>
            <a:pPr algn="l">
              <a:spcBef>
                <a:spcPts val="0"/>
              </a:spcBef>
              <a:spcAft>
                <a:spcPts val="0"/>
              </a:spcAft>
            </a:pPr>
            <a:r>
              <a:rPr sz="1200" b="0">
                <a:solidFill>
                  <a:srgbClr val="C9D4C8"/>
                </a:solidFill>
                <a:latin typeface="Calibri"/>
              </a:rPr>
              <a:t>Working title TrialLens AI</a:t>
            </a:r>
          </a:p>
        </p:txBody>
      </p:sp>
      <p:sp>
        <p:nvSpPr>
          <p:cNvPr id="16" name="Rounded Rectangle 15"/>
          <p:cNvSpPr/>
          <p:nvPr/>
        </p:nvSpPr>
        <p:spPr>
          <a:xfrm>
            <a:off x="6172200" y="4709160"/>
            <a:ext cx="5349240" cy="1325880"/>
          </a:xfrm>
          <a:prstGeom prst="roundRect">
            <a:avLst>
              <a:gd name="adj" fmla="val 8000"/>
            </a:avLst>
          </a:prstGeom>
          <a:solidFill>
            <a:srgbClr val="1E304C"/>
          </a:solidFill>
          <a:ln w="12700">
            <a:solidFill>
              <a:srgbClr val="E4DBCE"/>
            </a:solidFill>
          </a:ln>
        </p:spPr>
        <p:txBody>
          <a:bodyPr rtlCol="0" anchor="ctr"/>
          <a:lstStyle/>
          <a:p>
            <a:pPr algn="ctr"/>
          </a:p>
        </p:txBody>
      </p:sp>
      <p:sp>
        <p:nvSpPr>
          <p:cNvPr id="17" name="TextBox 16"/>
          <p:cNvSpPr txBox="1"/>
          <p:nvPr/>
        </p:nvSpPr>
        <p:spPr>
          <a:xfrm>
            <a:off x="6355080" y="4828032"/>
            <a:ext cx="4983480" cy="256032"/>
          </a:xfrm>
          <a:prstGeom prst="rect">
            <a:avLst/>
          </a:prstGeom>
          <a:noFill/>
        </p:spPr>
        <p:txBody>
          <a:bodyPr wrap="square" anchor="t"/>
          <a:lstStyle/>
          <a:p>
            <a:pPr algn="l">
              <a:spcBef>
                <a:spcPts val="0"/>
              </a:spcBef>
              <a:spcAft>
                <a:spcPts val="0"/>
              </a:spcAft>
            </a:pPr>
            <a:r>
              <a:rPr sz="1100" b="1">
                <a:solidFill>
                  <a:srgbClr val="F0C2A8"/>
                </a:solidFill>
                <a:latin typeface="Calibri"/>
              </a:rPr>
              <a:t>BITEWISE</a:t>
            </a:r>
          </a:p>
        </p:txBody>
      </p:sp>
      <p:sp>
        <p:nvSpPr>
          <p:cNvPr id="18" name="TextBox 17"/>
          <p:cNvSpPr txBox="1"/>
          <p:nvPr/>
        </p:nvSpPr>
        <p:spPr>
          <a:xfrm>
            <a:off x="6355080" y="5120640"/>
            <a:ext cx="4983480" cy="320040"/>
          </a:xfrm>
          <a:prstGeom prst="rect">
            <a:avLst/>
          </a:prstGeom>
          <a:noFill/>
        </p:spPr>
        <p:txBody>
          <a:bodyPr wrap="square" anchor="t"/>
          <a:lstStyle/>
          <a:p>
            <a:pPr algn="l">
              <a:spcBef>
                <a:spcPts val="0"/>
              </a:spcBef>
              <a:spcAft>
                <a:spcPts val="0"/>
              </a:spcAft>
            </a:pPr>
            <a:r>
              <a:rPr sz="1800" b="1">
                <a:solidFill>
                  <a:srgbClr val="FFFFFF"/>
                </a:solidFill>
                <a:latin typeface="Calibri"/>
              </a:rPr>
              <a:t>bitewise-ai.ai.studio</a:t>
            </a:r>
          </a:p>
        </p:txBody>
      </p:sp>
      <p:sp>
        <p:nvSpPr>
          <p:cNvPr id="19" name="TextBox 18"/>
          <p:cNvSpPr txBox="1"/>
          <p:nvPr/>
        </p:nvSpPr>
        <p:spPr>
          <a:xfrm>
            <a:off x="6355080" y="5532120"/>
            <a:ext cx="4983480" cy="320040"/>
          </a:xfrm>
          <a:prstGeom prst="rect">
            <a:avLst/>
          </a:prstGeom>
          <a:noFill/>
        </p:spPr>
        <p:txBody>
          <a:bodyPr wrap="square" anchor="t"/>
          <a:lstStyle/>
          <a:p>
            <a:pPr algn="l">
              <a:spcBef>
                <a:spcPts val="0"/>
              </a:spcBef>
              <a:spcAft>
                <a:spcPts val="0"/>
              </a:spcAft>
            </a:pPr>
            <a:r>
              <a:rPr sz="1200" b="0">
                <a:solidFill>
                  <a:srgbClr val="C9D4C8"/>
                </a:solidFill>
                <a:latin typeface="Calibri"/>
              </a:rPr>
              <a:t>Page and API on one host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StudyCite and BiteWise</dc:title>
  <dc:subject>AIML-515 capstone presentation</dc:subject>
  <dc:creator>Pu Zeng</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Capstone</cp:category>
</cp:coreProperties>
</file>